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324D"/>
                </a:solidFill>
                <a:latin typeface="Calibri"/>
              </a:defRPr>
            </a:pPr>
            <a:r>
              <a:rPr sz="1400" b="0" i="0" u="none" strike="noStrike">
                <a:solidFill>
                  <a:srgbClr val="17324D"/>
                </a:solidFill>
                <a:latin typeface="Calibri"/>
              </a:rPr>
              <a:t>Reflector gap behind the antenna (mm)</a:t>
            </a:r>
          </a:p>
        </c:rich>
      </c:tx>
      <c:layout/>
      <c:overlay val="0"/>
    </c:title>
    <c:autoTitleDeleted val="0"/>
    <c:plotArea>
      <c:layout/>
      <c:barChart>
        <c:barDir val="bar"/>
        <c:grouping val="clustered"/>
        <c:varyColors val="0"/>
        <c:ser>
          <c:idx val="0"/>
          <c:order val="0"/>
          <c:tx>
            <c:strRef>
              <c:f>Sheet1!$B$1</c:f>
              <c:strCache>
                <c:ptCount val="1"/>
                <c:pt idx="0">
                  <c:v>Gap (mm)</c:v>
                </c:pt>
              </c:strCache>
            </c:strRef>
          </c:tx>
          <c:spPr>
            <a:solidFill>
              <a:srgbClr val="B8651B"/>
            </a:solidFill>
            <a:effectLst/>
          </c:spPr>
          <c:invertIfNegative val="0"/>
          <c:dLbls>
            <c:numFmt formatCode="0" sourceLinked="0"/>
            <c:txPr>
              <a:bodyPr/>
              <a:lstStyle/>
              <a:p>
                <a:pPr>
                  <a:defRPr b="0" i="0" strike="noStrike" sz="1300" u="none">
                    <a:solidFill>
                      <a:srgbClr val="1F2328"/>
                    </a:solidFill>
                    <a:latin typeface="Calibri"/>
                  </a:defRPr>
                </a:pPr>
              </a:p>
            </c:txPr>
            <c:showLegendKey val="0"/>
            <c:showVal val="1"/>
            <c:showCatName val="0"/>
            <c:showSerName val="0"/>
            <c:showPercent val="0"/>
            <c:showBubbleSize val="0"/>
            <c:showLeaderLines val="0"/>
          </c:dLbls>
          <c:dPt>
            <c:idx val="0"/>
            <c:invertIfNegative val="0"/>
            <c:bubble3D val="0"/>
            <c:spPr>
              <a:solidFill>
                <a:srgbClr val="B8651B"/>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8A94A6"/>
              </a:solidFill>
              <a:effectLst/>
            </c:spPr>
          </c:dPt>
          <c:cat>
            <c:multiLvlStrRef>
              <c:f>Sheet1!$A$2:$A$6</c:f>
              <c:multiLvlStrCache>
                <c:ptCount val="5"/>
                <c:lvl>
                  <c:pt idx="0">
                    <c:v>This work</c:v>
                  </c:pt>
                  <c:pt idx="1">
                    <c:v>Hussain 2023</c:v>
                  </c:pt>
                  <c:pt idx="2">
                    <c:v>Al-Gburi 2022*</c:v>
                  </c:pt>
                  <c:pt idx="3">
                    <c:v>Hasan 2022</c:v>
                  </c:pt>
                  <c:pt idx="4">
                    <c:v>Hammache 2024</c:v>
                  </c:pt>
                </c:lvl>
              </c:multiLvlStrCache>
            </c:multiLvlStrRef>
          </c:cat>
          <c:val>
            <c:numRef>
              <c:f>Sheet1!$B$2:$B$6</c:f>
              <c:numCache>
                <c:formatCode>General</c:formatCode>
                <c:ptCount val="5"/>
                <c:pt idx="0">
                  <c:v>2</c:v>
                </c:pt>
                <c:pt idx="1">
                  <c:v>9</c:v>
                </c:pt>
                <c:pt idx="2">
                  <c:v>10</c:v>
                </c:pt>
                <c:pt idx="3">
                  <c:v>12</c:v>
                </c:pt>
                <c:pt idx="4">
                  <c:v>20</c:v>
                </c:pt>
              </c:numCache>
            </c:numRef>
          </c:val>
        </c:ser>
        <c:dLbls>
          <c:numFmt formatCode="0" sourceLinked="0"/>
          <c:txPr>
            <a:bodyPr/>
            <a:lstStyle/>
            <a:p>
              <a:pPr>
                <a:defRPr b="0" i="0" strike="noStrike" sz="1300" u="none">
                  <a:solidFill>
                    <a:srgbClr val="1F232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328"/>
                </a:solidFill>
                <a:latin typeface="Calibri"/>
              </a:defRPr>
            </a:pPr>
            <a:endParaRPr lang="en-US"/>
          </a:p>
        </c:txPr>
        <c:crossAx val="2094734552"/>
        <c:crosses val="autoZero"/>
        <c:auto val="1"/>
        <c:lblAlgn val="ctr"/>
        <c:noMultiLvlLbl val="1"/>
      </c:catAx>
      <c:valAx>
        <c:axId val="2094734552"/>
        <c:scaling>
          <c:orientation val="minMax"/>
          <c:max val="2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This is checkpoint 1: one wideband antenna, optimised, with a metasurface added behind it. MIMO comes in Phase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antenna turns the electrical signal in a cable into radio waves, and catches radio waves and turns them back into a signal. Phones, Wi-Fi routers and GPS all use one. Its size depends on the wavelength: higher frequency means a shorter wave and a smaller antenna.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First, matching: how much of the power we feed in bounces back. That is S11. Below minus 10 dB means less than 10 percent comes back, and the frequency range where that holds is the bandwidth. Second, gain and the radiation pattern: how strongly and in which direction the antenna sends its power. A plain monopole sends equally to the front and the back; a reflector behind it folds the back lobe forward, which raises the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Wideband means one antenna serves many services. MIMO means several antennas on one device, for more data and a more reliable link. Printed monopoles are small, cheap and wideband — but they radiate equally front and back, so the gain is low. A plain metal sheet behind them only helps if it is far away, which makes the antenna thick. So our question is how to raise the gain while keeping the antenna thin and wideband.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optimised antenna. The ten-sided patch is the part that radiates. It is fed by a coplanar waveguide: the signal line runs between two ground planes on the same side of the board, and the back of the board is bare. We chose FR-4 because it is cheap and easy to fabricate; a near-circular decagon because smooth current paths give several resonances that merge into one wide band; and CPW because it needs only one copper layer, no vias, and it is easy to attach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metasurface is a thin board printed with many small, repeated metal cells. Each of our cells has two split rings: a ring with a small cut behaves like a tiny resonant circuit, and two rings of different size give two resonances. The board has solid copper on the back and sits only 2 millimetres behind the antenna. The copper reflects the backward wave and the rings shift how it reflects, so that it can add to the forward wave instead of cancelling it. The CST directivity result on slide 14 shows that it does: the peak rises from 3.7 to 8.8 dBi.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design a compact CPW-fed wideband antenna for about 2 to 15 GHz. Second, optimise it in CST: the ground position first, then the patch size. Third, add the split-ring metasurface behind it to raise the gain while keeping it thin. Fourth, in Phase II, build the MIMO version, fabricate it and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ten papers; here are the closest five. Reflectors behind wideband antennas raise the gain by about 4 to 6 dB. But as the chart shows, most of them sit 9 to 20 millimetres behind the antenna. Our metasurface sits only 2 millimetres behind. In our row the number is the CST directivity, not yet the realized gain: the peak rises from 3.7 to 8.8 dBi. A gap this thin over a band as wide as 2 to 15 GHz is rarely reported — that is our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 in eight steps. Steps one to seven are done: the initial antenna, the ground sweep, the patch-size sweep, the optimised antenna, the metasurface design, the S11 with the metasurface, and step seven, the directivity with and without the metasurface. Realized gain over the whole band and tuning still remain in this phase. Step eight is Phase II. All simulations run in CST Studio Suite 2019, and we change one dimension at a time and keep the value with the best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started: the decagon patch with the ground edge far away, at minus 20 millimetres. The S11 stays above minus 10 dB from 2 to 7.7 GHz — shaded red — with only a few narrow dips below the line higher up. So the antenna is not usable yet. The first thing to fix is the ground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we moved the ground edge towards the patch in ten steps, from minus 20 to minus 7 millimetres. A closer ground couples more strongly to the patch and fixes the low-frequency match; only minus 7 millimetres, the blue curve, stays below minus 10 dB across the band. Step two: with the ground fixed, we changed the patch radius from 4 to 15 millimetres. Small patches leave big unmatched regions; the 15 millimetre patch, brown, joins all the resonances into one band. A bigger patch also sits closer to the ground, which helps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optimised antenna: the 15 millimetre decagon with the ground edge at minus 7 millimetres. S11 stays below minus 10 dB from 2.16 to 15.73 GHz — one band about 13.6 GHz wide, with four resonances. It covers our 2 to 15 GHz target. One honest note: near 6.5 and 12.2 GHz the curve only just stays below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antenna alone. Bottom: the same antenna with the metasurface 2 millimetres behind it, on the same frequency axis. The band now starts lower, at about 2 GHz, and stays matched up to 18 GHz — the end of our simulation. But there are three narrow regions, shaded red, where S11 rises above minus 10 dB, the worst being minus 6.6 dB near 3.1 GHz. At such a small gap the metasurface also changes the antenna's input match, so it needs tuning. The next slide shows what it does to the directivity.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CST plot compares the antenna alone, the grey dashed line, with the antenna plus the metasurface, the copper line. It shows directivity — the gain the antenna would have with no losses — taking the highest value in the phi equals zero degree plane at each frequency. With the metasurface the peak rises from 3.7 dBi near 4 GHz to 8.8 dBi at 5.9 GHz, and from 2 to 6 GHz the directivity is higher over 78 percent of the band: 3.9 instead of 2.3 dBi on average. That is what we wanted: the copper-backed metasurface reflects the backward wave forward, so more of the power goes to the front. There are two dips, near 3 GHz and from 3.3 to 4 GHz, where the antenna alone is up to about 3 dB higher; the first sits right next to the S11 gap at 3 GHz, so tuning should help. The metasurface run covers only 1 to 6 GHz so far, so next we simulate the realized gain over the whole band, which also counts the losses and the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challenges: long simulation times for the full model; a few glitches in the sweep curves near 4 and 6 GHz from too few frequency points, which we will re-run; a thin matching margin near 6.5 and 12.2 GHz; and the metasurface detuning — three narrow mismatch gaps and two directivity dips near 3 to 4 GHz. The directivity comparison with and without the metasurface is done. Next, in this phase: the realized gain over the whole 2 to 15 GHz band, tuning the metasurface to close the gaps and the dips, and radiation patterns at a few frequencies. Then Phase II: a four-port MIMO antenna with the metasurface, isolation and correlation checks, fabrication and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single wideband antenna is designed and matched from 2.16 to 15.73 GHz. The split-ring metasurface is designed and simulated with it: the band widens, with three narrow gaps that need tuning, and the peak directivity rises from 3.7 to 8.8 dBi, higher over most of 2 to 6 GHz. Next come the realized gain over the whole band and the tuning, and then the MIMO antenna.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rtlCol="0"/>
          <a:lstStyle>
            <a:lvl1pPr indent="0" marL="0">
              <a:buNone/>
              <a:defRPr lang="en-US" sz="1300" b="1" spc="150" kern="0" dirty="0">
                <a:solidFill>
                  <a:srgbClr val="B8651B"/>
                </a:solidFill>
                <a:latin typeface="Calibri" pitchFamily="34" charset="0"/>
                <a:ea typeface="Calibri" pitchFamily="34" charset="-122"/>
                <a:cs typeface="Calibri" pitchFamily="34" charset="-120"/>
              </a:defRPr>
            </a:lvl1pPr>
          </a:lstStyle>
          <a:p>
            <a:pPr indent="0" marL="0">
              <a:buNone/>
            </a:pP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rtlCol="0"/>
          <a:lstStyle>
            <a:lvl1pPr algn="l" indent="0" marL="0">
              <a:buNone/>
              <a:defRPr lang="en-US" sz="3400" b="1" dirty="0">
                <a:solidFill>
                  <a:srgbClr val="17324D"/>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indent="0" marL="0">
              <a:buNone/>
            </a:pPr>
            <a:r>
              <a:rPr lang="en-US" sz="1000" dirty="0">
                <a:solidFill>
                  <a:srgbClr val="8A94A6"/>
                </a:solidFill>
                <a:latin typeface="Calibri" pitchFamily="34" charset="0"/>
                <a:ea typeface="Calibri" pitchFamily="34" charset="-122"/>
                <a:cs typeface="Calibri" pitchFamily="34" charset="-120"/>
              </a:rPr>
              <a:t>Wideband MIMO Antenna with Metasurface  ·  Dept. of ECE, NIT Silchar</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fyp-mimo-antenna-metasurface/figures/nits_logo.png">    </p:cNvPr>
          <p:cNvPicPr>
            <a:picLocks noChangeAspect="1"/>
          </p:cNvPicPr>
          <p:nvPr/>
        </p:nvPicPr>
        <p:blipFill>
          <a:blip r:embed="rId1"/>
          <a:stretch>
            <a:fillRect/>
          </a:stretch>
        </p:blipFill>
        <p:spPr>
          <a:xfrm>
            <a:off x="548640" y="411480"/>
            <a:ext cx="868680" cy="868680"/>
          </a:xfrm>
          <a:prstGeom prst="rect">
            <a:avLst/>
          </a:prstGeom>
        </p:spPr>
      </p:pic>
      <p:sp>
        <p:nvSpPr>
          <p:cNvPr id="3" name="Text 0"/>
          <p:cNvSpPr txBox="1"/>
          <p:nvPr/>
        </p:nvSpPr>
        <p:spPr>
          <a:xfrm>
            <a:off x="1600200" y="566928"/>
            <a:ext cx="6400800" cy="274320"/>
          </a:xfrm>
          <a:prstGeom prst="rect">
            <a:avLst/>
          </a:prstGeom>
          <a:noFill/>
          <a:ln/>
        </p:spPr>
        <p:txBody>
          <a:bodyPr wrap="square" lIns="0" tIns="0" rIns="0" bIns="0" rtlCol="0" anchor="t"/>
          <a:lstStyle/>
          <a:p>
            <a:pPr algn="l" indent="0" marL="0">
              <a:lnSpc>
                <a:spcPct val="100000"/>
              </a:lnSpc>
              <a:buNone/>
            </a:pPr>
            <a:r>
              <a:rPr lang="en-US" sz="1300" b="1" dirty="0">
                <a:solidFill>
                  <a:srgbClr val="B8651B"/>
                </a:solidFill>
                <a:latin typeface="Calibri" pitchFamily="34" charset="0"/>
                <a:ea typeface="Calibri" pitchFamily="34" charset="-122"/>
                <a:cs typeface="Calibri" pitchFamily="34" charset="-120"/>
              </a:rPr>
              <a:t>B.TECH PROJECT  ·  MID-SEMESTER EVALUATION</a:t>
            </a:r>
            <a:endParaRPr lang="en-US" sz="1300" dirty="0"/>
          </a:p>
        </p:txBody>
      </p:sp>
      <p:sp>
        <p:nvSpPr>
          <p:cNvPr id="4" name="Text 1"/>
          <p:cNvSpPr txBox="1"/>
          <p:nvPr/>
        </p:nvSpPr>
        <p:spPr>
          <a:xfrm>
            <a:off x="1600200" y="841248"/>
            <a:ext cx="6583680" cy="274320"/>
          </a:xfrm>
          <a:prstGeom prst="rect">
            <a:avLst/>
          </a:prstGeom>
          <a:noFill/>
          <a:ln/>
        </p:spPr>
        <p:txBody>
          <a:bodyPr wrap="square" lIns="0" tIns="0" rIns="0" bIns="0" rtlCol="0" anchor="t"/>
          <a:lstStyle/>
          <a:p>
            <a:pPr algn="l" indent="0" marL="0">
              <a:lnSpc>
                <a:spcPct val="100000"/>
              </a:lnSpc>
              <a:buNone/>
            </a:pPr>
            <a:r>
              <a:rPr lang="en-US" sz="1300" dirty="0">
                <a:solidFill>
                  <a:srgbClr val="5B6472"/>
                </a:solidFill>
                <a:latin typeface="Calibri" pitchFamily="34" charset="0"/>
                <a:ea typeface="Calibri" pitchFamily="34" charset="-122"/>
                <a:cs typeface="Calibri" pitchFamily="34" charset="-120"/>
              </a:rPr>
              <a:t>Dept. of Electronics &amp; Communication Engineering, NIT Silchar</a:t>
            </a:r>
            <a:endParaRPr lang="en-US" sz="1300" dirty="0"/>
          </a:p>
        </p:txBody>
      </p:sp>
      <p:sp>
        <p:nvSpPr>
          <p:cNvPr id="5" name="Text 2"/>
          <p:cNvSpPr txBox="1"/>
          <p:nvPr/>
        </p:nvSpPr>
        <p:spPr>
          <a:xfrm>
            <a:off x="548640" y="1600200"/>
            <a:ext cx="6949440" cy="1463040"/>
          </a:xfrm>
          <a:prstGeom prst="rect">
            <a:avLst/>
          </a:prstGeom>
          <a:noFill/>
          <a:ln/>
        </p:spPr>
        <p:txBody>
          <a:bodyPr wrap="square" lIns="0" tIns="0" rIns="0" bIns="0" rtlCol="0" anchor="t"/>
          <a:lstStyle/>
          <a:p>
            <a:pPr algn="l" indent="0" marL="0">
              <a:lnSpc>
                <a:spcPct val="95000"/>
              </a:lnSpc>
              <a:buNone/>
            </a:pPr>
            <a:r>
              <a:rPr lang="en-US" sz="4400" b="1" dirty="0">
                <a:solidFill>
                  <a:srgbClr val="17324D"/>
                </a:solidFill>
                <a:latin typeface="Cambria" pitchFamily="34" charset="0"/>
                <a:ea typeface="Cambria" pitchFamily="34" charset="-122"/>
                <a:cs typeface="Cambria" pitchFamily="34" charset="-120"/>
              </a:rPr>
              <a:t>Wideband MIMO Antenna</a:t>
            </a:r>
            <a:endParaRPr lang="en-US" sz="4400" dirty="0"/>
          </a:p>
          <a:p>
            <a:pPr algn="l" indent="0" marL="0">
              <a:lnSpc>
                <a:spcPct val="95000"/>
              </a:lnSpc>
              <a:buNone/>
            </a:pPr>
            <a:r>
              <a:rPr lang="en-US" sz="4400" b="1" dirty="0">
                <a:solidFill>
                  <a:srgbClr val="17324D"/>
                </a:solidFill>
                <a:latin typeface="Cambria" pitchFamily="34" charset="0"/>
                <a:ea typeface="Cambria" pitchFamily="34" charset="-122"/>
                <a:cs typeface="Cambria" pitchFamily="34" charset="-120"/>
              </a:rPr>
              <a:t>with Metasurface</a:t>
            </a:r>
            <a:endParaRPr lang="en-US" sz="4400" dirty="0"/>
          </a:p>
        </p:txBody>
      </p:sp>
      <p:sp>
        <p:nvSpPr>
          <p:cNvPr id="6" name="Text 3"/>
          <p:cNvSpPr txBox="1"/>
          <p:nvPr/>
        </p:nvSpPr>
        <p:spPr>
          <a:xfrm>
            <a:off x="548640" y="3154680"/>
            <a:ext cx="6583680" cy="640080"/>
          </a:xfrm>
          <a:prstGeom prst="rect">
            <a:avLst/>
          </a:prstGeom>
          <a:noFill/>
          <a:ln/>
        </p:spPr>
        <p:txBody>
          <a:bodyPr wrap="square" lIns="0" tIns="0" rIns="0" bIns="0" rtlCol="0" anchor="t"/>
          <a:lstStyle/>
          <a:p>
            <a:pPr algn="l" indent="0" marL="0">
              <a:lnSpc>
                <a:spcPct val="100000"/>
              </a:lnSpc>
              <a:buNone/>
            </a:pPr>
            <a:r>
              <a:rPr lang="en-US" sz="1800" dirty="0">
                <a:solidFill>
                  <a:srgbClr val="5B6472"/>
                </a:solidFill>
                <a:latin typeface="Calibri" pitchFamily="34" charset="0"/>
                <a:ea typeface="Calibri" pitchFamily="34" charset="-122"/>
                <a:cs typeface="Calibri" pitchFamily="34" charset="-120"/>
              </a:rPr>
              <a:t>Checkpoint 1 — a CPW-fed wideband antenna with a split-ring metasurface reflector</a:t>
            </a:r>
            <a:endParaRPr lang="en-US" sz="1800" dirty="0"/>
          </a:p>
        </p:txBody>
      </p:sp>
      <p:sp>
        <p:nvSpPr>
          <p:cNvPr id="7" name="Shape 4"/>
          <p:cNvSpPr/>
          <p:nvPr/>
        </p:nvSpPr>
        <p:spPr>
          <a:xfrm>
            <a:off x="548640" y="4069080"/>
            <a:ext cx="3246120" cy="2057400"/>
          </a:xfrm>
          <a:prstGeom prst="roundRect">
            <a:avLst>
              <a:gd name="adj" fmla="val 5333"/>
            </a:avLst>
          </a:prstGeom>
          <a:solidFill>
            <a:srgbClr val="F2F4F7"/>
          </a:solidFill>
          <a:ln/>
        </p:spPr>
      </p:sp>
      <p:sp>
        <p:nvSpPr>
          <p:cNvPr id="8" name="Text 5"/>
          <p:cNvSpPr txBox="1"/>
          <p:nvPr/>
        </p:nvSpPr>
        <p:spPr>
          <a:xfrm>
            <a:off x="777240" y="4224528"/>
            <a:ext cx="2926080" cy="1828800"/>
          </a:xfrm>
          <a:prstGeom prst="rect">
            <a:avLst/>
          </a:prstGeom>
          <a:noFill/>
          <a:ln/>
        </p:spPr>
        <p:txBody>
          <a:bodyPr wrap="square" lIns="0" tIns="0" rIns="0" bIns="0" rtlCol="0" anchor="t"/>
          <a:lstStyle/>
          <a:p>
            <a:pPr algn="l" indent="0" marL="0">
              <a:lnSpc>
                <a:spcPct val="100000"/>
              </a:lnSpc>
              <a:spcAft>
                <a:spcPts val="600"/>
              </a:spcAft>
              <a:buNone/>
            </a:pPr>
            <a:r>
              <a:rPr lang="en-US" sz="1400" b="1" dirty="0">
                <a:solidFill>
                  <a:srgbClr val="B8651B"/>
                </a:solidFill>
                <a:latin typeface="Calibri" pitchFamily="34" charset="0"/>
                <a:ea typeface="Calibri" pitchFamily="34" charset="-122"/>
                <a:cs typeface="Calibri" pitchFamily="34" charset="-120"/>
              </a:rPr>
              <a:t>Presented by</a:t>
            </a:r>
            <a:endParaRPr lang="en-US" sz="1400" dirty="0"/>
          </a:p>
          <a:p>
            <a:pPr algn="l" indent="0" marL="0">
              <a:lnSpc>
                <a:spcPct val="100000"/>
              </a:lnSpc>
              <a:spcAft>
                <a:spcPts val="200"/>
              </a:spcAft>
              <a:buNone/>
            </a:pPr>
            <a:r>
              <a:rPr lang="en-US" sz="1500" dirty="0">
                <a:solidFill>
                  <a:srgbClr val="1F2328"/>
                </a:solidFill>
                <a:latin typeface="Calibri" pitchFamily="34" charset="0"/>
                <a:ea typeface="Calibri" pitchFamily="34" charset="-122"/>
                <a:cs typeface="Calibri" pitchFamily="34" charset="-120"/>
              </a:rPr>
              <a:t>Chanswarang Boro  (2314143)</a:t>
            </a:r>
            <a:endParaRPr lang="en-US" sz="1400" dirty="0"/>
          </a:p>
          <a:p>
            <a:pPr algn="l" indent="0" marL="0">
              <a:lnSpc>
                <a:spcPct val="100000"/>
              </a:lnSpc>
              <a:spcAft>
                <a:spcPts val="200"/>
              </a:spcAft>
              <a:buNone/>
            </a:pPr>
            <a:r>
              <a:rPr lang="en-US" sz="1500" dirty="0">
                <a:solidFill>
                  <a:srgbClr val="1F2328"/>
                </a:solidFill>
                <a:latin typeface="Calibri" pitchFamily="34" charset="0"/>
                <a:ea typeface="Calibri" pitchFamily="34" charset="-122"/>
                <a:cs typeface="Calibri" pitchFamily="34" charset="-120"/>
              </a:rPr>
              <a:t>Nishit Baishya  (2314088)</a:t>
            </a:r>
            <a:endParaRPr lang="en-US" sz="1400" dirty="0"/>
          </a:p>
          <a:p>
            <a:pPr algn="l" indent="0" marL="0">
              <a:lnSpc>
                <a:spcPct val="100000"/>
              </a:lnSpc>
              <a:spcAft>
                <a:spcPts val="200"/>
              </a:spcAft>
              <a:buNone/>
            </a:pPr>
            <a:r>
              <a:rPr lang="en-US" sz="1500" dirty="0">
                <a:solidFill>
                  <a:srgbClr val="1F2328"/>
                </a:solidFill>
                <a:latin typeface="Calibri" pitchFamily="34" charset="0"/>
                <a:ea typeface="Calibri" pitchFamily="34" charset="-122"/>
                <a:cs typeface="Calibri" pitchFamily="34" charset="-120"/>
              </a:rPr>
              <a:t>Anushka Dam  (2314115)</a:t>
            </a:r>
            <a:endParaRPr lang="en-US" sz="14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Sanjana  (2314060)</a:t>
            </a:r>
            <a:endParaRPr lang="en-US" sz="1400" dirty="0"/>
          </a:p>
        </p:txBody>
      </p:sp>
      <p:sp>
        <p:nvSpPr>
          <p:cNvPr id="9" name="Shape 6"/>
          <p:cNvSpPr/>
          <p:nvPr/>
        </p:nvSpPr>
        <p:spPr>
          <a:xfrm>
            <a:off x="3977640" y="4069080"/>
            <a:ext cx="3246120" cy="2057400"/>
          </a:xfrm>
          <a:prstGeom prst="roundRect">
            <a:avLst>
              <a:gd name="adj" fmla="val 5333"/>
            </a:avLst>
          </a:prstGeom>
          <a:solidFill>
            <a:srgbClr val="F2F4F7"/>
          </a:solidFill>
          <a:ln/>
        </p:spPr>
      </p:sp>
      <p:sp>
        <p:nvSpPr>
          <p:cNvPr id="10" name="Text 7"/>
          <p:cNvSpPr txBox="1"/>
          <p:nvPr/>
        </p:nvSpPr>
        <p:spPr>
          <a:xfrm>
            <a:off x="4206240" y="4224528"/>
            <a:ext cx="2926080" cy="1828800"/>
          </a:xfrm>
          <a:prstGeom prst="rect">
            <a:avLst/>
          </a:prstGeom>
          <a:noFill/>
          <a:ln/>
        </p:spPr>
        <p:txBody>
          <a:bodyPr wrap="square" lIns="0" tIns="0" rIns="0" bIns="0" rtlCol="0" anchor="t"/>
          <a:lstStyle/>
          <a:p>
            <a:pPr algn="l" indent="0" marL="0">
              <a:lnSpc>
                <a:spcPct val="100000"/>
              </a:lnSpc>
              <a:spcAft>
                <a:spcPts val="600"/>
              </a:spcAft>
              <a:buNone/>
            </a:pPr>
            <a:r>
              <a:rPr lang="en-US" sz="1400" b="1" dirty="0">
                <a:solidFill>
                  <a:srgbClr val="B8651B"/>
                </a:solidFill>
                <a:latin typeface="Calibri" pitchFamily="34" charset="0"/>
                <a:ea typeface="Calibri" pitchFamily="34" charset="-122"/>
                <a:cs typeface="Calibri" pitchFamily="34" charset="-120"/>
              </a:rPr>
              <a:t>Under the guidance of</a:t>
            </a:r>
            <a:endParaRPr lang="en-US" sz="1400" dirty="0"/>
          </a:p>
          <a:p>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Dr. Ujjal Chakraborty</a:t>
            </a:r>
            <a:endParaRPr lang="en-US" sz="1400" dirty="0"/>
          </a:p>
          <a:p>
            <a:pPr algn="l" indent="0" marL="0">
              <a:lnSpc>
                <a:spcPct val="100000"/>
              </a:lnSpc>
              <a:spcAft>
                <a:spcPts val="1000"/>
              </a:spcAft>
              <a:buNone/>
            </a:pPr>
            <a:r>
              <a:rPr lang="en-US" sz="1400" dirty="0">
                <a:solidFill>
                  <a:srgbClr val="5B6472"/>
                </a:solidFill>
                <a:latin typeface="Calibri" pitchFamily="34" charset="0"/>
                <a:ea typeface="Calibri" pitchFamily="34" charset="-122"/>
                <a:cs typeface="Calibri" pitchFamily="34" charset="-120"/>
              </a:rPr>
              <a:t>Associate Professor, ECE</a:t>
            </a:r>
            <a:endParaRPr lang="en-US" sz="1400" dirty="0"/>
          </a:p>
          <a:p>
            <a:pPr algn="l" indent="0" marL="0">
              <a:lnSpc>
                <a:spcPct val="100000"/>
              </a:lnSpc>
              <a:spcAft>
                <a:spcPts val="400"/>
              </a:spcAft>
              <a:buNone/>
            </a:pPr>
            <a:r>
              <a:rPr lang="en-US" sz="1400" b="1" dirty="0">
                <a:solidFill>
                  <a:srgbClr val="B8651B"/>
                </a:solidFill>
                <a:latin typeface="Calibri" pitchFamily="34" charset="0"/>
                <a:ea typeface="Calibri" pitchFamily="34" charset="-122"/>
                <a:cs typeface="Calibri" pitchFamily="34" charset="-120"/>
              </a:rPr>
              <a:t>Co-guide</a:t>
            </a:r>
            <a:endParaRPr lang="en-US" sz="1400" dirty="0"/>
          </a:p>
          <a:p>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Mr. Sovan Bhattacharya</a:t>
            </a:r>
            <a:endParaRPr lang="en-US" sz="1400" dirty="0"/>
          </a:p>
          <a:p>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PhD Scholar, ECE</a:t>
            </a:r>
            <a:endParaRPr lang="en-US" sz="1400" dirty="0"/>
          </a:p>
        </p:txBody>
      </p:sp>
      <p:sp>
        <p:nvSpPr>
          <p:cNvPr id="11" name="Text 8"/>
          <p:cNvSpPr txBox="1"/>
          <p:nvPr/>
        </p:nvSpPr>
        <p:spPr>
          <a:xfrm>
            <a:off x="548640" y="6291072"/>
            <a:ext cx="6675120" cy="274320"/>
          </a:xfrm>
          <a:prstGeom prst="rect">
            <a:avLst/>
          </a:prstGeom>
          <a:noFill/>
          <a:ln/>
        </p:spPr>
        <p:txBody>
          <a:bodyPr wrap="square" lIns="0" tIns="0" rIns="0" bIns="0" rtlCol="0" anchor="t"/>
          <a:lstStyle/>
          <a:p>
            <a:pPr algn="l" indent="0" marL="0">
              <a:lnSpc>
                <a:spcPct val="100000"/>
              </a:lnSpc>
              <a:buNone/>
            </a:pPr>
            <a:r>
              <a:rPr lang="en-US" sz="1200" dirty="0">
                <a:solidFill>
                  <a:srgbClr val="8A94A6"/>
                </a:solidFill>
                <a:latin typeface="Calibri" pitchFamily="34" charset="0"/>
                <a:ea typeface="Calibri" pitchFamily="34" charset="-122"/>
                <a:cs typeface="Calibri" pitchFamily="34" charset="-120"/>
              </a:rPr>
              <a:t>B.Tech 7th Semester  ·  Session 2026–27  ·  October 2026</a:t>
            </a:r>
            <a:endParaRPr lang="en-US" sz="1200" dirty="0"/>
          </a:p>
        </p:txBody>
      </p:sp>
      <p:sp>
        <p:nvSpPr>
          <p:cNvPr id="12" name="Shape 9"/>
          <p:cNvSpPr/>
          <p:nvPr/>
        </p:nvSpPr>
        <p:spPr>
          <a:xfrm>
            <a:off x="7635240" y="685800"/>
            <a:ext cx="4023360" cy="4023360"/>
          </a:xfrm>
          <a:prstGeom prst="roundRect">
            <a:avLst>
              <a:gd name="adj" fmla="val 3409"/>
            </a:avLst>
          </a:prstGeom>
          <a:solidFill>
            <a:srgbClr val="F2F4F7"/>
          </a:solidFill>
          <a:ln/>
        </p:spPr>
      </p:sp>
      <p:pic>
        <p:nvPicPr>
          <p:cNvPr id="13" name="cst_metasurface_top.png" descr="/home/user/fyp-mimo-antenna-metasurface/figures/cst_metasurface_top.png">    </p:cNvPr>
          <p:cNvPicPr>
            <a:picLocks noChangeAspect="1"/>
          </p:cNvPicPr>
          <p:nvPr/>
        </p:nvPicPr>
        <p:blipFill>
          <a:blip r:embed="rId2"/>
          <a:stretch>
            <a:fillRect/>
          </a:stretch>
        </p:blipFill>
        <p:spPr>
          <a:xfrm>
            <a:off x="7863840" y="1080933"/>
            <a:ext cx="3566160" cy="3233094"/>
          </a:xfrm>
          <a:prstGeom prst="rect">
            <a:avLst/>
          </a:prstGeom>
        </p:spPr>
      </p:pic>
      <p:sp>
        <p:nvSpPr>
          <p:cNvPr id="14" name="Shape 10"/>
          <p:cNvSpPr/>
          <p:nvPr/>
        </p:nvSpPr>
        <p:spPr>
          <a:xfrm>
            <a:off x="8348472" y="2788920"/>
            <a:ext cx="3291840" cy="3291840"/>
          </a:xfrm>
          <a:prstGeom prst="roundRect">
            <a:avLst>
              <a:gd name="adj" fmla="val 4167"/>
            </a:avLst>
          </a:prstGeom>
          <a:solidFill>
            <a:srgbClr val="FFFFFF"/>
          </a:solidFill>
          <a:ln w="12700">
            <a:solidFill>
              <a:srgbClr val="D5D9E0"/>
            </a:solidFill>
            <a:prstDash val="solid"/>
          </a:ln>
        </p:spPr>
      </p:sp>
      <p:pic>
        <p:nvPicPr>
          <p:cNvPr id="15" name="cst_final_antenna.png" descr="/home/user/fyp-mimo-antenna-metasurface/figures/cst_final_antenna.png">    </p:cNvPr>
          <p:cNvPicPr>
            <a:picLocks noChangeAspect="1"/>
          </p:cNvPicPr>
          <p:nvPr/>
        </p:nvPicPr>
        <p:blipFill>
          <a:blip r:embed="rId3"/>
          <a:stretch>
            <a:fillRect/>
          </a:stretch>
        </p:blipFill>
        <p:spPr>
          <a:xfrm>
            <a:off x="8531352" y="2971800"/>
            <a:ext cx="2926080" cy="2926080"/>
          </a:xfrm>
          <a:prstGeom prst="rect">
            <a:avLst/>
          </a:prstGeom>
        </p:spPr>
      </p:pic>
      <p:sp>
        <p:nvSpPr>
          <p:cNvPr id="16" name="Text 11"/>
          <p:cNvSpPr txBox="1"/>
          <p:nvPr/>
        </p:nvSpPr>
        <p:spPr>
          <a:xfrm>
            <a:off x="7635240" y="6172200"/>
            <a:ext cx="4206240" cy="274320"/>
          </a:xfrm>
          <a:prstGeom prst="rect">
            <a:avLst/>
          </a:prstGeom>
          <a:noFill/>
          <a:ln/>
        </p:spPr>
        <p:txBody>
          <a:bodyPr wrap="square" lIns="0" tIns="0" rIns="0" bIns="0" rtlCol="0" anchor="t"/>
          <a:lstStyle/>
          <a:p>
            <a:pPr algn="ctr" indent="0" marL="0">
              <a:lnSpc>
                <a:spcPct val="100000"/>
              </a:lnSpc>
              <a:buNone/>
            </a:pPr>
            <a:r>
              <a:rPr lang="en-US" sz="1100" dirty="0">
                <a:solidFill>
                  <a:srgbClr val="8A94A6"/>
                </a:solidFill>
                <a:latin typeface="Calibri" pitchFamily="34" charset="0"/>
                <a:ea typeface="Calibri" pitchFamily="34" charset="-122"/>
                <a:cs typeface="Calibri" pitchFamily="34" charset="-120"/>
              </a:rPr>
              <a:t>our antenna (front)  +  split-ring metasurface (behind)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BASICS</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What is an antenna?</a:t>
            </a:r>
            <a:endParaRPr lang="en-US" sz="3400" dirty="0"/>
          </a:p>
        </p:txBody>
      </p:sp>
      <p:sp>
        <p:nvSpPr>
          <p:cNvPr id="5" name="Shape 2"/>
          <p:cNvSpPr/>
          <p:nvPr/>
        </p:nvSpPr>
        <p:spPr>
          <a:xfrm>
            <a:off x="822960" y="1874520"/>
            <a:ext cx="1097280" cy="1097280"/>
          </a:xfrm>
          <a:prstGeom prst="ellipse">
            <a:avLst/>
          </a:prstGeom>
          <a:solidFill>
            <a:srgbClr val="17324D"/>
          </a:solidFill>
          <a:ln/>
        </p:spPr>
      </p:sp>
      <p:pic>
        <p:nvPicPr>
          <p:cNvPr id="6" name="Image 0" descr="preencoded.png">    </p:cNvPr>
          <p:cNvPicPr>
            <a:picLocks noChangeAspect="1"/>
          </p:cNvPicPr>
          <p:nvPr/>
        </p:nvPicPr>
        <p:blipFill>
          <a:blip r:embed="rId1"/>
          <a:stretch>
            <a:fillRect/>
          </a:stretch>
        </p:blipFill>
        <p:spPr>
          <a:xfrm>
            <a:off x="1064362" y="2115922"/>
            <a:ext cx="614477" cy="614477"/>
          </a:xfrm>
          <a:prstGeom prst="rect">
            <a:avLst/>
          </a:prstGeom>
        </p:spPr>
      </p:pic>
      <p:sp>
        <p:nvSpPr>
          <p:cNvPr id="7" name="Text 3"/>
          <p:cNvSpPr txBox="1"/>
          <p:nvPr/>
        </p:nvSpPr>
        <p:spPr>
          <a:xfrm>
            <a:off x="457200" y="3063240"/>
            <a:ext cx="182880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1F2328"/>
                </a:solidFill>
                <a:latin typeface="Calibri" pitchFamily="34" charset="0"/>
                <a:ea typeface="Calibri" pitchFamily="34" charset="-122"/>
                <a:cs typeface="Calibri" pitchFamily="34" charset="-120"/>
              </a:rPr>
              <a:t>Transmitter</a:t>
            </a:r>
            <a:endParaRPr lang="en-US" sz="1500" dirty="0"/>
          </a:p>
        </p:txBody>
      </p:sp>
      <p:sp>
        <p:nvSpPr>
          <p:cNvPr id="8" name="Shape 4"/>
          <p:cNvSpPr/>
          <p:nvPr/>
        </p:nvSpPr>
        <p:spPr>
          <a:xfrm>
            <a:off x="3429000" y="1874520"/>
            <a:ext cx="1097280" cy="1097280"/>
          </a:xfrm>
          <a:prstGeom prst="ellipse">
            <a:avLst/>
          </a:prstGeom>
          <a:solidFill>
            <a:srgbClr val="B8651B"/>
          </a:solidFill>
          <a:ln/>
        </p:spPr>
      </p:sp>
      <p:pic>
        <p:nvPicPr>
          <p:cNvPr id="9" name="Image 1" descr="preencoded.png">    </p:cNvPr>
          <p:cNvPicPr>
            <a:picLocks noChangeAspect="1"/>
          </p:cNvPicPr>
          <p:nvPr/>
        </p:nvPicPr>
        <p:blipFill>
          <a:blip r:embed="rId2"/>
          <a:stretch>
            <a:fillRect/>
          </a:stretch>
        </p:blipFill>
        <p:spPr>
          <a:xfrm>
            <a:off x="3670402" y="2115922"/>
            <a:ext cx="614477" cy="614477"/>
          </a:xfrm>
          <a:prstGeom prst="rect">
            <a:avLst/>
          </a:prstGeom>
        </p:spPr>
      </p:pic>
      <p:sp>
        <p:nvSpPr>
          <p:cNvPr id="10" name="Text 5"/>
          <p:cNvSpPr txBox="1"/>
          <p:nvPr/>
        </p:nvSpPr>
        <p:spPr>
          <a:xfrm>
            <a:off x="3063240" y="3063240"/>
            <a:ext cx="182880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1F2328"/>
                </a:solidFill>
                <a:latin typeface="Calibri" pitchFamily="34" charset="0"/>
                <a:ea typeface="Calibri" pitchFamily="34" charset="-122"/>
                <a:cs typeface="Calibri" pitchFamily="34" charset="-120"/>
              </a:rPr>
              <a:t>Antenna</a:t>
            </a:r>
            <a:endParaRPr lang="en-US" sz="1500" dirty="0"/>
          </a:p>
        </p:txBody>
      </p:sp>
      <p:sp>
        <p:nvSpPr>
          <p:cNvPr id="11" name="Shape 6"/>
          <p:cNvSpPr/>
          <p:nvPr/>
        </p:nvSpPr>
        <p:spPr>
          <a:xfrm>
            <a:off x="7680960" y="1874520"/>
            <a:ext cx="1097280" cy="1097280"/>
          </a:xfrm>
          <a:prstGeom prst="ellipse">
            <a:avLst/>
          </a:prstGeom>
          <a:solidFill>
            <a:srgbClr val="B8651B"/>
          </a:solidFill>
          <a:ln/>
        </p:spPr>
      </p:sp>
      <p:pic>
        <p:nvPicPr>
          <p:cNvPr id="12" name="Image 2" descr="preencoded.png">    </p:cNvPr>
          <p:cNvPicPr>
            <a:picLocks noChangeAspect="1"/>
          </p:cNvPicPr>
          <p:nvPr/>
        </p:nvPicPr>
        <p:blipFill>
          <a:blip r:embed="rId3"/>
          <a:stretch>
            <a:fillRect/>
          </a:stretch>
        </p:blipFill>
        <p:spPr>
          <a:xfrm>
            <a:off x="7922362" y="2115922"/>
            <a:ext cx="614477" cy="614477"/>
          </a:xfrm>
          <a:prstGeom prst="rect">
            <a:avLst/>
          </a:prstGeom>
        </p:spPr>
      </p:pic>
      <p:sp>
        <p:nvSpPr>
          <p:cNvPr id="13" name="Text 7"/>
          <p:cNvSpPr txBox="1"/>
          <p:nvPr/>
        </p:nvSpPr>
        <p:spPr>
          <a:xfrm>
            <a:off x="7315200" y="3063240"/>
            <a:ext cx="182880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1F2328"/>
                </a:solidFill>
                <a:latin typeface="Calibri" pitchFamily="34" charset="0"/>
                <a:ea typeface="Calibri" pitchFamily="34" charset="-122"/>
                <a:cs typeface="Calibri" pitchFamily="34" charset="-120"/>
              </a:rPr>
              <a:t>Antenna</a:t>
            </a:r>
            <a:endParaRPr lang="en-US" sz="1500" dirty="0"/>
          </a:p>
        </p:txBody>
      </p:sp>
      <p:sp>
        <p:nvSpPr>
          <p:cNvPr id="14" name="Shape 8"/>
          <p:cNvSpPr/>
          <p:nvPr/>
        </p:nvSpPr>
        <p:spPr>
          <a:xfrm>
            <a:off x="10287000" y="1874520"/>
            <a:ext cx="1097280" cy="1097280"/>
          </a:xfrm>
          <a:prstGeom prst="ellipse">
            <a:avLst/>
          </a:prstGeom>
          <a:solidFill>
            <a:srgbClr val="17324D"/>
          </a:solidFill>
          <a:ln/>
        </p:spPr>
      </p:sp>
      <p:pic>
        <p:nvPicPr>
          <p:cNvPr id="15" name="Image 3" descr="preencoded.png">    </p:cNvPr>
          <p:cNvPicPr>
            <a:picLocks noChangeAspect="1"/>
          </p:cNvPicPr>
          <p:nvPr/>
        </p:nvPicPr>
        <p:blipFill>
          <a:blip r:embed="rId4"/>
          <a:stretch>
            <a:fillRect/>
          </a:stretch>
        </p:blipFill>
        <p:spPr>
          <a:xfrm>
            <a:off x="10528402" y="2115922"/>
            <a:ext cx="614477" cy="614477"/>
          </a:xfrm>
          <a:prstGeom prst="rect">
            <a:avLst/>
          </a:prstGeom>
        </p:spPr>
      </p:pic>
      <p:sp>
        <p:nvSpPr>
          <p:cNvPr id="16" name="Text 9"/>
          <p:cNvSpPr txBox="1"/>
          <p:nvPr/>
        </p:nvSpPr>
        <p:spPr>
          <a:xfrm>
            <a:off x="9921240" y="3063240"/>
            <a:ext cx="182880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1F2328"/>
                </a:solidFill>
                <a:latin typeface="Calibri" pitchFamily="34" charset="0"/>
                <a:ea typeface="Calibri" pitchFamily="34" charset="-122"/>
                <a:cs typeface="Calibri" pitchFamily="34" charset="-120"/>
              </a:rPr>
              <a:t>Receiver</a:t>
            </a:r>
            <a:endParaRPr lang="en-US" sz="1500" dirty="0"/>
          </a:p>
        </p:txBody>
      </p:sp>
      <p:sp>
        <p:nvSpPr>
          <p:cNvPr id="17" name="Shape 10"/>
          <p:cNvSpPr/>
          <p:nvPr/>
        </p:nvSpPr>
        <p:spPr>
          <a:xfrm>
            <a:off x="2011680" y="2423160"/>
            <a:ext cx="1325880" cy="91"/>
          </a:xfrm>
          <a:prstGeom prst="line">
            <a:avLst/>
          </a:prstGeom>
          <a:noFill/>
          <a:ln w="31750">
            <a:solidFill>
              <a:srgbClr val="17324D"/>
            </a:solidFill>
            <a:prstDash val="solid"/>
          </a:ln>
        </p:spPr>
      </p:sp>
      <p:sp>
        <p:nvSpPr>
          <p:cNvPr id="18" name="Text 11"/>
          <p:cNvSpPr txBox="1"/>
          <p:nvPr/>
        </p:nvSpPr>
        <p:spPr>
          <a:xfrm>
            <a:off x="2011680" y="2039112"/>
            <a:ext cx="1371600" cy="320040"/>
          </a:xfrm>
          <a:prstGeom prst="rect">
            <a:avLst/>
          </a:prstGeom>
          <a:noFill/>
          <a:ln/>
        </p:spPr>
        <p:txBody>
          <a:bodyPr wrap="square" lIns="0" tIns="0" rIns="0" bIns="0" rtlCol="0" anchor="t"/>
          <a:lstStyle/>
          <a:p>
            <a:pPr algn="ctr" indent="0" marL="0">
              <a:lnSpc>
                <a:spcPct val="100000"/>
              </a:lnSpc>
              <a:buNone/>
            </a:pPr>
            <a:r>
              <a:rPr lang="en-US" sz="1200" dirty="0">
                <a:solidFill>
                  <a:srgbClr val="5B6472"/>
                </a:solidFill>
                <a:latin typeface="Calibri" pitchFamily="34" charset="0"/>
                <a:ea typeface="Calibri" pitchFamily="34" charset="-122"/>
                <a:cs typeface="Calibri" pitchFamily="34" charset="-120"/>
              </a:rPr>
              <a:t>signal in a cable</a:t>
            </a:r>
            <a:endParaRPr lang="en-US" sz="1200" dirty="0"/>
          </a:p>
        </p:txBody>
      </p:sp>
      <p:sp>
        <p:nvSpPr>
          <p:cNvPr id="19" name="Shape 12"/>
          <p:cNvSpPr/>
          <p:nvPr/>
        </p:nvSpPr>
        <p:spPr>
          <a:xfrm>
            <a:off x="8869680" y="2423160"/>
            <a:ext cx="1325880" cy="91"/>
          </a:xfrm>
          <a:prstGeom prst="line">
            <a:avLst/>
          </a:prstGeom>
          <a:noFill/>
          <a:ln w="31750">
            <a:solidFill>
              <a:srgbClr val="17324D"/>
            </a:solidFill>
            <a:prstDash val="solid"/>
          </a:ln>
        </p:spPr>
      </p:sp>
      <p:sp>
        <p:nvSpPr>
          <p:cNvPr id="20" name="Text 13"/>
          <p:cNvSpPr txBox="1"/>
          <p:nvPr/>
        </p:nvSpPr>
        <p:spPr>
          <a:xfrm>
            <a:off x="8823960" y="2039112"/>
            <a:ext cx="1371600" cy="320040"/>
          </a:xfrm>
          <a:prstGeom prst="rect">
            <a:avLst/>
          </a:prstGeom>
          <a:noFill/>
          <a:ln/>
        </p:spPr>
        <p:txBody>
          <a:bodyPr wrap="square" lIns="0" tIns="0" rIns="0" bIns="0" rtlCol="0" anchor="t"/>
          <a:lstStyle/>
          <a:p>
            <a:pPr algn="ctr" indent="0" marL="0">
              <a:lnSpc>
                <a:spcPct val="100000"/>
              </a:lnSpc>
              <a:buNone/>
            </a:pPr>
            <a:r>
              <a:rPr lang="en-US" sz="1200" dirty="0">
                <a:solidFill>
                  <a:srgbClr val="5B6472"/>
                </a:solidFill>
                <a:latin typeface="Calibri" pitchFamily="34" charset="0"/>
                <a:ea typeface="Calibri" pitchFamily="34" charset="-122"/>
                <a:cs typeface="Calibri" pitchFamily="34" charset="-120"/>
              </a:rPr>
              <a:t>signal in a cable</a:t>
            </a:r>
            <a:endParaRPr lang="en-US" sz="1200" dirty="0"/>
          </a:p>
        </p:txBody>
      </p:sp>
      <p:sp>
        <p:nvSpPr>
          <p:cNvPr id="21" name="Shape 14"/>
          <p:cNvSpPr/>
          <p:nvPr/>
        </p:nvSpPr>
        <p:spPr>
          <a:xfrm>
            <a:off x="4892040" y="1965960"/>
            <a:ext cx="457200" cy="914400"/>
          </a:xfrm>
          <a:prstGeom prst="arc">
            <a:avLst>
              <a:gd name="adj1" fmla="val 18000000"/>
              <a:gd name="adj2" fmla="val 3600000"/>
            </a:avLst>
          </a:prstGeom>
          <a:ln w="31750">
            <a:solidFill>
              <a:srgbClr val="3B6EA5"/>
            </a:solidFill>
            <a:prstDash val="solid"/>
          </a:ln>
        </p:spPr>
      </p:sp>
      <p:sp>
        <p:nvSpPr>
          <p:cNvPr id="22" name="Shape 15"/>
          <p:cNvSpPr/>
          <p:nvPr/>
        </p:nvSpPr>
        <p:spPr>
          <a:xfrm>
            <a:off x="5458968" y="1965960"/>
            <a:ext cx="457200" cy="914400"/>
          </a:xfrm>
          <a:prstGeom prst="arc">
            <a:avLst>
              <a:gd name="adj1" fmla="val 18000000"/>
              <a:gd name="adj2" fmla="val 3600000"/>
            </a:avLst>
          </a:prstGeom>
          <a:ln w="31750">
            <a:solidFill>
              <a:srgbClr val="3B6EA5"/>
            </a:solidFill>
            <a:prstDash val="solid"/>
          </a:ln>
        </p:spPr>
      </p:sp>
      <p:sp>
        <p:nvSpPr>
          <p:cNvPr id="23" name="Shape 16"/>
          <p:cNvSpPr/>
          <p:nvPr/>
        </p:nvSpPr>
        <p:spPr>
          <a:xfrm>
            <a:off x="6025896" y="1965960"/>
            <a:ext cx="457200" cy="914400"/>
          </a:xfrm>
          <a:prstGeom prst="arc">
            <a:avLst>
              <a:gd name="adj1" fmla="val 18000000"/>
              <a:gd name="adj2" fmla="val 3600000"/>
            </a:avLst>
          </a:prstGeom>
          <a:ln w="31750">
            <a:solidFill>
              <a:srgbClr val="3B6EA5"/>
            </a:solidFill>
            <a:prstDash val="solid"/>
          </a:ln>
        </p:spPr>
      </p:sp>
      <p:sp>
        <p:nvSpPr>
          <p:cNvPr id="24" name="Shape 17"/>
          <p:cNvSpPr/>
          <p:nvPr/>
        </p:nvSpPr>
        <p:spPr>
          <a:xfrm>
            <a:off x="6592824" y="1965960"/>
            <a:ext cx="457200" cy="914400"/>
          </a:xfrm>
          <a:prstGeom prst="arc">
            <a:avLst>
              <a:gd name="adj1" fmla="val 18000000"/>
              <a:gd name="adj2" fmla="val 3600000"/>
            </a:avLst>
          </a:prstGeom>
          <a:ln w="31750">
            <a:solidFill>
              <a:srgbClr val="3B6EA5"/>
            </a:solidFill>
            <a:prstDash val="solid"/>
          </a:ln>
        </p:spPr>
      </p:sp>
      <p:sp>
        <p:nvSpPr>
          <p:cNvPr id="25" name="Shape 18"/>
          <p:cNvSpPr/>
          <p:nvPr/>
        </p:nvSpPr>
        <p:spPr>
          <a:xfrm>
            <a:off x="7159752" y="1965960"/>
            <a:ext cx="457200" cy="914400"/>
          </a:xfrm>
          <a:prstGeom prst="arc">
            <a:avLst>
              <a:gd name="adj1" fmla="val 18000000"/>
              <a:gd name="adj2" fmla="val 3600000"/>
            </a:avLst>
          </a:prstGeom>
          <a:ln w="31750">
            <a:solidFill>
              <a:srgbClr val="3B6EA5"/>
            </a:solidFill>
            <a:prstDash val="solid"/>
          </a:ln>
        </p:spPr>
      </p:sp>
      <p:sp>
        <p:nvSpPr>
          <p:cNvPr id="26" name="Text 19"/>
          <p:cNvSpPr txBox="1"/>
          <p:nvPr/>
        </p:nvSpPr>
        <p:spPr>
          <a:xfrm>
            <a:off x="4526280" y="3063240"/>
            <a:ext cx="310896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3B6EA5"/>
                </a:solidFill>
                <a:latin typeface="Calibri" pitchFamily="34" charset="0"/>
                <a:ea typeface="Calibri" pitchFamily="34" charset="-122"/>
                <a:cs typeface="Calibri" pitchFamily="34" charset="-120"/>
              </a:rPr>
              <a:t>radio waves through the air</a:t>
            </a:r>
            <a:endParaRPr lang="en-US" sz="1500" dirty="0"/>
          </a:p>
        </p:txBody>
      </p:sp>
      <p:sp>
        <p:nvSpPr>
          <p:cNvPr id="27" name="Text 20"/>
          <p:cNvSpPr txBox="1"/>
          <p:nvPr/>
        </p:nvSpPr>
        <p:spPr>
          <a:xfrm>
            <a:off x="2880360" y="1371600"/>
            <a:ext cx="2194560" cy="320040"/>
          </a:xfrm>
          <a:prstGeom prst="rect">
            <a:avLst/>
          </a:prstGeom>
          <a:noFill/>
          <a:ln/>
        </p:spPr>
        <p:txBody>
          <a:bodyPr wrap="square" lIns="0" tIns="0" rIns="0" bIns="0" rtlCol="0" anchor="t"/>
          <a:lstStyle/>
          <a:p>
            <a:pPr algn="ctr" indent="0" marL="0">
              <a:lnSpc>
                <a:spcPct val="100000"/>
              </a:lnSpc>
              <a:buNone/>
            </a:pPr>
            <a:r>
              <a:rPr lang="en-US" sz="1300" dirty="0">
                <a:solidFill>
                  <a:srgbClr val="B8651B"/>
                </a:solidFill>
                <a:latin typeface="Calibri" pitchFamily="34" charset="0"/>
                <a:ea typeface="Calibri" pitchFamily="34" charset="-122"/>
                <a:cs typeface="Calibri" pitchFamily="34" charset="-120"/>
              </a:rPr>
              <a:t>transmit:  signal → wave</a:t>
            </a:r>
            <a:endParaRPr lang="en-US" sz="1300" dirty="0"/>
          </a:p>
        </p:txBody>
      </p:sp>
      <p:sp>
        <p:nvSpPr>
          <p:cNvPr id="28" name="Text 21"/>
          <p:cNvSpPr txBox="1"/>
          <p:nvPr/>
        </p:nvSpPr>
        <p:spPr>
          <a:xfrm>
            <a:off x="7132320" y="1371600"/>
            <a:ext cx="2194560" cy="320040"/>
          </a:xfrm>
          <a:prstGeom prst="rect">
            <a:avLst/>
          </a:prstGeom>
          <a:noFill/>
          <a:ln/>
        </p:spPr>
        <p:txBody>
          <a:bodyPr wrap="square" lIns="0" tIns="0" rIns="0" bIns="0" rtlCol="0" anchor="t"/>
          <a:lstStyle/>
          <a:p>
            <a:pPr algn="ctr" indent="0" marL="0">
              <a:lnSpc>
                <a:spcPct val="100000"/>
              </a:lnSpc>
              <a:buNone/>
            </a:pPr>
            <a:r>
              <a:rPr lang="en-US" sz="1300" dirty="0">
                <a:solidFill>
                  <a:srgbClr val="B8651B"/>
                </a:solidFill>
                <a:latin typeface="Calibri" pitchFamily="34" charset="0"/>
                <a:ea typeface="Calibri" pitchFamily="34" charset="-122"/>
                <a:cs typeface="Calibri" pitchFamily="34" charset="-120"/>
              </a:rPr>
              <a:t>receive:  wave → signal</a:t>
            </a:r>
            <a:endParaRPr lang="en-US" sz="1300" dirty="0"/>
          </a:p>
        </p:txBody>
      </p:sp>
      <p:sp>
        <p:nvSpPr>
          <p:cNvPr id="29" name="Shape 22"/>
          <p:cNvSpPr/>
          <p:nvPr/>
        </p:nvSpPr>
        <p:spPr>
          <a:xfrm>
            <a:off x="548640" y="3977640"/>
            <a:ext cx="3515258" cy="2011680"/>
          </a:xfrm>
          <a:prstGeom prst="roundRect">
            <a:avLst>
              <a:gd name="adj" fmla="val 5455"/>
            </a:avLst>
          </a:prstGeom>
          <a:solidFill>
            <a:srgbClr val="F2F4F7"/>
          </a:solidFill>
          <a:ln/>
        </p:spPr>
      </p:sp>
      <p:sp>
        <p:nvSpPr>
          <p:cNvPr id="30" name="Shape 23"/>
          <p:cNvSpPr/>
          <p:nvPr/>
        </p:nvSpPr>
        <p:spPr>
          <a:xfrm>
            <a:off x="822960" y="4270248"/>
            <a:ext cx="685800" cy="685800"/>
          </a:xfrm>
          <a:prstGeom prst="ellipse">
            <a:avLst/>
          </a:prstGeom>
          <a:solidFill>
            <a:srgbClr val="17324D"/>
          </a:solidFill>
          <a:ln/>
        </p:spPr>
      </p:sp>
      <p:pic>
        <p:nvPicPr>
          <p:cNvPr id="31" name="Image 4" descr="preencoded.png">    </p:cNvPr>
          <p:cNvPicPr>
            <a:picLocks noChangeAspect="1"/>
          </p:cNvPicPr>
          <p:nvPr/>
        </p:nvPicPr>
        <p:blipFill>
          <a:blip r:embed="rId5"/>
          <a:stretch>
            <a:fillRect/>
          </a:stretch>
        </p:blipFill>
        <p:spPr>
          <a:xfrm>
            <a:off x="973836" y="4421124"/>
            <a:ext cx="384048" cy="384048"/>
          </a:xfrm>
          <a:prstGeom prst="rect">
            <a:avLst/>
          </a:prstGeom>
        </p:spPr>
      </p:pic>
      <p:sp>
        <p:nvSpPr>
          <p:cNvPr id="32" name="Text 24"/>
          <p:cNvSpPr txBox="1"/>
          <p:nvPr/>
        </p:nvSpPr>
        <p:spPr>
          <a:xfrm>
            <a:off x="1691640" y="4270248"/>
            <a:ext cx="2189378" cy="685800"/>
          </a:xfrm>
          <a:prstGeom prst="rect">
            <a:avLst/>
          </a:prstGeom>
          <a:noFill/>
          <a:ln/>
        </p:spPr>
        <p:txBody>
          <a:bodyPr wrap="square" lIns="0" tIns="0" rIns="0" bIns="0" rtlCol="0" anchor="ctr"/>
          <a:lstStyle/>
          <a:p>
            <a:pPr algn="l" indent="0" marL="0">
              <a:lnSpc>
                <a:spcPct val="100000"/>
              </a:lnSpc>
              <a:buNone/>
            </a:pPr>
            <a:r>
              <a:rPr lang="en-US" sz="1900" b="1" dirty="0">
                <a:solidFill>
                  <a:srgbClr val="17324D"/>
                </a:solidFill>
                <a:latin typeface="Calibri" pitchFamily="34" charset="0"/>
                <a:ea typeface="Calibri" pitchFamily="34" charset="-122"/>
                <a:cs typeface="Calibri" pitchFamily="34" charset="-120"/>
              </a:rPr>
              <a:t>A converter</a:t>
            </a:r>
            <a:endParaRPr lang="en-US" sz="1900" dirty="0"/>
          </a:p>
        </p:txBody>
      </p:sp>
      <p:sp>
        <p:nvSpPr>
          <p:cNvPr id="33" name="Text 25"/>
          <p:cNvSpPr txBox="1"/>
          <p:nvPr/>
        </p:nvSpPr>
        <p:spPr>
          <a:xfrm>
            <a:off x="822960" y="5120640"/>
            <a:ext cx="2966618" cy="731520"/>
          </a:xfrm>
          <a:prstGeom prst="rect">
            <a:avLst/>
          </a:prstGeom>
          <a:noFill/>
          <a:ln/>
        </p:spPr>
        <p:txBody>
          <a:bodyPr wrap="square" lIns="0" tIns="0" rIns="0" bIns="0" rtlCol="0" anchor="t"/>
          <a:lstStyle/>
          <a:p>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Electrical signal ↔ radio wave, in both directions</a:t>
            </a:r>
            <a:endParaRPr lang="en-US" sz="1600" dirty="0"/>
          </a:p>
        </p:txBody>
      </p:sp>
      <p:sp>
        <p:nvSpPr>
          <p:cNvPr id="34" name="Shape 26"/>
          <p:cNvSpPr/>
          <p:nvPr/>
        </p:nvSpPr>
        <p:spPr>
          <a:xfrm>
            <a:off x="4338218" y="3977640"/>
            <a:ext cx="3515258" cy="2011680"/>
          </a:xfrm>
          <a:prstGeom prst="roundRect">
            <a:avLst>
              <a:gd name="adj" fmla="val 5455"/>
            </a:avLst>
          </a:prstGeom>
          <a:solidFill>
            <a:srgbClr val="F2F4F7"/>
          </a:solidFill>
          <a:ln/>
        </p:spPr>
      </p:sp>
      <p:sp>
        <p:nvSpPr>
          <p:cNvPr id="35" name="Shape 27"/>
          <p:cNvSpPr/>
          <p:nvPr/>
        </p:nvSpPr>
        <p:spPr>
          <a:xfrm>
            <a:off x="4612538" y="4270248"/>
            <a:ext cx="685800" cy="685800"/>
          </a:xfrm>
          <a:prstGeom prst="ellipse">
            <a:avLst/>
          </a:prstGeom>
          <a:solidFill>
            <a:srgbClr val="17324D"/>
          </a:solidFill>
          <a:ln/>
        </p:spPr>
      </p:sp>
      <p:pic>
        <p:nvPicPr>
          <p:cNvPr id="36" name="Image 5" descr="preencoded.png">    </p:cNvPr>
          <p:cNvPicPr>
            <a:picLocks noChangeAspect="1"/>
          </p:cNvPicPr>
          <p:nvPr/>
        </p:nvPicPr>
        <p:blipFill>
          <a:blip r:embed="rId6"/>
          <a:stretch>
            <a:fillRect/>
          </a:stretch>
        </p:blipFill>
        <p:spPr>
          <a:xfrm>
            <a:off x="4763414" y="4421124"/>
            <a:ext cx="384048" cy="384048"/>
          </a:xfrm>
          <a:prstGeom prst="rect">
            <a:avLst/>
          </a:prstGeom>
        </p:spPr>
      </p:pic>
      <p:sp>
        <p:nvSpPr>
          <p:cNvPr id="37" name="Text 28"/>
          <p:cNvSpPr txBox="1"/>
          <p:nvPr/>
        </p:nvSpPr>
        <p:spPr>
          <a:xfrm>
            <a:off x="5481218" y="4270248"/>
            <a:ext cx="2189378" cy="685800"/>
          </a:xfrm>
          <a:prstGeom prst="rect">
            <a:avLst/>
          </a:prstGeom>
          <a:noFill/>
          <a:ln/>
        </p:spPr>
        <p:txBody>
          <a:bodyPr wrap="square" lIns="0" tIns="0" rIns="0" bIns="0" rtlCol="0" anchor="ctr"/>
          <a:lstStyle/>
          <a:p>
            <a:pPr algn="l" indent="0" marL="0">
              <a:lnSpc>
                <a:spcPct val="100000"/>
              </a:lnSpc>
              <a:buNone/>
            </a:pPr>
            <a:r>
              <a:rPr lang="en-US" sz="1900" b="1" dirty="0">
                <a:solidFill>
                  <a:srgbClr val="17324D"/>
                </a:solidFill>
                <a:latin typeface="Calibri" pitchFamily="34" charset="0"/>
                <a:ea typeface="Calibri" pitchFamily="34" charset="-122"/>
                <a:cs typeface="Calibri" pitchFamily="34" charset="-120"/>
              </a:rPr>
              <a:t>Everywhere</a:t>
            </a:r>
            <a:endParaRPr lang="en-US" sz="1900" dirty="0"/>
          </a:p>
        </p:txBody>
      </p:sp>
      <p:sp>
        <p:nvSpPr>
          <p:cNvPr id="38" name="Text 29"/>
          <p:cNvSpPr txBox="1"/>
          <p:nvPr/>
        </p:nvSpPr>
        <p:spPr>
          <a:xfrm>
            <a:off x="4612538" y="5120640"/>
            <a:ext cx="2966618" cy="731520"/>
          </a:xfrm>
          <a:prstGeom prst="rect">
            <a:avLst/>
          </a:prstGeom>
          <a:noFill/>
          <a:ln/>
        </p:spPr>
        <p:txBody>
          <a:bodyPr wrap="square" lIns="0" tIns="0" rIns="0" bIns="0" rtlCol="0" anchor="t"/>
          <a:lstStyle/>
          <a:p>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Phones, Wi-Fi routers, GPS, radar</a:t>
            </a:r>
            <a:endParaRPr lang="en-US" sz="1600" dirty="0"/>
          </a:p>
        </p:txBody>
      </p:sp>
      <p:sp>
        <p:nvSpPr>
          <p:cNvPr id="39" name="Shape 30"/>
          <p:cNvSpPr/>
          <p:nvPr/>
        </p:nvSpPr>
        <p:spPr>
          <a:xfrm>
            <a:off x="8127797" y="3977640"/>
            <a:ext cx="3515258" cy="2011680"/>
          </a:xfrm>
          <a:prstGeom prst="roundRect">
            <a:avLst>
              <a:gd name="adj" fmla="val 5455"/>
            </a:avLst>
          </a:prstGeom>
          <a:solidFill>
            <a:srgbClr val="F2F4F7"/>
          </a:solidFill>
          <a:ln/>
        </p:spPr>
      </p:sp>
      <p:sp>
        <p:nvSpPr>
          <p:cNvPr id="40" name="Shape 31"/>
          <p:cNvSpPr/>
          <p:nvPr/>
        </p:nvSpPr>
        <p:spPr>
          <a:xfrm>
            <a:off x="8402117" y="4270248"/>
            <a:ext cx="685800" cy="685800"/>
          </a:xfrm>
          <a:prstGeom prst="ellipse">
            <a:avLst/>
          </a:prstGeom>
          <a:solidFill>
            <a:srgbClr val="17324D"/>
          </a:solidFill>
          <a:ln/>
        </p:spPr>
      </p:sp>
      <p:pic>
        <p:nvPicPr>
          <p:cNvPr id="41" name="Image 6" descr="preencoded.png">    </p:cNvPr>
          <p:cNvPicPr>
            <a:picLocks noChangeAspect="1"/>
          </p:cNvPicPr>
          <p:nvPr/>
        </p:nvPicPr>
        <p:blipFill>
          <a:blip r:embed="rId7"/>
          <a:stretch>
            <a:fillRect/>
          </a:stretch>
        </p:blipFill>
        <p:spPr>
          <a:xfrm>
            <a:off x="8552993" y="4421124"/>
            <a:ext cx="384048" cy="384048"/>
          </a:xfrm>
          <a:prstGeom prst="rect">
            <a:avLst/>
          </a:prstGeom>
        </p:spPr>
      </p:pic>
      <p:sp>
        <p:nvSpPr>
          <p:cNvPr id="42" name="Text 32"/>
          <p:cNvSpPr txBox="1"/>
          <p:nvPr/>
        </p:nvSpPr>
        <p:spPr>
          <a:xfrm>
            <a:off x="9270797" y="4270248"/>
            <a:ext cx="2189378" cy="685800"/>
          </a:xfrm>
          <a:prstGeom prst="rect">
            <a:avLst/>
          </a:prstGeom>
          <a:noFill/>
          <a:ln/>
        </p:spPr>
        <p:txBody>
          <a:bodyPr wrap="square" lIns="0" tIns="0" rIns="0" bIns="0" rtlCol="0" anchor="ctr"/>
          <a:lstStyle/>
          <a:p>
            <a:pPr algn="l" indent="0" marL="0">
              <a:lnSpc>
                <a:spcPct val="100000"/>
              </a:lnSpc>
              <a:buNone/>
            </a:pPr>
            <a:r>
              <a:rPr lang="en-US" sz="1900" b="1" dirty="0">
                <a:solidFill>
                  <a:srgbClr val="17324D"/>
                </a:solidFill>
                <a:latin typeface="Calibri" pitchFamily="34" charset="0"/>
                <a:ea typeface="Calibri" pitchFamily="34" charset="-122"/>
                <a:cs typeface="Calibri" pitchFamily="34" charset="-120"/>
              </a:rPr>
              <a:t>Size follows wavelength</a:t>
            </a:r>
            <a:endParaRPr lang="en-US" sz="1900" dirty="0"/>
          </a:p>
        </p:txBody>
      </p:sp>
      <p:sp>
        <p:nvSpPr>
          <p:cNvPr id="43" name="Text 33"/>
          <p:cNvSpPr txBox="1"/>
          <p:nvPr/>
        </p:nvSpPr>
        <p:spPr>
          <a:xfrm>
            <a:off x="8402117" y="5120640"/>
            <a:ext cx="2966618" cy="731520"/>
          </a:xfrm>
          <a:prstGeom prst="rect">
            <a:avLst/>
          </a:prstGeom>
          <a:noFill/>
          <a:ln/>
        </p:spPr>
        <p:txBody>
          <a:bodyPr wrap="square" lIns="0" tIns="0" rIns="0" bIns="0" rtlCol="0" anchor="t"/>
          <a:lstStyle/>
          <a:p>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Higher frequency → shorter wave → smaller antenna</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BASICS</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How do we judge an antenna?</a:t>
            </a:r>
            <a:endParaRPr lang="en-US" sz="3400" dirty="0"/>
          </a:p>
        </p:txBody>
      </p:sp>
      <p:sp>
        <p:nvSpPr>
          <p:cNvPr id="5" name="Shape 2"/>
          <p:cNvSpPr/>
          <p:nvPr/>
        </p:nvSpPr>
        <p:spPr>
          <a:xfrm>
            <a:off x="548640" y="1463040"/>
            <a:ext cx="5387188" cy="4709160"/>
          </a:xfrm>
          <a:prstGeom prst="roundRect">
            <a:avLst>
              <a:gd name="adj" fmla="val 2330"/>
            </a:avLst>
          </a:prstGeom>
          <a:solidFill>
            <a:srgbClr val="F2F4F7"/>
          </a:solidFill>
          <a:ln/>
        </p:spPr>
      </p:sp>
      <p:sp>
        <p:nvSpPr>
          <p:cNvPr id="6" name="Shape 3"/>
          <p:cNvSpPr/>
          <p:nvPr/>
        </p:nvSpPr>
        <p:spPr>
          <a:xfrm>
            <a:off x="822960" y="1691640"/>
            <a:ext cx="640080" cy="640080"/>
          </a:xfrm>
          <a:prstGeom prst="ellipse">
            <a:avLst/>
          </a:prstGeom>
          <a:solidFill>
            <a:srgbClr val="17324D"/>
          </a:solidFill>
          <a:ln/>
        </p:spPr>
      </p:sp>
      <p:pic>
        <p:nvPicPr>
          <p:cNvPr id="7" name="Image 0" descr="preencoded.png">    </p:cNvPr>
          <p:cNvPicPr>
            <a:picLocks noChangeAspect="1"/>
          </p:cNvPicPr>
          <p:nvPr/>
        </p:nvPicPr>
        <p:blipFill>
          <a:blip r:embed="rId1"/>
          <a:stretch>
            <a:fillRect/>
          </a:stretch>
        </p:blipFill>
        <p:spPr>
          <a:xfrm>
            <a:off x="963778" y="1832458"/>
            <a:ext cx="358445" cy="358445"/>
          </a:xfrm>
          <a:prstGeom prst="rect">
            <a:avLst/>
          </a:prstGeom>
        </p:spPr>
      </p:pic>
      <p:sp>
        <p:nvSpPr>
          <p:cNvPr id="8" name="Text 4"/>
          <p:cNvSpPr txBox="1"/>
          <p:nvPr/>
        </p:nvSpPr>
        <p:spPr>
          <a:xfrm>
            <a:off x="1600200" y="1645920"/>
            <a:ext cx="4107028" cy="411480"/>
          </a:xfrm>
          <a:prstGeom prst="rect">
            <a:avLst/>
          </a:prstGeom>
          <a:noFill/>
          <a:ln/>
        </p:spPr>
        <p:txBody>
          <a:bodyPr wrap="square" lIns="0" tIns="0" rIns="0" bIns="0" rtlCol="0" anchor="t"/>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Matching  —  S</a:t>
            </a:r>
            <a:pPr algn="l" indent="0" marL="0">
              <a:lnSpc>
                <a:spcPct val="100000"/>
              </a:lnSpc>
              <a:buNone/>
            </a:pPr>
            <a:r>
              <a:rPr lang="en-US" sz="2000" b="1" baseline="-40000" dirty="0">
                <a:solidFill>
                  <a:srgbClr val="17324D"/>
                </a:solidFill>
                <a:latin typeface="Calibri" pitchFamily="34" charset="0"/>
                <a:ea typeface="Calibri" pitchFamily="34" charset="-122"/>
                <a:cs typeface="Calibri" pitchFamily="34" charset="-120"/>
              </a:rPr>
              <a:t>11</a:t>
            </a:r>
            <a:endParaRPr lang="en-US" sz="2000" dirty="0"/>
          </a:p>
        </p:txBody>
      </p:sp>
      <p:sp>
        <p:nvSpPr>
          <p:cNvPr id="9" name="Text 5"/>
          <p:cNvSpPr txBox="1"/>
          <p:nvPr/>
        </p:nvSpPr>
        <p:spPr>
          <a:xfrm>
            <a:off x="1600200" y="2029968"/>
            <a:ext cx="4107028" cy="320040"/>
          </a:xfrm>
          <a:prstGeom prst="rect">
            <a:avLst/>
          </a:prstGeom>
          <a:noFill/>
          <a:ln/>
        </p:spPr>
        <p:txBody>
          <a:bodyPr wrap="square" lIns="0" tIns="0" rIns="0" bIns="0" rtlCol="0" anchor="t"/>
          <a:lstStyle/>
          <a:p>
            <a:pPr algn="l" indent="0" marL="0">
              <a:lnSpc>
                <a:spcPct val="100000"/>
              </a:lnSpc>
              <a:buNone/>
            </a:pPr>
            <a:r>
              <a:rPr lang="en-US" sz="1500" dirty="0">
                <a:solidFill>
                  <a:srgbClr val="5B6472"/>
                </a:solidFill>
                <a:latin typeface="Calibri" pitchFamily="34" charset="0"/>
                <a:ea typeface="Calibri" pitchFamily="34" charset="-122"/>
                <a:cs typeface="Calibri" pitchFamily="34" charset="-120"/>
              </a:rPr>
              <a:t>how much power bounces back</a:t>
            </a:r>
            <a:endParaRPr lang="en-US" sz="1500" dirty="0"/>
          </a:p>
        </p:txBody>
      </p:sp>
      <p:sp>
        <p:nvSpPr>
          <p:cNvPr id="10" name="Shape 6"/>
          <p:cNvSpPr/>
          <p:nvPr/>
        </p:nvSpPr>
        <p:spPr>
          <a:xfrm>
            <a:off x="6255868" y="1463040"/>
            <a:ext cx="5387188" cy="4709160"/>
          </a:xfrm>
          <a:prstGeom prst="roundRect">
            <a:avLst>
              <a:gd name="adj" fmla="val 2330"/>
            </a:avLst>
          </a:prstGeom>
          <a:solidFill>
            <a:srgbClr val="F2F4F7"/>
          </a:solidFill>
          <a:ln/>
        </p:spPr>
      </p:sp>
      <p:sp>
        <p:nvSpPr>
          <p:cNvPr id="11" name="Shape 7"/>
          <p:cNvSpPr/>
          <p:nvPr/>
        </p:nvSpPr>
        <p:spPr>
          <a:xfrm>
            <a:off x="6530188" y="1691640"/>
            <a:ext cx="640080" cy="640080"/>
          </a:xfrm>
          <a:prstGeom prst="ellipse">
            <a:avLst/>
          </a:prstGeom>
          <a:solidFill>
            <a:srgbClr val="B8651B"/>
          </a:solidFill>
          <a:ln/>
        </p:spPr>
      </p:sp>
      <p:pic>
        <p:nvPicPr>
          <p:cNvPr id="12" name="Image 1" descr="preencoded.png">    </p:cNvPr>
          <p:cNvPicPr>
            <a:picLocks noChangeAspect="1"/>
          </p:cNvPicPr>
          <p:nvPr/>
        </p:nvPicPr>
        <p:blipFill>
          <a:blip r:embed="rId2"/>
          <a:stretch>
            <a:fillRect/>
          </a:stretch>
        </p:blipFill>
        <p:spPr>
          <a:xfrm>
            <a:off x="6671005" y="1832458"/>
            <a:ext cx="358445" cy="358445"/>
          </a:xfrm>
          <a:prstGeom prst="rect">
            <a:avLst/>
          </a:prstGeom>
        </p:spPr>
      </p:pic>
      <p:sp>
        <p:nvSpPr>
          <p:cNvPr id="13" name="Text 8"/>
          <p:cNvSpPr txBox="1"/>
          <p:nvPr/>
        </p:nvSpPr>
        <p:spPr>
          <a:xfrm>
            <a:off x="7307428" y="1645920"/>
            <a:ext cx="4107028" cy="411480"/>
          </a:xfrm>
          <a:prstGeom prst="rect">
            <a:avLst/>
          </a:prstGeom>
          <a:noFill/>
          <a:ln/>
        </p:spPr>
        <p:txBody>
          <a:bodyPr wrap="square" lIns="0" tIns="0" rIns="0" bIns="0" rtlCol="0" anchor="t"/>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Gain &amp; radiation pattern</a:t>
            </a:r>
            <a:endParaRPr lang="en-US" sz="2000" dirty="0"/>
          </a:p>
        </p:txBody>
      </p:sp>
      <p:sp>
        <p:nvSpPr>
          <p:cNvPr id="14" name="Text 9"/>
          <p:cNvSpPr txBox="1"/>
          <p:nvPr/>
        </p:nvSpPr>
        <p:spPr>
          <a:xfrm>
            <a:off x="7307428" y="2029968"/>
            <a:ext cx="4107028" cy="320040"/>
          </a:xfrm>
          <a:prstGeom prst="rect">
            <a:avLst/>
          </a:prstGeom>
          <a:noFill/>
          <a:ln/>
        </p:spPr>
        <p:txBody>
          <a:bodyPr wrap="square" lIns="0" tIns="0" rIns="0" bIns="0" rtlCol="0" anchor="t"/>
          <a:lstStyle/>
          <a:p>
            <a:pPr algn="l" indent="0" marL="0">
              <a:lnSpc>
                <a:spcPct val="100000"/>
              </a:lnSpc>
              <a:buNone/>
            </a:pPr>
            <a:r>
              <a:rPr lang="en-US" sz="1500" dirty="0">
                <a:solidFill>
                  <a:srgbClr val="5B6472"/>
                </a:solidFill>
                <a:latin typeface="Calibri" pitchFamily="34" charset="0"/>
                <a:ea typeface="Calibri" pitchFamily="34" charset="-122"/>
                <a:cs typeface="Calibri" pitchFamily="34" charset="-120"/>
              </a:rPr>
              <a:t>how strongly, and in which direction</a:t>
            </a:r>
            <a:endParaRPr lang="en-US" sz="1500" dirty="0"/>
          </a:p>
        </p:txBody>
      </p:sp>
      <p:pic>
        <p:nvPicPr>
          <p:cNvPr id="15" name="concept_s11.png" descr="/home/user/fyp-mimo-antenna-metasurface/figures/concept_s11.png">    </p:cNvPr>
          <p:cNvPicPr>
            <a:picLocks noChangeAspect="1"/>
          </p:cNvPicPr>
          <p:nvPr/>
        </p:nvPicPr>
        <p:blipFill>
          <a:blip r:embed="rId3"/>
          <a:stretch>
            <a:fillRect/>
          </a:stretch>
        </p:blipFill>
        <p:spPr>
          <a:xfrm>
            <a:off x="1001179" y="2514600"/>
            <a:ext cx="4482110" cy="2743200"/>
          </a:xfrm>
          <a:prstGeom prst="rect">
            <a:avLst/>
          </a:prstGeom>
        </p:spPr>
      </p:pic>
      <p:sp>
        <p:nvSpPr>
          <p:cNvPr id="16" name="Text 10"/>
          <p:cNvSpPr txBox="1"/>
          <p:nvPr/>
        </p:nvSpPr>
        <p:spPr>
          <a:xfrm>
            <a:off x="822960" y="5394960"/>
            <a:ext cx="4838548" cy="594360"/>
          </a:xfrm>
          <a:prstGeom prst="rect">
            <a:avLst/>
          </a:prstGeom>
          <a:noFill/>
          <a:ln/>
        </p:spPr>
        <p:txBody>
          <a:bodyPr wrap="square" lIns="0" tIns="0" rIns="0" bIns="0" rtlCol="0" anchor="ctr"/>
          <a:lstStyle/>
          <a:p>
            <a:pPr algn="ctr" indent="0" marL="0">
              <a:lnSpc>
                <a:spcPct val="100000"/>
              </a:lnSpc>
              <a:buNone/>
            </a:pPr>
            <a:r>
              <a:rPr lang="en-US" sz="1500" b="1" dirty="0">
                <a:solidFill>
                  <a:srgbClr val="2E7D5B"/>
                </a:solidFill>
                <a:latin typeface="Calibri" pitchFamily="34" charset="0"/>
                <a:ea typeface="Calibri" pitchFamily="34" charset="-122"/>
                <a:cs typeface="Calibri" pitchFamily="34" charset="-120"/>
              </a:rPr>
              <a:t>Below −10 dB  →  less than 10 % reflected  →  good match</a:t>
            </a:r>
            <a:endParaRPr lang="en-US" sz="1500" dirty="0"/>
          </a:p>
        </p:txBody>
      </p:sp>
      <p:pic>
        <p:nvPicPr>
          <p:cNvPr id="17" name="concept_pattern.png" descr="/home/user/fyp-mimo-antenna-metasurface/figures/concept_pattern.png">    </p:cNvPr>
          <p:cNvPicPr>
            <a:picLocks noChangeAspect="1"/>
          </p:cNvPicPr>
          <p:nvPr/>
        </p:nvPicPr>
        <p:blipFill>
          <a:blip r:embed="rId4"/>
          <a:stretch>
            <a:fillRect/>
          </a:stretch>
        </p:blipFill>
        <p:spPr>
          <a:xfrm>
            <a:off x="6600783" y="2468880"/>
            <a:ext cx="2602009" cy="3611880"/>
          </a:xfrm>
          <a:prstGeom prst="rect">
            <a:avLst/>
          </a:prstGeom>
        </p:spPr>
      </p:pic>
      <p:sp>
        <p:nvSpPr>
          <p:cNvPr id="18" name="Text 11"/>
          <p:cNvSpPr txBox="1"/>
          <p:nvPr/>
        </p:nvSpPr>
        <p:spPr>
          <a:xfrm>
            <a:off x="9410548" y="2651760"/>
            <a:ext cx="2003908" cy="3383280"/>
          </a:xfrm>
          <a:prstGeom prst="rect">
            <a:avLst/>
          </a:prstGeom>
          <a:noFill/>
          <a:ln/>
        </p:spPr>
        <p:txBody>
          <a:bodyPr wrap="square" lIns="0" tIns="0" rIns="0" bIns="0" rtlCol="0" anchor="ctr"/>
          <a:lstStyle/>
          <a:p>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Gain</a:t>
            </a:r>
            <a:pPr algn="l" indent="0" marL="0">
              <a:lnSpc>
                <a:spcPct val="100000"/>
              </a:lnSpc>
              <a:spcAft>
                <a:spcPts val="1000"/>
              </a:spcAft>
              <a:buNone/>
            </a:pPr>
            <a:r>
              <a:rPr lang="en-US" sz="1500" dirty="0">
                <a:solidFill>
                  <a:srgbClr val="1F2328"/>
                </a:solidFill>
                <a:latin typeface="Calibri" pitchFamily="34" charset="0"/>
                <a:ea typeface="Calibri" pitchFamily="34" charset="-122"/>
                <a:cs typeface="Calibri" pitchFamily="34" charset="-120"/>
              </a:rPr>
              <a:t> (dBi): power in the best direction, compared with an antenna that radiates equally everywhere</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 monopole sends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front and back</a:t>
            </a:r>
            <a:pPr algn="l" indent="0" marL="0">
              <a:lnSpc>
                <a:spcPct val="100000"/>
              </a:lnSpc>
              <a:spcAft>
                <a:spcPts val="1000"/>
              </a:spcAft>
              <a:buNone/>
            </a:pPr>
            <a:r>
              <a:rPr lang="en-US" sz="1500" dirty="0">
                <a:solidFill>
                  <a:srgbClr val="1F2328"/>
                </a:solidFill>
                <a:latin typeface="Calibri" pitchFamily="34" charset="0"/>
                <a:ea typeface="Calibri" pitchFamily="34" charset="-122"/>
                <a:cs typeface="Calibri" pitchFamily="34" charset="-120"/>
              </a:rPr>
              <a:t> → part of the power is wasted</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 reflector behind it sends more power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forward</a:t>
            </a:r>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 higher gain</a:t>
            </a:r>
            <a:endParaRPr lang="en-US" sz="1500" dirty="0"/>
          </a:p>
        </p:txBody>
      </p:sp>
      <p:sp>
        <p:nvSpPr>
          <p:cNvPr id="19" name="Text 12"/>
          <p:cNvSpPr txBox="1"/>
          <p:nvPr/>
        </p:nvSpPr>
        <p:spPr>
          <a:xfrm>
            <a:off x="6530188" y="5806440"/>
            <a:ext cx="4838548" cy="274320"/>
          </a:xfrm>
          <a:prstGeom prst="rect">
            <a:avLst/>
          </a:prstGeom>
          <a:noFill/>
          <a:ln/>
        </p:spPr>
        <p:txBody>
          <a:bodyPr wrap="square" lIns="0" tIns="0" rIns="0" bIns="0" rtlCol="0" anchor="t"/>
          <a:lstStyle/>
          <a:p>
            <a:pPr algn="r" indent="0" marL="0">
              <a:lnSpc>
                <a:spcPct val="100000"/>
              </a:lnSpc>
              <a:buNone/>
            </a:pPr>
            <a:r>
              <a:rPr lang="en-US" sz="1100" dirty="0">
                <a:solidFill>
                  <a:srgbClr val="8A94A6"/>
                </a:solidFill>
                <a:latin typeface="Calibri" pitchFamily="34" charset="0"/>
                <a:ea typeface="Calibri" pitchFamily="34" charset="-122"/>
                <a:cs typeface="Calibri" pitchFamily="34" charset="-120"/>
              </a:rPr>
              <a:t>concept sketches, not our results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INTRODUCTION &amp; PROBLEM STATEMENT</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Why wideband, why MIMO — and what is the problem?</a:t>
            </a:r>
            <a:endParaRPr lang="en-US" sz="3400" dirty="0"/>
          </a:p>
        </p:txBody>
      </p:sp>
      <p:sp>
        <p:nvSpPr>
          <p:cNvPr id="5" name="Shape 2"/>
          <p:cNvSpPr/>
          <p:nvPr/>
        </p:nvSpPr>
        <p:spPr>
          <a:xfrm>
            <a:off x="548640" y="1463040"/>
            <a:ext cx="3515258" cy="1783080"/>
          </a:xfrm>
          <a:prstGeom prst="roundRect">
            <a:avLst>
              <a:gd name="adj" fmla="val 6154"/>
            </a:avLst>
          </a:prstGeom>
          <a:solidFill>
            <a:srgbClr val="F2F4F7"/>
          </a:solidFill>
          <a:ln/>
        </p:spPr>
      </p:sp>
      <p:sp>
        <p:nvSpPr>
          <p:cNvPr id="6" name="Shape 3"/>
          <p:cNvSpPr/>
          <p:nvPr/>
        </p:nvSpPr>
        <p:spPr>
          <a:xfrm>
            <a:off x="822960" y="1737360"/>
            <a:ext cx="685800" cy="685800"/>
          </a:xfrm>
          <a:prstGeom prst="ellipse">
            <a:avLst/>
          </a:prstGeom>
          <a:solidFill>
            <a:srgbClr val="17324D"/>
          </a:solidFill>
          <a:ln/>
        </p:spPr>
      </p:sp>
      <p:pic>
        <p:nvPicPr>
          <p:cNvPr id="7" name="Image 0"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8" name="Text 4"/>
          <p:cNvSpPr txBox="1"/>
          <p:nvPr/>
        </p:nvSpPr>
        <p:spPr>
          <a:xfrm>
            <a:off x="1691640" y="1737360"/>
            <a:ext cx="2189378" cy="68580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Wideband</a:t>
            </a:r>
            <a:endParaRPr lang="en-US" sz="2000" dirty="0"/>
          </a:p>
        </p:txBody>
      </p:sp>
      <p:sp>
        <p:nvSpPr>
          <p:cNvPr id="9" name="Text 5"/>
          <p:cNvSpPr txBox="1"/>
          <p:nvPr/>
        </p:nvSpPr>
        <p:spPr>
          <a:xfrm>
            <a:off x="822960" y="254203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One antenna covers many services (about 2–15 GHz)</a:t>
            </a:r>
            <a:endParaRPr lang="en-US" sz="1500" dirty="0"/>
          </a:p>
        </p:txBody>
      </p:sp>
      <p:sp>
        <p:nvSpPr>
          <p:cNvPr id="10" name="Shape 6"/>
          <p:cNvSpPr/>
          <p:nvPr/>
        </p:nvSpPr>
        <p:spPr>
          <a:xfrm>
            <a:off x="4338218" y="1463040"/>
            <a:ext cx="3515258" cy="1783080"/>
          </a:xfrm>
          <a:prstGeom prst="roundRect">
            <a:avLst>
              <a:gd name="adj" fmla="val 6154"/>
            </a:avLst>
          </a:prstGeom>
          <a:solidFill>
            <a:srgbClr val="F2F4F7"/>
          </a:solidFill>
          <a:ln/>
        </p:spPr>
      </p:sp>
      <p:sp>
        <p:nvSpPr>
          <p:cNvPr id="11" name="Shape 7"/>
          <p:cNvSpPr/>
          <p:nvPr/>
        </p:nvSpPr>
        <p:spPr>
          <a:xfrm>
            <a:off x="4612538" y="1737360"/>
            <a:ext cx="685800" cy="685800"/>
          </a:xfrm>
          <a:prstGeom prst="ellipse">
            <a:avLst/>
          </a:prstGeom>
          <a:solidFill>
            <a:srgbClr val="17324D"/>
          </a:solidFill>
          <a:ln/>
        </p:spPr>
      </p:sp>
      <p:pic>
        <p:nvPicPr>
          <p:cNvPr id="12" name="Image 1" descr="preencoded.png">    </p:cNvPr>
          <p:cNvPicPr>
            <a:picLocks noChangeAspect="1"/>
          </p:cNvPicPr>
          <p:nvPr/>
        </p:nvPicPr>
        <p:blipFill>
          <a:blip r:embed="rId2"/>
          <a:stretch>
            <a:fillRect/>
          </a:stretch>
        </p:blipFill>
        <p:spPr>
          <a:xfrm>
            <a:off x="4763414" y="1888236"/>
            <a:ext cx="384048" cy="384048"/>
          </a:xfrm>
          <a:prstGeom prst="rect">
            <a:avLst/>
          </a:prstGeom>
        </p:spPr>
      </p:pic>
      <p:sp>
        <p:nvSpPr>
          <p:cNvPr id="13" name="Text 8"/>
          <p:cNvSpPr txBox="1"/>
          <p:nvPr/>
        </p:nvSpPr>
        <p:spPr>
          <a:xfrm>
            <a:off x="5481218" y="1737360"/>
            <a:ext cx="2189378" cy="68580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MIMO</a:t>
            </a:r>
            <a:endParaRPr lang="en-US" sz="2000" dirty="0"/>
          </a:p>
        </p:txBody>
      </p:sp>
      <p:sp>
        <p:nvSpPr>
          <p:cNvPr id="14" name="Text 9"/>
          <p:cNvSpPr txBox="1"/>
          <p:nvPr/>
        </p:nvSpPr>
        <p:spPr>
          <a:xfrm>
            <a:off x="4612538" y="254203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Several antennas on one device → more data, more reliable link</a:t>
            </a:r>
            <a:endParaRPr lang="en-US" sz="1500" dirty="0"/>
          </a:p>
        </p:txBody>
      </p:sp>
      <p:sp>
        <p:nvSpPr>
          <p:cNvPr id="15" name="Shape 10"/>
          <p:cNvSpPr/>
          <p:nvPr/>
        </p:nvSpPr>
        <p:spPr>
          <a:xfrm>
            <a:off x="8127797" y="1463040"/>
            <a:ext cx="3515258" cy="1783080"/>
          </a:xfrm>
          <a:prstGeom prst="roundRect">
            <a:avLst>
              <a:gd name="adj" fmla="val 6154"/>
            </a:avLst>
          </a:prstGeom>
          <a:solidFill>
            <a:srgbClr val="F2F4F7"/>
          </a:solidFill>
          <a:ln/>
        </p:spPr>
      </p:sp>
      <p:sp>
        <p:nvSpPr>
          <p:cNvPr id="16" name="Shape 11"/>
          <p:cNvSpPr/>
          <p:nvPr/>
        </p:nvSpPr>
        <p:spPr>
          <a:xfrm>
            <a:off x="8402117" y="1737360"/>
            <a:ext cx="685800" cy="685800"/>
          </a:xfrm>
          <a:prstGeom prst="ellipse">
            <a:avLst/>
          </a:prstGeom>
          <a:solidFill>
            <a:srgbClr val="17324D"/>
          </a:solidFill>
          <a:ln/>
        </p:spPr>
      </p:sp>
      <p:pic>
        <p:nvPicPr>
          <p:cNvPr id="17" name="Image 2" descr="preencoded.png">    </p:cNvPr>
          <p:cNvPicPr>
            <a:picLocks noChangeAspect="1"/>
          </p:cNvPicPr>
          <p:nvPr/>
        </p:nvPicPr>
        <p:blipFill>
          <a:blip r:embed="rId3"/>
          <a:stretch>
            <a:fillRect/>
          </a:stretch>
        </p:blipFill>
        <p:spPr>
          <a:xfrm>
            <a:off x="8552993" y="1888236"/>
            <a:ext cx="384048" cy="384048"/>
          </a:xfrm>
          <a:prstGeom prst="rect">
            <a:avLst/>
          </a:prstGeom>
        </p:spPr>
      </p:pic>
      <p:sp>
        <p:nvSpPr>
          <p:cNvPr id="18" name="Text 12"/>
          <p:cNvSpPr txBox="1"/>
          <p:nvPr/>
        </p:nvSpPr>
        <p:spPr>
          <a:xfrm>
            <a:off x="9270797" y="1737360"/>
            <a:ext cx="2189378" cy="68580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Printed monopole</a:t>
            </a:r>
            <a:endParaRPr lang="en-US" sz="2000" dirty="0"/>
          </a:p>
        </p:txBody>
      </p:sp>
      <p:sp>
        <p:nvSpPr>
          <p:cNvPr id="19" name="Text 13"/>
          <p:cNvSpPr txBox="1"/>
          <p:nvPr/>
        </p:nvSpPr>
        <p:spPr>
          <a:xfrm>
            <a:off x="8402117" y="254203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Small, cheap, easy to make and naturally wideband</a:t>
            </a:r>
            <a:endParaRPr lang="en-US" sz="1500" dirty="0"/>
          </a:p>
        </p:txBody>
      </p:sp>
      <p:sp>
        <p:nvSpPr>
          <p:cNvPr id="20" name="Shape 14"/>
          <p:cNvSpPr/>
          <p:nvPr/>
        </p:nvSpPr>
        <p:spPr>
          <a:xfrm>
            <a:off x="548640" y="3566160"/>
            <a:ext cx="6766560" cy="2606040"/>
          </a:xfrm>
          <a:prstGeom prst="roundRect">
            <a:avLst>
              <a:gd name="adj" fmla="val 4211"/>
            </a:avLst>
          </a:prstGeom>
          <a:solidFill>
            <a:srgbClr val="F9E7E5"/>
          </a:solidFill>
          <a:ln/>
        </p:spPr>
      </p:sp>
      <p:sp>
        <p:nvSpPr>
          <p:cNvPr id="21" name="Shape 15"/>
          <p:cNvSpPr/>
          <p:nvPr/>
        </p:nvSpPr>
        <p:spPr>
          <a:xfrm>
            <a:off x="822960" y="3840480"/>
            <a:ext cx="685800" cy="685800"/>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973836" y="3991356"/>
            <a:ext cx="384048" cy="384048"/>
          </a:xfrm>
          <a:prstGeom prst="rect">
            <a:avLst/>
          </a:prstGeom>
        </p:spPr>
      </p:pic>
      <p:sp>
        <p:nvSpPr>
          <p:cNvPr id="23" name="Text 16"/>
          <p:cNvSpPr txBox="1"/>
          <p:nvPr/>
        </p:nvSpPr>
        <p:spPr>
          <a:xfrm>
            <a:off x="1691640" y="3840480"/>
            <a:ext cx="4572000" cy="685800"/>
          </a:xfrm>
          <a:prstGeom prst="rect">
            <a:avLst/>
          </a:prstGeom>
          <a:noFill/>
          <a:ln/>
        </p:spPr>
        <p:txBody>
          <a:bodyPr wrap="square" lIns="0" tIns="0" rIns="0" bIns="0" rtlCol="0" anchor="ctr"/>
          <a:lstStyle/>
          <a:p>
            <a:pPr algn="l" indent="0" marL="0">
              <a:lnSpc>
                <a:spcPct val="100000"/>
              </a:lnSpc>
              <a:buNone/>
            </a:pPr>
            <a:r>
              <a:rPr lang="en-US" sz="2000" b="1" dirty="0">
                <a:solidFill>
                  <a:srgbClr val="C0392B"/>
                </a:solidFill>
                <a:latin typeface="Calibri" pitchFamily="34" charset="0"/>
                <a:ea typeface="Calibri" pitchFamily="34" charset="-122"/>
                <a:cs typeface="Calibri" pitchFamily="34" charset="-120"/>
              </a:rPr>
              <a:t>The problem</a:t>
            </a:r>
            <a:endParaRPr lang="en-US" sz="2000" dirty="0"/>
          </a:p>
        </p:txBody>
      </p:sp>
      <p:sp>
        <p:nvSpPr>
          <p:cNvPr id="24" name="Text 17"/>
          <p:cNvSpPr txBox="1"/>
          <p:nvPr/>
        </p:nvSpPr>
        <p:spPr>
          <a:xfrm>
            <a:off x="868680" y="4663440"/>
            <a:ext cx="6217920" cy="1463040"/>
          </a:xfrm>
          <a:prstGeom prst="rect">
            <a:avLst/>
          </a:prstGeom>
          <a:noFill/>
          <a:ln/>
        </p:spPr>
        <p:txBody>
          <a:bodyPr wrap="square" lIns="0" tIns="0" rIns="0" bIns="0" rtlCol="0" anchor="t"/>
          <a:lstStyle/>
          <a:p>
            <a:pPr algn="l" marL="342900" indent="-342900">
              <a:lnSpc>
                <a:spcPct val="100000"/>
              </a:lnSpc>
              <a:buSzPct val="100000"/>
              <a:buChar char="•"/>
            </a:pPr>
            <a:r>
              <a:rPr lang="en-US" sz="1600" dirty="0">
                <a:solidFill>
                  <a:srgbClr val="1F2328"/>
                </a:solidFill>
                <a:latin typeface="Calibri" pitchFamily="34" charset="0"/>
                <a:ea typeface="Calibri" pitchFamily="34" charset="-122"/>
                <a:cs typeface="Calibri" pitchFamily="34" charset="-120"/>
              </a:rPr>
              <a:t>A printed monopole radiates </a:t>
            </a:r>
            <a:pPr algn="l" marL="342900" indent="-342900">
              <a:lnSpc>
                <a:spcPct val="100000"/>
              </a:lnSpc>
              <a:buSzPct val="100000"/>
              <a:buChar char="•"/>
            </a:pPr>
            <a:r>
              <a:rPr lang="en-US" sz="1600" b="1" dirty="0">
                <a:solidFill>
                  <a:srgbClr val="1F2328"/>
                </a:solidFill>
                <a:latin typeface="Calibri" pitchFamily="34" charset="0"/>
                <a:ea typeface="Calibri" pitchFamily="34" charset="-122"/>
                <a:cs typeface="Calibri" pitchFamily="34" charset="-120"/>
              </a:rPr>
              <a:t>to the front and the back</a:t>
            </a:r>
            <a:pPr algn="l" marL="342900" indent="-342900">
              <a:lnSpc>
                <a:spcPct val="100000"/>
              </a:lnSpc>
              <a:buSzPct val="100000"/>
              <a:buChar char="•"/>
            </a:pPr>
            <a:r>
              <a:rPr lang="en-US" sz="1600" dirty="0">
                <a:solidFill>
                  <a:srgbClr val="1F2328"/>
                </a:solidFill>
                <a:latin typeface="Calibri" pitchFamily="34" charset="0"/>
                <a:ea typeface="Calibri" pitchFamily="34" charset="-122"/>
                <a:cs typeface="Calibri" pitchFamily="34" charset="-120"/>
              </a:rPr>
              <a:t> → part of the power goes the wrong way → </a:t>
            </a:r>
            <a:pPr algn="l" marL="342900" indent="-342900">
              <a:lnSpc>
                <a:spcPct val="100000"/>
              </a:lnSpc>
              <a:spcAft>
                <a:spcPts val="1000"/>
              </a:spcAft>
              <a:buSzPct val="100000"/>
              <a:buChar char="•"/>
            </a:pPr>
            <a:r>
              <a:rPr lang="en-US" sz="1600" b="1" dirty="0">
                <a:solidFill>
                  <a:srgbClr val="1F2328"/>
                </a:solidFill>
                <a:latin typeface="Calibri" pitchFamily="34" charset="0"/>
                <a:ea typeface="Calibri" pitchFamily="34" charset="-122"/>
                <a:cs typeface="Calibri" pitchFamily="34" charset="-120"/>
              </a:rPr>
              <a:t>low gain</a:t>
            </a:r>
            <a:endParaRPr lang="en-US" sz="1600" dirty="0"/>
          </a:p>
          <a:p>
            <a:pPr algn="l" marL="342900" indent="-342900">
              <a:lnSpc>
                <a:spcPct val="100000"/>
              </a:lnSpc>
              <a:buSzPct val="100000"/>
              <a:buChar char="•"/>
            </a:pPr>
            <a:r>
              <a:rPr lang="en-US" sz="1600" dirty="0">
                <a:solidFill>
                  <a:srgbClr val="1F2328"/>
                </a:solidFill>
                <a:latin typeface="Calibri" pitchFamily="34" charset="0"/>
                <a:ea typeface="Calibri" pitchFamily="34" charset="-122"/>
                <a:cs typeface="Calibri" pitchFamily="34" charset="-120"/>
              </a:rPr>
              <a:t>A plain metal sheet behind it must sit </a:t>
            </a:r>
            <a:pPr algn="l" marL="342900" indent="-342900">
              <a:lnSpc>
                <a:spcPct val="100000"/>
              </a:lnSpc>
              <a:buSzPct val="100000"/>
              <a:buChar char="•"/>
            </a:pPr>
            <a:r>
              <a:rPr lang="en-US" sz="1600" b="1" dirty="0">
                <a:solidFill>
                  <a:srgbClr val="1F2328"/>
                </a:solidFill>
                <a:latin typeface="Calibri" pitchFamily="34" charset="0"/>
                <a:ea typeface="Calibri" pitchFamily="34" charset="-122"/>
                <a:cs typeface="Calibri" pitchFamily="34" charset="-120"/>
              </a:rPr>
              <a:t>about a quarter-wavelength away</a:t>
            </a:r>
            <a:pPr algn="l" marL="342900" indent="-342900">
              <a:lnSpc>
                <a:spcPct val="100000"/>
              </a:lnSpc>
              <a:buSzPct val="100000"/>
              <a:buChar char="•"/>
            </a:pPr>
            <a:r>
              <a:rPr lang="en-US" sz="1600" dirty="0">
                <a:solidFill>
                  <a:srgbClr val="1F2328"/>
                </a:solidFill>
                <a:latin typeface="Calibri" pitchFamily="34" charset="0"/>
                <a:ea typeface="Calibri" pitchFamily="34" charset="-122"/>
                <a:cs typeface="Calibri" pitchFamily="34" charset="-120"/>
              </a:rPr>
              <a:t> → the antenna becomes </a:t>
            </a:r>
            <a:pPr algn="l" marL="342900" indent="-342900">
              <a:lnSpc>
                <a:spcPct val="100000"/>
              </a:lnSpc>
              <a:buSzPct val="100000"/>
              <a:buChar char="•"/>
            </a:pPr>
            <a:r>
              <a:rPr lang="en-US" sz="1600" b="1" dirty="0">
                <a:solidFill>
                  <a:srgbClr val="1F2328"/>
                </a:solidFill>
                <a:latin typeface="Calibri" pitchFamily="34" charset="0"/>
                <a:ea typeface="Calibri" pitchFamily="34" charset="-122"/>
                <a:cs typeface="Calibri" pitchFamily="34" charset="-120"/>
              </a:rPr>
              <a:t>thick</a:t>
            </a:r>
            <a:endParaRPr lang="en-US" sz="1600" dirty="0"/>
          </a:p>
        </p:txBody>
      </p:sp>
      <p:sp>
        <p:nvSpPr>
          <p:cNvPr id="25" name="Shape 18"/>
          <p:cNvSpPr/>
          <p:nvPr/>
        </p:nvSpPr>
        <p:spPr>
          <a:xfrm>
            <a:off x="7589520" y="3566160"/>
            <a:ext cx="4053535" cy="2606040"/>
          </a:xfrm>
          <a:prstGeom prst="roundRect">
            <a:avLst>
              <a:gd name="adj" fmla="val 4211"/>
            </a:avLst>
          </a:prstGeom>
          <a:solidFill>
            <a:srgbClr val="17324D"/>
          </a:solidFill>
          <a:ln/>
        </p:spPr>
      </p:sp>
      <p:sp>
        <p:nvSpPr>
          <p:cNvPr id="26" name="Shape 19"/>
          <p:cNvSpPr/>
          <p:nvPr/>
        </p:nvSpPr>
        <p:spPr>
          <a:xfrm>
            <a:off x="7863840" y="3840480"/>
            <a:ext cx="685800" cy="685800"/>
          </a:xfrm>
          <a:prstGeom prst="ellipse">
            <a:avLst/>
          </a:prstGeom>
          <a:solidFill>
            <a:srgbClr val="B8651B"/>
          </a:solidFill>
          <a:ln/>
        </p:spPr>
      </p:sp>
      <p:pic>
        <p:nvPicPr>
          <p:cNvPr id="27" name="Image 4" descr="preencoded.png">    </p:cNvPr>
          <p:cNvPicPr>
            <a:picLocks noChangeAspect="1"/>
          </p:cNvPicPr>
          <p:nvPr/>
        </p:nvPicPr>
        <p:blipFill>
          <a:blip r:embed="rId5"/>
          <a:stretch>
            <a:fillRect/>
          </a:stretch>
        </p:blipFill>
        <p:spPr>
          <a:xfrm>
            <a:off x="8014716" y="3991356"/>
            <a:ext cx="384048" cy="384048"/>
          </a:xfrm>
          <a:prstGeom prst="rect">
            <a:avLst/>
          </a:prstGeom>
        </p:spPr>
      </p:pic>
      <p:sp>
        <p:nvSpPr>
          <p:cNvPr id="28" name="Text 20"/>
          <p:cNvSpPr txBox="1"/>
          <p:nvPr/>
        </p:nvSpPr>
        <p:spPr>
          <a:xfrm>
            <a:off x="8732520" y="3840480"/>
            <a:ext cx="2743200" cy="685800"/>
          </a:xfrm>
          <a:prstGeom prst="rect">
            <a:avLst/>
          </a:prstGeom>
          <a:noFill/>
          <a:ln/>
        </p:spPr>
        <p:txBody>
          <a:bodyPr wrap="square" lIns="0" tIns="0" rIns="0" bIns="0" rtlCol="0" anchor="ctr"/>
          <a:lstStyle/>
          <a:p>
            <a:pPr algn="l" indent="0" marL="0">
              <a:lnSpc>
                <a:spcPct val="100000"/>
              </a:lnSpc>
              <a:buNone/>
            </a:pPr>
            <a:r>
              <a:rPr lang="en-US" sz="2000" b="1" dirty="0">
                <a:solidFill>
                  <a:srgbClr val="FFFFFF"/>
                </a:solidFill>
                <a:latin typeface="Calibri" pitchFamily="34" charset="0"/>
                <a:ea typeface="Calibri" pitchFamily="34" charset="-122"/>
                <a:cs typeface="Calibri" pitchFamily="34" charset="-120"/>
              </a:rPr>
              <a:t>Our question</a:t>
            </a:r>
            <a:endParaRPr lang="en-US" sz="2000" dirty="0"/>
          </a:p>
        </p:txBody>
      </p:sp>
      <p:sp>
        <p:nvSpPr>
          <p:cNvPr id="29" name="Text 21"/>
          <p:cNvSpPr txBox="1"/>
          <p:nvPr/>
        </p:nvSpPr>
        <p:spPr>
          <a:xfrm>
            <a:off x="7863840" y="4663440"/>
            <a:ext cx="3749040" cy="1371600"/>
          </a:xfrm>
          <a:prstGeom prst="rect">
            <a:avLst/>
          </a:prstGeom>
          <a:noFill/>
          <a:ln/>
        </p:spPr>
        <p:txBody>
          <a:bodyPr wrap="square" lIns="0" tIns="0" rIns="0" bIns="0" rtlCol="0" anchor="t"/>
          <a:lstStyle/>
          <a:p>
            <a:pPr algn="l" indent="0" marL="0">
              <a:lnSpc>
                <a:spcPct val="100000"/>
              </a:lnSpc>
              <a:buNone/>
            </a:pPr>
            <a:r>
              <a:rPr lang="en-US" sz="2000" dirty="0">
                <a:solidFill>
                  <a:srgbClr val="FFFFFF"/>
                </a:solidFill>
                <a:latin typeface="Cambria" pitchFamily="34" charset="0"/>
                <a:ea typeface="Cambria" pitchFamily="34" charset="-122"/>
                <a:cs typeface="Cambria" pitchFamily="34" charset="-120"/>
              </a:rPr>
              <a:t>How can we raise the gain and still keep the antenna thin and wideband?</a:t>
            </a:r>
            <a:endParaRPr lang="en-US" sz="2000" dirty="0"/>
          </a:p>
        </p:txBody>
      </p:sp>
      <p:sp>
        <p:nvSpPr>
          <p:cNvPr id="30" name="Text 22"/>
          <p:cNvSpPr txBox="1"/>
          <p:nvPr/>
        </p:nvSpPr>
        <p:spPr>
          <a:xfrm>
            <a:off x="10271455" y="6217920"/>
            <a:ext cx="1371600" cy="201168"/>
          </a:xfrm>
          <a:prstGeom prst="rect">
            <a:avLst/>
          </a:prstGeom>
          <a:noFill/>
          <a:ln/>
        </p:spPr>
        <p:txBody>
          <a:bodyPr wrap="square" lIns="0" tIns="0" rIns="0" bIns="0" rtlCol="0" anchor="t"/>
          <a:lstStyle/>
          <a:p>
            <a:pPr algn="r" indent="0" marL="0">
              <a:lnSpc>
                <a:spcPct val="100000"/>
              </a:lnSpc>
              <a:buNone/>
            </a:pPr>
            <a:r>
              <a:rPr lang="en-US" sz="1000" dirty="0">
                <a:solidFill>
                  <a:srgbClr val="8A94A6"/>
                </a:solidFill>
                <a:latin typeface="Calibri" pitchFamily="34" charset="0"/>
                <a:ea typeface="Calibri" pitchFamily="34" charset="-122"/>
                <a:cs typeface="Calibri" pitchFamily="34" charset="-120"/>
              </a:rPr>
              <a:t>[1]–[3]</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OUR STRUCTURE</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Our antenna: a CPW-fed printed monopole</a:t>
            </a:r>
            <a:endParaRPr lang="en-US" sz="3400" dirty="0"/>
          </a:p>
        </p:txBody>
      </p:sp>
      <p:sp>
        <p:nvSpPr>
          <p:cNvPr id="5" name="Shape 2"/>
          <p:cNvSpPr/>
          <p:nvPr/>
        </p:nvSpPr>
        <p:spPr>
          <a:xfrm>
            <a:off x="548640" y="1463040"/>
            <a:ext cx="5257800" cy="4754880"/>
          </a:xfrm>
          <a:prstGeom prst="roundRect">
            <a:avLst>
              <a:gd name="adj" fmla="val 2308"/>
            </a:avLst>
          </a:prstGeom>
          <a:solidFill>
            <a:srgbClr val="F2F4F7"/>
          </a:solidFill>
          <a:ln/>
        </p:spPr>
      </p:sp>
      <p:pic>
        <p:nvPicPr>
          <p:cNvPr id="6" name="cst_final_antenna.png" descr="/home/user/fyp-mimo-antenna-metasurface/figures/cst_final_antenna.png">    </p:cNvPr>
          <p:cNvPicPr>
            <a:picLocks noChangeAspect="1"/>
          </p:cNvPicPr>
          <p:nvPr/>
        </p:nvPicPr>
        <p:blipFill>
          <a:blip r:embed="rId1"/>
          <a:stretch>
            <a:fillRect/>
          </a:stretch>
        </p:blipFill>
        <p:spPr>
          <a:xfrm>
            <a:off x="822960" y="1737360"/>
            <a:ext cx="3429000" cy="3429000"/>
          </a:xfrm>
          <a:prstGeom prst="rect">
            <a:avLst/>
          </a:prstGeom>
        </p:spPr>
      </p:pic>
      <p:sp>
        <p:nvSpPr>
          <p:cNvPr id="7" name="Shape 3"/>
          <p:cNvSpPr/>
          <p:nvPr/>
        </p:nvSpPr>
        <p:spPr>
          <a:xfrm>
            <a:off x="3123780" y="2523212"/>
            <a:ext cx="128016" cy="128016"/>
          </a:xfrm>
          <a:prstGeom prst="ellipse">
            <a:avLst/>
          </a:prstGeom>
          <a:solidFill>
            <a:srgbClr val="B8651B"/>
          </a:solidFill>
          <a:ln w="12700">
            <a:solidFill>
              <a:srgbClr val="FFFFFF"/>
            </a:solidFill>
            <a:prstDash val="solid"/>
          </a:ln>
        </p:spPr>
      </p:sp>
      <p:sp>
        <p:nvSpPr>
          <p:cNvPr id="8" name="Shape 4"/>
          <p:cNvSpPr/>
          <p:nvPr/>
        </p:nvSpPr>
        <p:spPr>
          <a:xfrm>
            <a:off x="3187788" y="2587220"/>
            <a:ext cx="1292772" cy="91"/>
          </a:xfrm>
          <a:prstGeom prst="line">
            <a:avLst/>
          </a:prstGeom>
          <a:noFill/>
          <a:ln w="19050">
            <a:solidFill>
              <a:srgbClr val="B8651B"/>
            </a:solidFill>
            <a:prstDash val="solid"/>
          </a:ln>
        </p:spPr>
      </p:sp>
      <p:sp>
        <p:nvSpPr>
          <p:cNvPr id="9" name="Text 5"/>
          <p:cNvSpPr txBox="1"/>
          <p:nvPr/>
        </p:nvSpPr>
        <p:spPr>
          <a:xfrm>
            <a:off x="4526280" y="2404340"/>
            <a:ext cx="1280160" cy="365760"/>
          </a:xfrm>
          <a:prstGeom prst="rect">
            <a:avLst/>
          </a:prstGeom>
          <a:noFill/>
          <a:ln/>
        </p:spPr>
        <p:txBody>
          <a:bodyPr wrap="square" lIns="0" tIns="0" rIns="0" bIns="0" rtlCol="0" anchor="ctr"/>
          <a:lstStyle/>
          <a:p>
            <a:pPr algn="l" indent="0" marL="0">
              <a:lnSpc>
                <a:spcPct val="100000"/>
              </a:lnSpc>
              <a:buNone/>
            </a:pPr>
            <a:r>
              <a:rPr lang="en-US" sz="1500" b="1" dirty="0">
                <a:solidFill>
                  <a:srgbClr val="B8651B"/>
                </a:solidFill>
                <a:latin typeface="Calibri" pitchFamily="34" charset="0"/>
                <a:ea typeface="Calibri" pitchFamily="34" charset="-122"/>
                <a:cs typeface="Calibri" pitchFamily="34" charset="-120"/>
              </a:rPr>
              <a:t>Decagon patch</a:t>
            </a:r>
            <a:endParaRPr lang="en-US" sz="1500" dirty="0"/>
          </a:p>
        </p:txBody>
      </p:sp>
      <p:sp>
        <p:nvSpPr>
          <p:cNvPr id="10" name="Shape 6"/>
          <p:cNvSpPr/>
          <p:nvPr/>
        </p:nvSpPr>
        <p:spPr>
          <a:xfrm>
            <a:off x="3788887" y="4481585"/>
            <a:ext cx="128016" cy="128016"/>
          </a:xfrm>
          <a:prstGeom prst="ellipse">
            <a:avLst/>
          </a:prstGeom>
          <a:solidFill>
            <a:srgbClr val="17324D"/>
          </a:solidFill>
          <a:ln w="12700">
            <a:solidFill>
              <a:srgbClr val="FFFFFF"/>
            </a:solidFill>
            <a:prstDash val="solid"/>
          </a:ln>
        </p:spPr>
      </p:sp>
      <p:sp>
        <p:nvSpPr>
          <p:cNvPr id="11" name="Shape 7"/>
          <p:cNvSpPr/>
          <p:nvPr/>
        </p:nvSpPr>
        <p:spPr>
          <a:xfrm>
            <a:off x="3852895" y="4545593"/>
            <a:ext cx="627665" cy="91"/>
          </a:xfrm>
          <a:prstGeom prst="line">
            <a:avLst/>
          </a:prstGeom>
          <a:noFill/>
          <a:ln w="19050">
            <a:solidFill>
              <a:srgbClr val="17324D"/>
            </a:solidFill>
            <a:prstDash val="solid"/>
          </a:ln>
        </p:spPr>
      </p:sp>
      <p:sp>
        <p:nvSpPr>
          <p:cNvPr id="12" name="Text 8"/>
          <p:cNvSpPr txBox="1"/>
          <p:nvPr/>
        </p:nvSpPr>
        <p:spPr>
          <a:xfrm>
            <a:off x="4526280" y="4362713"/>
            <a:ext cx="1280160" cy="365760"/>
          </a:xfrm>
          <a:prstGeom prst="rect">
            <a:avLst/>
          </a:prstGeom>
          <a:noFill/>
          <a:ln/>
        </p:spPr>
        <p:txBody>
          <a:bodyPr wrap="square" lIns="0" tIns="0" rIns="0" bIns="0" rtlCol="0" anchor="ctr"/>
          <a:lstStyle/>
          <a:p>
            <a:pPr algn="l" indent="0" marL="0">
              <a:lnSpc>
                <a:spcPct val="100000"/>
              </a:lnSpc>
              <a:buNone/>
            </a:pPr>
            <a:r>
              <a:rPr lang="en-US" sz="1500" b="1" dirty="0">
                <a:solidFill>
                  <a:srgbClr val="17324D"/>
                </a:solidFill>
                <a:latin typeface="Calibri" pitchFamily="34" charset="0"/>
                <a:ea typeface="Calibri" pitchFamily="34" charset="-122"/>
                <a:cs typeface="Calibri" pitchFamily="34" charset="-120"/>
              </a:rPr>
              <a:t>Ground</a:t>
            </a:r>
            <a:endParaRPr lang="en-US" sz="1500" dirty="0"/>
          </a:p>
        </p:txBody>
      </p:sp>
      <p:sp>
        <p:nvSpPr>
          <p:cNvPr id="13" name="Shape 9"/>
          <p:cNvSpPr/>
          <p:nvPr/>
        </p:nvSpPr>
        <p:spPr>
          <a:xfrm>
            <a:off x="2469757" y="4998891"/>
            <a:ext cx="128016" cy="128016"/>
          </a:xfrm>
          <a:prstGeom prst="ellipse">
            <a:avLst/>
          </a:prstGeom>
          <a:solidFill>
            <a:srgbClr val="17324D"/>
          </a:solidFill>
          <a:ln w="12700">
            <a:solidFill>
              <a:srgbClr val="FFFFFF"/>
            </a:solidFill>
            <a:prstDash val="solid"/>
          </a:ln>
        </p:spPr>
      </p:sp>
      <p:sp>
        <p:nvSpPr>
          <p:cNvPr id="14" name="Shape 10"/>
          <p:cNvSpPr/>
          <p:nvPr/>
        </p:nvSpPr>
        <p:spPr>
          <a:xfrm>
            <a:off x="2533765" y="5062899"/>
            <a:ext cx="91" cy="359493"/>
          </a:xfrm>
          <a:prstGeom prst="line">
            <a:avLst/>
          </a:prstGeom>
          <a:noFill/>
          <a:ln w="19050">
            <a:solidFill>
              <a:srgbClr val="17324D"/>
            </a:solidFill>
            <a:prstDash val="solid"/>
          </a:ln>
        </p:spPr>
      </p:sp>
      <p:sp>
        <p:nvSpPr>
          <p:cNvPr id="15" name="Text 11"/>
          <p:cNvSpPr txBox="1"/>
          <p:nvPr/>
        </p:nvSpPr>
        <p:spPr>
          <a:xfrm>
            <a:off x="1802245" y="5440680"/>
            <a:ext cx="146304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17324D"/>
                </a:solidFill>
                <a:latin typeface="Calibri" pitchFamily="34" charset="0"/>
                <a:ea typeface="Calibri" pitchFamily="34" charset="-122"/>
                <a:cs typeface="Calibri" pitchFamily="34" charset="-120"/>
              </a:rPr>
              <a:t>Signal line</a:t>
            </a:r>
            <a:endParaRPr lang="en-US" sz="1500" dirty="0"/>
          </a:p>
        </p:txBody>
      </p:sp>
      <p:sp>
        <p:nvSpPr>
          <p:cNvPr id="16" name="Text 12"/>
          <p:cNvSpPr txBox="1"/>
          <p:nvPr/>
        </p:nvSpPr>
        <p:spPr>
          <a:xfrm>
            <a:off x="548640" y="5806440"/>
            <a:ext cx="525780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472"/>
                </a:solidFill>
                <a:latin typeface="Calibri" pitchFamily="34" charset="0"/>
                <a:ea typeface="Calibri" pitchFamily="34" charset="-122"/>
                <a:cs typeface="Calibri" pitchFamily="34" charset="-120"/>
              </a:rPr>
              <a:t>FR-4 board · 50 × 50 × 1.6 mm · copper</a:t>
            </a:r>
            <a:endParaRPr lang="en-US" sz="1300" dirty="0"/>
          </a:p>
        </p:txBody>
      </p:sp>
      <p:sp>
        <p:nvSpPr>
          <p:cNvPr id="17" name="Text 13"/>
          <p:cNvSpPr txBox="1"/>
          <p:nvPr/>
        </p:nvSpPr>
        <p:spPr>
          <a:xfrm>
            <a:off x="6172200" y="1417320"/>
            <a:ext cx="5470855" cy="320040"/>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CPW feed — cross-section</a:t>
            </a:r>
            <a:endParaRPr lang="en-US" sz="1600" dirty="0"/>
          </a:p>
        </p:txBody>
      </p:sp>
      <p:sp>
        <p:nvSpPr>
          <p:cNvPr id="18" name="Shape 14"/>
          <p:cNvSpPr/>
          <p:nvPr/>
        </p:nvSpPr>
        <p:spPr>
          <a:xfrm>
            <a:off x="6172200" y="2194560"/>
            <a:ext cx="5470855" cy="365760"/>
          </a:xfrm>
          <a:prstGeom prst="rect">
            <a:avLst>
              <a:gd name="adj" fmla="val 30000"/>
            </a:avLst>
          </a:prstGeom>
          <a:solidFill>
            <a:srgbClr val="6E8B3D"/>
          </a:solidFill>
          <a:ln/>
        </p:spPr>
      </p:sp>
      <p:sp>
        <p:nvSpPr>
          <p:cNvPr id="19" name="Shape 15"/>
          <p:cNvSpPr/>
          <p:nvPr/>
        </p:nvSpPr>
        <p:spPr>
          <a:xfrm>
            <a:off x="6172200" y="2103120"/>
            <a:ext cx="2191360" cy="91440"/>
          </a:xfrm>
          <a:prstGeom prst="rect">
            <a:avLst>
              <a:gd name="adj" fmla="val 120000"/>
            </a:avLst>
          </a:prstGeom>
          <a:solidFill>
            <a:srgbClr val="C27C3A"/>
          </a:solidFill>
          <a:ln/>
        </p:spPr>
      </p:sp>
      <p:sp>
        <p:nvSpPr>
          <p:cNvPr id="20" name="Text 16"/>
          <p:cNvSpPr txBox="1"/>
          <p:nvPr/>
        </p:nvSpPr>
        <p:spPr>
          <a:xfrm>
            <a:off x="6172200" y="1783080"/>
            <a:ext cx="2191360" cy="274320"/>
          </a:xfrm>
          <a:prstGeom prst="rect">
            <a:avLst/>
          </a:prstGeom>
          <a:noFill/>
          <a:ln/>
        </p:spPr>
        <p:txBody>
          <a:bodyPr wrap="square" lIns="0" tIns="0" rIns="0" bIns="0" rtlCol="0" anchor="t"/>
          <a:lstStyle/>
          <a:p>
            <a:pPr algn="ctr" indent="0" marL="0">
              <a:lnSpc>
                <a:spcPct val="100000"/>
              </a:lnSpc>
              <a:buNone/>
            </a:pPr>
            <a:r>
              <a:rPr lang="en-US" sz="1400" b="1" dirty="0">
                <a:solidFill>
                  <a:srgbClr val="17324D"/>
                </a:solidFill>
                <a:latin typeface="Calibri" pitchFamily="34" charset="0"/>
                <a:ea typeface="Calibri" pitchFamily="34" charset="-122"/>
                <a:cs typeface="Calibri" pitchFamily="34" charset="-120"/>
              </a:rPr>
              <a:t>ground</a:t>
            </a:r>
            <a:endParaRPr lang="en-US" sz="1400" dirty="0"/>
          </a:p>
        </p:txBody>
      </p:sp>
      <p:sp>
        <p:nvSpPr>
          <p:cNvPr id="21" name="Shape 17"/>
          <p:cNvSpPr/>
          <p:nvPr/>
        </p:nvSpPr>
        <p:spPr>
          <a:xfrm>
            <a:off x="8564728" y="2103120"/>
            <a:ext cx="685800" cy="91440"/>
          </a:xfrm>
          <a:prstGeom prst="rect">
            <a:avLst>
              <a:gd name="adj" fmla="val 120000"/>
            </a:avLst>
          </a:prstGeom>
          <a:solidFill>
            <a:srgbClr val="C27C3A"/>
          </a:solidFill>
          <a:ln/>
        </p:spPr>
      </p:sp>
      <p:sp>
        <p:nvSpPr>
          <p:cNvPr id="22" name="Text 18"/>
          <p:cNvSpPr txBox="1"/>
          <p:nvPr/>
        </p:nvSpPr>
        <p:spPr>
          <a:xfrm>
            <a:off x="8564728" y="1783080"/>
            <a:ext cx="685800" cy="274320"/>
          </a:xfrm>
          <a:prstGeom prst="rect">
            <a:avLst/>
          </a:prstGeom>
          <a:noFill/>
          <a:ln/>
        </p:spPr>
        <p:txBody>
          <a:bodyPr wrap="square" lIns="0" tIns="0" rIns="0" bIns="0" rtlCol="0" anchor="t"/>
          <a:lstStyle/>
          <a:p>
            <a:pPr algn="ctr" indent="0" marL="0">
              <a:lnSpc>
                <a:spcPct val="100000"/>
              </a:lnSpc>
              <a:buNone/>
            </a:pPr>
            <a:r>
              <a:rPr lang="en-US" sz="1400" b="1" dirty="0">
                <a:solidFill>
                  <a:srgbClr val="B8651B"/>
                </a:solidFill>
                <a:latin typeface="Calibri" pitchFamily="34" charset="0"/>
                <a:ea typeface="Calibri" pitchFamily="34" charset="-122"/>
                <a:cs typeface="Calibri" pitchFamily="34" charset="-120"/>
              </a:rPr>
              <a:t>signal</a:t>
            </a:r>
            <a:endParaRPr lang="en-US" sz="1400" dirty="0"/>
          </a:p>
        </p:txBody>
      </p:sp>
      <p:sp>
        <p:nvSpPr>
          <p:cNvPr id="23" name="Shape 19"/>
          <p:cNvSpPr/>
          <p:nvPr/>
        </p:nvSpPr>
        <p:spPr>
          <a:xfrm>
            <a:off x="9451696" y="2103120"/>
            <a:ext cx="2191360" cy="91440"/>
          </a:xfrm>
          <a:prstGeom prst="rect">
            <a:avLst>
              <a:gd name="adj" fmla="val 120000"/>
            </a:avLst>
          </a:prstGeom>
          <a:solidFill>
            <a:srgbClr val="C27C3A"/>
          </a:solidFill>
          <a:ln/>
        </p:spPr>
      </p:sp>
      <p:sp>
        <p:nvSpPr>
          <p:cNvPr id="24" name="Text 20"/>
          <p:cNvSpPr txBox="1"/>
          <p:nvPr/>
        </p:nvSpPr>
        <p:spPr>
          <a:xfrm>
            <a:off x="9451696" y="1783080"/>
            <a:ext cx="2191360" cy="274320"/>
          </a:xfrm>
          <a:prstGeom prst="rect">
            <a:avLst/>
          </a:prstGeom>
          <a:noFill/>
          <a:ln/>
        </p:spPr>
        <p:txBody>
          <a:bodyPr wrap="square" lIns="0" tIns="0" rIns="0" bIns="0" rtlCol="0" anchor="t"/>
          <a:lstStyle/>
          <a:p>
            <a:pPr algn="ctr" indent="0" marL="0">
              <a:lnSpc>
                <a:spcPct val="100000"/>
              </a:lnSpc>
              <a:buNone/>
            </a:pPr>
            <a:r>
              <a:rPr lang="en-US" sz="1400" b="1" dirty="0">
                <a:solidFill>
                  <a:srgbClr val="17324D"/>
                </a:solidFill>
                <a:latin typeface="Calibri" pitchFamily="34" charset="0"/>
                <a:ea typeface="Calibri" pitchFamily="34" charset="-122"/>
                <a:cs typeface="Calibri" pitchFamily="34" charset="-120"/>
              </a:rPr>
              <a:t>ground</a:t>
            </a:r>
            <a:endParaRPr lang="en-US" sz="1400" dirty="0"/>
          </a:p>
        </p:txBody>
      </p:sp>
      <p:sp>
        <p:nvSpPr>
          <p:cNvPr id="25" name="Text 21"/>
          <p:cNvSpPr txBox="1"/>
          <p:nvPr/>
        </p:nvSpPr>
        <p:spPr>
          <a:xfrm>
            <a:off x="6172200" y="2249424"/>
            <a:ext cx="5470855" cy="274320"/>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FR-4 substrate (1.6 mm)</a:t>
            </a:r>
            <a:endParaRPr lang="en-US" sz="1200" dirty="0"/>
          </a:p>
        </p:txBody>
      </p:sp>
      <p:sp>
        <p:nvSpPr>
          <p:cNvPr id="26" name="Text 22"/>
          <p:cNvSpPr txBox="1"/>
          <p:nvPr/>
        </p:nvSpPr>
        <p:spPr>
          <a:xfrm>
            <a:off x="6172200" y="2606040"/>
            <a:ext cx="5470855" cy="274320"/>
          </a:xfrm>
          <a:prstGeom prst="rect">
            <a:avLst/>
          </a:prstGeom>
          <a:noFill/>
          <a:ln/>
        </p:spPr>
        <p:txBody>
          <a:bodyPr wrap="square" lIns="0" tIns="0" rIns="0" bIns="0" rtlCol="0" anchor="t"/>
          <a:lstStyle/>
          <a:p>
            <a:pPr algn="ctr" indent="0" marL="0">
              <a:lnSpc>
                <a:spcPct val="100000"/>
              </a:lnSpc>
              <a:buNone/>
            </a:pPr>
            <a:r>
              <a:rPr lang="en-US" sz="1200" dirty="0">
                <a:solidFill>
                  <a:srgbClr val="5B6472"/>
                </a:solidFill>
                <a:latin typeface="Calibri" pitchFamily="34" charset="0"/>
                <a:ea typeface="Calibri" pitchFamily="34" charset="-122"/>
                <a:cs typeface="Calibri" pitchFamily="34" charset="-120"/>
              </a:rPr>
              <a:t>back of the board: no metal</a:t>
            </a:r>
            <a:endParaRPr lang="en-US" sz="1200" dirty="0"/>
          </a:p>
        </p:txBody>
      </p:sp>
      <p:sp>
        <p:nvSpPr>
          <p:cNvPr id="27" name="Shape 23"/>
          <p:cNvSpPr/>
          <p:nvPr/>
        </p:nvSpPr>
        <p:spPr>
          <a:xfrm>
            <a:off x="6172200" y="3017520"/>
            <a:ext cx="5470855" cy="932688"/>
          </a:xfrm>
          <a:prstGeom prst="roundRect">
            <a:avLst>
              <a:gd name="adj" fmla="val 11765"/>
            </a:avLst>
          </a:prstGeom>
          <a:solidFill>
            <a:srgbClr val="F2F4F7"/>
          </a:solidFill>
          <a:ln/>
        </p:spPr>
      </p:sp>
      <p:sp>
        <p:nvSpPr>
          <p:cNvPr id="28" name="Shape 24"/>
          <p:cNvSpPr/>
          <p:nvPr/>
        </p:nvSpPr>
        <p:spPr>
          <a:xfrm>
            <a:off x="6373368" y="3172968"/>
            <a:ext cx="603504" cy="603504"/>
          </a:xfrm>
          <a:prstGeom prst="ellipse">
            <a:avLst/>
          </a:prstGeom>
          <a:solidFill>
            <a:srgbClr val="B8651B"/>
          </a:solidFill>
          <a:ln/>
        </p:spPr>
      </p:sp>
      <p:pic>
        <p:nvPicPr>
          <p:cNvPr id="29" name="Image 1" descr="preencoded.png">    </p:cNvPr>
          <p:cNvPicPr>
            <a:picLocks noChangeAspect="1"/>
          </p:cNvPicPr>
          <p:nvPr/>
        </p:nvPicPr>
        <p:blipFill>
          <a:blip r:embed="rId2"/>
          <a:stretch>
            <a:fillRect/>
          </a:stretch>
        </p:blipFill>
        <p:spPr>
          <a:xfrm>
            <a:off x="6506139" y="3305739"/>
            <a:ext cx="337962" cy="337962"/>
          </a:xfrm>
          <a:prstGeom prst="rect">
            <a:avLst/>
          </a:prstGeom>
        </p:spPr>
      </p:pic>
      <p:sp>
        <p:nvSpPr>
          <p:cNvPr id="30" name="Text 25"/>
          <p:cNvSpPr txBox="1"/>
          <p:nvPr/>
        </p:nvSpPr>
        <p:spPr>
          <a:xfrm>
            <a:off x="7159752" y="3090672"/>
            <a:ext cx="4373575" cy="347472"/>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Why printed on FR-4?</a:t>
            </a:r>
            <a:endParaRPr lang="en-US" sz="1600" dirty="0"/>
          </a:p>
        </p:txBody>
      </p:sp>
      <p:sp>
        <p:nvSpPr>
          <p:cNvPr id="31" name="Text 26"/>
          <p:cNvSpPr txBox="1"/>
          <p:nvPr/>
        </p:nvSpPr>
        <p:spPr>
          <a:xfrm>
            <a:off x="7159752" y="3419856"/>
            <a:ext cx="4373575" cy="512064"/>
          </a:xfrm>
          <a:prstGeom prst="rect">
            <a:avLst/>
          </a:prstGeom>
          <a:noFill/>
          <a:ln/>
        </p:spPr>
        <p:txBody>
          <a:bodyPr wrap="square" lIns="0" tIns="0" rIns="0" bIns="0" rtlCol="0" anchor="t"/>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Cheap, light and easy to fabricate</a:t>
            </a:r>
            <a:endParaRPr lang="en-US" sz="1400" dirty="0"/>
          </a:p>
        </p:txBody>
      </p:sp>
      <p:sp>
        <p:nvSpPr>
          <p:cNvPr id="32" name="Shape 27"/>
          <p:cNvSpPr/>
          <p:nvPr/>
        </p:nvSpPr>
        <p:spPr>
          <a:xfrm>
            <a:off x="6172200" y="4023360"/>
            <a:ext cx="5470855" cy="932688"/>
          </a:xfrm>
          <a:prstGeom prst="roundRect">
            <a:avLst>
              <a:gd name="adj" fmla="val 11765"/>
            </a:avLst>
          </a:prstGeom>
          <a:solidFill>
            <a:srgbClr val="F2F4F7"/>
          </a:solidFill>
          <a:ln/>
        </p:spPr>
      </p:sp>
      <p:sp>
        <p:nvSpPr>
          <p:cNvPr id="33" name="Shape 28"/>
          <p:cNvSpPr/>
          <p:nvPr/>
        </p:nvSpPr>
        <p:spPr>
          <a:xfrm>
            <a:off x="6373368" y="4178808"/>
            <a:ext cx="603504" cy="603504"/>
          </a:xfrm>
          <a:prstGeom prst="ellipse">
            <a:avLst/>
          </a:prstGeom>
          <a:solidFill>
            <a:srgbClr val="B8651B"/>
          </a:solidFill>
          <a:ln/>
        </p:spPr>
      </p:sp>
      <p:pic>
        <p:nvPicPr>
          <p:cNvPr id="34" name="Image 2" descr="preencoded.png">    </p:cNvPr>
          <p:cNvPicPr>
            <a:picLocks noChangeAspect="1"/>
          </p:cNvPicPr>
          <p:nvPr/>
        </p:nvPicPr>
        <p:blipFill>
          <a:blip r:embed="rId3"/>
          <a:stretch>
            <a:fillRect/>
          </a:stretch>
        </p:blipFill>
        <p:spPr>
          <a:xfrm>
            <a:off x="6506139" y="4311579"/>
            <a:ext cx="337962" cy="337962"/>
          </a:xfrm>
          <a:prstGeom prst="rect">
            <a:avLst/>
          </a:prstGeom>
        </p:spPr>
      </p:pic>
      <p:sp>
        <p:nvSpPr>
          <p:cNvPr id="35" name="Text 29"/>
          <p:cNvSpPr txBox="1"/>
          <p:nvPr/>
        </p:nvSpPr>
        <p:spPr>
          <a:xfrm>
            <a:off x="7159752" y="4096512"/>
            <a:ext cx="4373575" cy="347472"/>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Why a decagon patch?</a:t>
            </a:r>
            <a:endParaRPr lang="en-US" sz="1600" dirty="0"/>
          </a:p>
        </p:txBody>
      </p:sp>
      <p:sp>
        <p:nvSpPr>
          <p:cNvPr id="36" name="Text 30"/>
          <p:cNvSpPr txBox="1"/>
          <p:nvPr/>
        </p:nvSpPr>
        <p:spPr>
          <a:xfrm>
            <a:off x="7159752" y="4425696"/>
            <a:ext cx="4373575" cy="512064"/>
          </a:xfrm>
          <a:prstGeom prst="rect">
            <a:avLst/>
          </a:prstGeom>
          <a:noFill/>
          <a:ln/>
        </p:spPr>
        <p:txBody>
          <a:bodyPr wrap="square" lIns="0" tIns="0" rIns="0" bIns="0" rtlCol="0" anchor="t"/>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Close to a circle → smooth current paths → several resonances merge into one wide band</a:t>
            </a:r>
            <a:endParaRPr lang="en-US" sz="1400" dirty="0"/>
          </a:p>
        </p:txBody>
      </p:sp>
      <p:sp>
        <p:nvSpPr>
          <p:cNvPr id="37" name="Shape 31"/>
          <p:cNvSpPr/>
          <p:nvPr/>
        </p:nvSpPr>
        <p:spPr>
          <a:xfrm>
            <a:off x="6172200" y="5029200"/>
            <a:ext cx="5470855" cy="932688"/>
          </a:xfrm>
          <a:prstGeom prst="roundRect">
            <a:avLst>
              <a:gd name="adj" fmla="val 11765"/>
            </a:avLst>
          </a:prstGeom>
          <a:solidFill>
            <a:srgbClr val="F2F4F7"/>
          </a:solidFill>
          <a:ln/>
        </p:spPr>
      </p:sp>
      <p:sp>
        <p:nvSpPr>
          <p:cNvPr id="38" name="Shape 32"/>
          <p:cNvSpPr/>
          <p:nvPr/>
        </p:nvSpPr>
        <p:spPr>
          <a:xfrm>
            <a:off x="6373368" y="5184648"/>
            <a:ext cx="603504" cy="603504"/>
          </a:xfrm>
          <a:prstGeom prst="ellipse">
            <a:avLst/>
          </a:prstGeom>
          <a:solidFill>
            <a:srgbClr val="B8651B"/>
          </a:solidFill>
          <a:ln/>
        </p:spPr>
      </p:sp>
      <p:pic>
        <p:nvPicPr>
          <p:cNvPr id="39" name="Image 3" descr="preencoded.png">    </p:cNvPr>
          <p:cNvPicPr>
            <a:picLocks noChangeAspect="1"/>
          </p:cNvPicPr>
          <p:nvPr/>
        </p:nvPicPr>
        <p:blipFill>
          <a:blip r:embed="rId4"/>
          <a:stretch>
            <a:fillRect/>
          </a:stretch>
        </p:blipFill>
        <p:spPr>
          <a:xfrm>
            <a:off x="6506139" y="5317419"/>
            <a:ext cx="337962" cy="337962"/>
          </a:xfrm>
          <a:prstGeom prst="rect">
            <a:avLst/>
          </a:prstGeom>
        </p:spPr>
      </p:pic>
      <p:sp>
        <p:nvSpPr>
          <p:cNvPr id="40" name="Text 33"/>
          <p:cNvSpPr txBox="1"/>
          <p:nvPr/>
        </p:nvSpPr>
        <p:spPr>
          <a:xfrm>
            <a:off x="7159752" y="5102352"/>
            <a:ext cx="4373575" cy="347472"/>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Why a CPW feed?</a:t>
            </a:r>
            <a:endParaRPr lang="en-US" sz="1600" dirty="0"/>
          </a:p>
        </p:txBody>
      </p:sp>
      <p:sp>
        <p:nvSpPr>
          <p:cNvPr id="41" name="Text 34"/>
          <p:cNvSpPr txBox="1"/>
          <p:nvPr/>
        </p:nvSpPr>
        <p:spPr>
          <a:xfrm>
            <a:off x="7159752" y="5431536"/>
            <a:ext cx="4373575" cy="512064"/>
          </a:xfrm>
          <a:prstGeom prst="rect">
            <a:avLst/>
          </a:prstGeom>
          <a:noFill/>
          <a:ln/>
        </p:spPr>
        <p:txBody>
          <a:bodyPr wrap="square" lIns="0" tIns="0" rIns="0" bIns="0" rtlCol="0" anchor="t"/>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Signal and ground on one side → one copper layer, no vias, easy connector, wideband</a:t>
            </a:r>
            <a:endParaRPr lang="en-US" sz="1400" dirty="0"/>
          </a:p>
        </p:txBody>
      </p:sp>
      <p:sp>
        <p:nvSpPr>
          <p:cNvPr id="42" name="Text 35"/>
          <p:cNvSpPr txBox="1"/>
          <p:nvPr/>
        </p:nvSpPr>
        <p:spPr>
          <a:xfrm>
            <a:off x="10271455" y="6217920"/>
            <a:ext cx="1371600" cy="201168"/>
          </a:xfrm>
          <a:prstGeom prst="rect">
            <a:avLst/>
          </a:prstGeom>
          <a:noFill/>
          <a:ln/>
        </p:spPr>
        <p:txBody>
          <a:bodyPr wrap="square" lIns="0" tIns="0" rIns="0" bIns="0" rtlCol="0" anchor="t"/>
          <a:lstStyle/>
          <a:p>
            <a:pPr algn="r" indent="0" marL="0">
              <a:lnSpc>
                <a:spcPct val="100000"/>
              </a:lnSpc>
              <a:buNone/>
            </a:pPr>
            <a:r>
              <a:rPr lang="en-US" sz="1000" dirty="0">
                <a:solidFill>
                  <a:srgbClr val="8A94A6"/>
                </a:solidFill>
                <a:latin typeface="Calibri" pitchFamily="34" charset="0"/>
                <a:ea typeface="Calibri" pitchFamily="34" charset="-122"/>
                <a:cs typeface="Calibri" pitchFamily="34" charset="-120"/>
              </a:rPr>
              <a:t>[1], [3], [4]</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OUR STRUCTURE</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Our idea: a metasurface reflector</a:t>
            </a:r>
            <a:endParaRPr lang="en-US" sz="3400" dirty="0"/>
          </a:p>
        </p:txBody>
      </p:sp>
      <p:sp>
        <p:nvSpPr>
          <p:cNvPr id="5" name="Shape 2"/>
          <p:cNvSpPr/>
          <p:nvPr/>
        </p:nvSpPr>
        <p:spPr>
          <a:xfrm>
            <a:off x="548640" y="1463040"/>
            <a:ext cx="5486400" cy="3794760"/>
          </a:xfrm>
          <a:prstGeom prst="roundRect">
            <a:avLst>
              <a:gd name="adj" fmla="val 2892"/>
            </a:avLst>
          </a:prstGeom>
          <a:solidFill>
            <a:srgbClr val="F2F4F7"/>
          </a:solidFill>
          <a:ln/>
        </p:spPr>
      </p:sp>
      <p:pic>
        <p:nvPicPr>
          <p:cNvPr id="6" name="cst_metasurface_top.png" descr="/home/user/fyp-mimo-antenna-metasurface/figures/cst_metasurface_top.png">    </p:cNvPr>
          <p:cNvPicPr>
            <a:picLocks noChangeAspect="1"/>
          </p:cNvPicPr>
          <p:nvPr/>
        </p:nvPicPr>
        <p:blipFill>
          <a:blip r:embed="rId1"/>
          <a:stretch>
            <a:fillRect/>
          </a:stretch>
        </p:blipFill>
        <p:spPr>
          <a:xfrm>
            <a:off x="777240" y="1770378"/>
            <a:ext cx="3154680" cy="2860045"/>
          </a:xfrm>
          <a:prstGeom prst="rect">
            <a:avLst/>
          </a:prstGeom>
        </p:spPr>
      </p:pic>
      <p:sp>
        <p:nvSpPr>
          <p:cNvPr id="7" name="Text 3"/>
          <p:cNvSpPr txBox="1"/>
          <p:nvPr/>
        </p:nvSpPr>
        <p:spPr>
          <a:xfrm>
            <a:off x="777240" y="4703574"/>
            <a:ext cx="31546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472"/>
                </a:solidFill>
                <a:latin typeface="Calibri" pitchFamily="34" charset="0"/>
                <a:ea typeface="Calibri" pitchFamily="34" charset="-122"/>
                <a:cs typeface="Calibri" pitchFamily="34" charset="-120"/>
              </a:rPr>
              <a:t>6 × 5 cells (top view)</a:t>
            </a:r>
            <a:endParaRPr lang="en-US" sz="1300" dirty="0"/>
          </a:p>
        </p:txBody>
      </p:sp>
      <p:pic>
        <p:nvPicPr>
          <p:cNvPr id="8" name="cst_metasurface_cell.png" descr="/home/user/fyp-mimo-antenna-metasurface/figures/cst_metasurface_cell.png">    </p:cNvPr>
          <p:cNvPicPr>
            <a:picLocks noChangeAspect="1"/>
          </p:cNvPicPr>
          <p:nvPr/>
        </p:nvPicPr>
        <p:blipFill>
          <a:blip r:embed="rId2"/>
          <a:stretch>
            <a:fillRect/>
          </a:stretch>
        </p:blipFill>
        <p:spPr>
          <a:xfrm>
            <a:off x="4160520" y="1874520"/>
            <a:ext cx="1645920" cy="1645920"/>
          </a:xfrm>
          <a:prstGeom prst="rect">
            <a:avLst/>
          </a:prstGeom>
        </p:spPr>
      </p:pic>
      <p:sp>
        <p:nvSpPr>
          <p:cNvPr id="9" name="Shape 4"/>
          <p:cNvSpPr/>
          <p:nvPr/>
        </p:nvSpPr>
        <p:spPr>
          <a:xfrm>
            <a:off x="4160520" y="1874520"/>
            <a:ext cx="1645920" cy="1645920"/>
          </a:xfrm>
          <a:prstGeom prst="rect">
            <a:avLst>
              <a:gd name="adj" fmla="val 6667"/>
            </a:avLst>
          </a:prstGeom>
          <a:ln w="12700">
            <a:solidFill>
              <a:srgbClr val="D5D9E0"/>
            </a:solidFill>
            <a:prstDash val="solid"/>
          </a:ln>
        </p:spPr>
      </p:sp>
      <p:sp>
        <p:nvSpPr>
          <p:cNvPr id="10" name="Shape 5"/>
          <p:cNvSpPr/>
          <p:nvPr/>
        </p:nvSpPr>
        <p:spPr>
          <a:xfrm>
            <a:off x="807001" y="1800139"/>
            <a:ext cx="482130" cy="482130"/>
          </a:xfrm>
          <a:prstGeom prst="rect">
            <a:avLst>
              <a:gd name="adj" fmla="val 22759"/>
            </a:avLst>
          </a:prstGeom>
          <a:ln w="25400">
            <a:solidFill>
              <a:srgbClr val="B8651B"/>
            </a:solidFill>
            <a:prstDash val="solid"/>
          </a:ln>
        </p:spPr>
      </p:sp>
      <p:sp>
        <p:nvSpPr>
          <p:cNvPr id="11" name="Shape 6"/>
          <p:cNvSpPr/>
          <p:nvPr/>
        </p:nvSpPr>
        <p:spPr>
          <a:xfrm>
            <a:off x="1289131" y="1800139"/>
            <a:ext cx="2871389" cy="74381"/>
          </a:xfrm>
          <a:prstGeom prst="line">
            <a:avLst/>
          </a:prstGeom>
          <a:noFill/>
          <a:ln w="15875">
            <a:solidFill>
              <a:srgbClr val="B8651B"/>
            </a:solidFill>
            <a:prstDash val="dash"/>
          </a:ln>
        </p:spPr>
      </p:sp>
      <p:sp>
        <p:nvSpPr>
          <p:cNvPr id="12" name="Text 7"/>
          <p:cNvSpPr txBox="1"/>
          <p:nvPr/>
        </p:nvSpPr>
        <p:spPr>
          <a:xfrm>
            <a:off x="4160520" y="3657600"/>
            <a:ext cx="1737360" cy="1097280"/>
          </a:xfrm>
          <a:prstGeom prst="rect">
            <a:avLst/>
          </a:prstGeom>
          <a:noFill/>
          <a:ln/>
        </p:spPr>
        <p:txBody>
          <a:bodyPr wrap="square" lIns="0" tIns="0" rIns="0" bIns="0" rtlCol="0" anchor="t"/>
          <a:lstStyle/>
          <a:p>
            <a:pPr algn="l" indent="0" marL="0">
              <a:lnSpc>
                <a:spcPct val="100000"/>
              </a:lnSpc>
              <a:spcAft>
                <a:spcPts val="200"/>
              </a:spcAft>
              <a:buNone/>
            </a:pPr>
            <a:r>
              <a:rPr lang="en-US" sz="1300" b="1" dirty="0">
                <a:solidFill>
                  <a:srgbClr val="B8651B"/>
                </a:solidFill>
                <a:latin typeface="Calibri" pitchFamily="34" charset="0"/>
                <a:ea typeface="Calibri" pitchFamily="34" charset="-122"/>
                <a:cs typeface="Calibri" pitchFamily="34" charset="-120"/>
              </a:rPr>
              <a:t>One cell:</a:t>
            </a:r>
            <a:endParaRPr lang="en-US" sz="1300" dirty="0"/>
          </a:p>
          <a:p>
            <a:pPr algn="l" indent="0" marL="0">
              <a:lnSpc>
                <a:spcPct val="100000"/>
              </a:lnSpc>
              <a:spcAft>
                <a:spcPts val="200"/>
              </a:spcAft>
              <a:buNone/>
            </a:pPr>
            <a:r>
              <a:rPr lang="en-US" sz="1300" dirty="0">
                <a:solidFill>
                  <a:srgbClr val="1F2328"/>
                </a:solidFill>
                <a:latin typeface="Calibri" pitchFamily="34" charset="0"/>
                <a:ea typeface="Calibri" pitchFamily="34" charset="-122"/>
                <a:cs typeface="Calibri" pitchFamily="34" charset="-120"/>
              </a:rPr>
              <a:t>two split rings</a:t>
            </a:r>
            <a:endParaRPr lang="en-US" sz="1300" dirty="0"/>
          </a:p>
          <a:p>
            <a:pPr algn="l" indent="0" marL="0">
              <a:lnSpc>
                <a:spcPct val="100000"/>
              </a:lnSpc>
              <a:spcAft>
                <a:spcPts val="200"/>
              </a:spcAft>
              <a:buNone/>
            </a:pPr>
            <a:r>
              <a:rPr lang="en-US" sz="1300" dirty="0">
                <a:solidFill>
                  <a:srgbClr val="1F2328"/>
                </a:solidFill>
                <a:latin typeface="Calibri" pitchFamily="34" charset="0"/>
                <a:ea typeface="Calibri" pitchFamily="34" charset="-122"/>
                <a:cs typeface="Calibri" pitchFamily="34" charset="-120"/>
              </a:rPr>
              <a:t>(outer + inner)</a:t>
            </a:r>
            <a:endParaRPr lang="en-US" sz="1300" dirty="0"/>
          </a:p>
          <a:p>
            <a:pPr algn="l" indent="0" marL="0">
              <a:lnSpc>
                <a:spcPct val="100000"/>
              </a:lnSpc>
              <a:buNone/>
            </a:pPr>
            <a:r>
              <a:rPr lang="en-US" sz="1300" dirty="0">
                <a:solidFill>
                  <a:srgbClr val="1F2328"/>
                </a:solidFill>
                <a:latin typeface="Calibri" pitchFamily="34" charset="0"/>
                <a:ea typeface="Calibri" pitchFamily="34" charset="-122"/>
                <a:cs typeface="Calibri" pitchFamily="34" charset="-120"/>
              </a:rPr>
              <a:t>small cut = “split”</a:t>
            </a:r>
            <a:endParaRPr lang="en-US" sz="1300" dirty="0"/>
          </a:p>
        </p:txBody>
      </p:sp>
      <p:sp>
        <p:nvSpPr>
          <p:cNvPr id="13" name="Text 8"/>
          <p:cNvSpPr txBox="1"/>
          <p:nvPr/>
        </p:nvSpPr>
        <p:spPr>
          <a:xfrm>
            <a:off x="6400800" y="1463040"/>
            <a:ext cx="5212080" cy="320040"/>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Side view (not to scale)</a:t>
            </a:r>
            <a:endParaRPr lang="en-US" sz="1600" dirty="0"/>
          </a:p>
        </p:txBody>
      </p:sp>
      <p:sp>
        <p:nvSpPr>
          <p:cNvPr id="14" name="Shape 9"/>
          <p:cNvSpPr/>
          <p:nvPr/>
        </p:nvSpPr>
        <p:spPr>
          <a:xfrm>
            <a:off x="6766560" y="2651760"/>
            <a:ext cx="3291840" cy="201168"/>
          </a:xfrm>
          <a:prstGeom prst="rect">
            <a:avLst>
              <a:gd name="adj" fmla="val 54545"/>
            </a:avLst>
          </a:prstGeom>
          <a:solidFill>
            <a:srgbClr val="6E8B3D"/>
          </a:solidFill>
          <a:ln/>
        </p:spPr>
      </p:sp>
      <p:sp>
        <p:nvSpPr>
          <p:cNvPr id="15" name="Shape 10"/>
          <p:cNvSpPr/>
          <p:nvPr/>
        </p:nvSpPr>
        <p:spPr>
          <a:xfrm>
            <a:off x="7680960" y="2596896"/>
            <a:ext cx="1463040" cy="54864"/>
          </a:xfrm>
          <a:prstGeom prst="rect">
            <a:avLst>
              <a:gd name="adj" fmla="val 200000"/>
            </a:avLst>
          </a:prstGeom>
          <a:solidFill>
            <a:srgbClr val="C27C3A"/>
          </a:solidFill>
          <a:ln/>
        </p:spPr>
      </p:sp>
      <p:sp>
        <p:nvSpPr>
          <p:cNvPr id="16" name="Text 11"/>
          <p:cNvSpPr txBox="1"/>
          <p:nvPr/>
        </p:nvSpPr>
        <p:spPr>
          <a:xfrm>
            <a:off x="10149840" y="2596896"/>
            <a:ext cx="1280160" cy="292608"/>
          </a:xfrm>
          <a:prstGeom prst="rect">
            <a:avLst/>
          </a:prstGeom>
          <a:noFill/>
          <a:ln/>
        </p:spPr>
        <p:txBody>
          <a:bodyPr wrap="square" lIns="0" tIns="0" rIns="0" bIns="0" rtlCol="0" anchor="t"/>
          <a:lstStyle/>
          <a:p>
            <a:pPr algn="l" indent="0" marL="0">
              <a:lnSpc>
                <a:spcPct val="100000"/>
              </a:lnSpc>
              <a:buNone/>
            </a:pPr>
            <a:r>
              <a:rPr lang="en-US" sz="1300" b="1" dirty="0">
                <a:solidFill>
                  <a:srgbClr val="1F2328"/>
                </a:solidFill>
                <a:latin typeface="Calibri" pitchFamily="34" charset="0"/>
                <a:ea typeface="Calibri" pitchFamily="34" charset="-122"/>
                <a:cs typeface="Calibri" pitchFamily="34" charset="-120"/>
              </a:rPr>
              <a:t>antenna</a:t>
            </a:r>
            <a:endParaRPr lang="en-US" sz="1300" dirty="0"/>
          </a:p>
        </p:txBody>
      </p:sp>
      <p:sp>
        <p:nvSpPr>
          <p:cNvPr id="17" name="Shape 12"/>
          <p:cNvSpPr/>
          <p:nvPr/>
        </p:nvSpPr>
        <p:spPr>
          <a:xfrm>
            <a:off x="6766560" y="3840480"/>
            <a:ext cx="3291840" cy="201168"/>
          </a:xfrm>
          <a:prstGeom prst="rect">
            <a:avLst>
              <a:gd name="adj" fmla="val 54545"/>
            </a:avLst>
          </a:prstGeom>
          <a:solidFill>
            <a:srgbClr val="6E8B3D"/>
          </a:solidFill>
          <a:ln/>
        </p:spPr>
      </p:sp>
      <p:sp>
        <p:nvSpPr>
          <p:cNvPr id="18" name="Shape 13"/>
          <p:cNvSpPr/>
          <p:nvPr/>
        </p:nvSpPr>
        <p:spPr>
          <a:xfrm>
            <a:off x="6858000" y="3794760"/>
            <a:ext cx="274320" cy="45720"/>
          </a:xfrm>
          <a:prstGeom prst="rect">
            <a:avLst>
              <a:gd name="adj" fmla="val 240000"/>
            </a:avLst>
          </a:prstGeom>
          <a:solidFill>
            <a:srgbClr val="C27C3A"/>
          </a:solidFill>
          <a:ln/>
        </p:spPr>
      </p:sp>
      <p:sp>
        <p:nvSpPr>
          <p:cNvPr id="19" name="Shape 14"/>
          <p:cNvSpPr/>
          <p:nvPr/>
        </p:nvSpPr>
        <p:spPr>
          <a:xfrm>
            <a:off x="7260336" y="3794760"/>
            <a:ext cx="274320" cy="45720"/>
          </a:xfrm>
          <a:prstGeom prst="rect">
            <a:avLst>
              <a:gd name="adj" fmla="val 240000"/>
            </a:avLst>
          </a:prstGeom>
          <a:solidFill>
            <a:srgbClr val="C27C3A"/>
          </a:solidFill>
          <a:ln/>
        </p:spPr>
      </p:sp>
      <p:sp>
        <p:nvSpPr>
          <p:cNvPr id="20" name="Shape 15"/>
          <p:cNvSpPr/>
          <p:nvPr/>
        </p:nvSpPr>
        <p:spPr>
          <a:xfrm>
            <a:off x="7662672" y="3794760"/>
            <a:ext cx="274320" cy="45720"/>
          </a:xfrm>
          <a:prstGeom prst="rect">
            <a:avLst>
              <a:gd name="adj" fmla="val 240000"/>
            </a:avLst>
          </a:prstGeom>
          <a:solidFill>
            <a:srgbClr val="C27C3A"/>
          </a:solidFill>
          <a:ln/>
        </p:spPr>
      </p:sp>
      <p:sp>
        <p:nvSpPr>
          <p:cNvPr id="21" name="Shape 16"/>
          <p:cNvSpPr/>
          <p:nvPr/>
        </p:nvSpPr>
        <p:spPr>
          <a:xfrm>
            <a:off x="8065008" y="3794760"/>
            <a:ext cx="274320" cy="45720"/>
          </a:xfrm>
          <a:prstGeom prst="rect">
            <a:avLst>
              <a:gd name="adj" fmla="val 240000"/>
            </a:avLst>
          </a:prstGeom>
          <a:solidFill>
            <a:srgbClr val="C27C3A"/>
          </a:solidFill>
          <a:ln/>
        </p:spPr>
      </p:sp>
      <p:sp>
        <p:nvSpPr>
          <p:cNvPr id="22" name="Shape 17"/>
          <p:cNvSpPr/>
          <p:nvPr/>
        </p:nvSpPr>
        <p:spPr>
          <a:xfrm>
            <a:off x="8467344" y="3794760"/>
            <a:ext cx="274320" cy="45720"/>
          </a:xfrm>
          <a:prstGeom prst="rect">
            <a:avLst>
              <a:gd name="adj" fmla="val 240000"/>
            </a:avLst>
          </a:prstGeom>
          <a:solidFill>
            <a:srgbClr val="C27C3A"/>
          </a:solidFill>
          <a:ln/>
        </p:spPr>
      </p:sp>
      <p:sp>
        <p:nvSpPr>
          <p:cNvPr id="23" name="Shape 18"/>
          <p:cNvSpPr/>
          <p:nvPr/>
        </p:nvSpPr>
        <p:spPr>
          <a:xfrm>
            <a:off x="8869680" y="3794760"/>
            <a:ext cx="274320" cy="45720"/>
          </a:xfrm>
          <a:prstGeom prst="rect">
            <a:avLst>
              <a:gd name="adj" fmla="val 240000"/>
            </a:avLst>
          </a:prstGeom>
          <a:solidFill>
            <a:srgbClr val="C27C3A"/>
          </a:solidFill>
          <a:ln/>
        </p:spPr>
      </p:sp>
      <p:sp>
        <p:nvSpPr>
          <p:cNvPr id="24" name="Shape 19"/>
          <p:cNvSpPr/>
          <p:nvPr/>
        </p:nvSpPr>
        <p:spPr>
          <a:xfrm>
            <a:off x="9272016" y="3794760"/>
            <a:ext cx="274320" cy="45720"/>
          </a:xfrm>
          <a:prstGeom prst="rect">
            <a:avLst>
              <a:gd name="adj" fmla="val 240000"/>
            </a:avLst>
          </a:prstGeom>
          <a:solidFill>
            <a:srgbClr val="C27C3A"/>
          </a:solidFill>
          <a:ln/>
        </p:spPr>
      </p:sp>
      <p:sp>
        <p:nvSpPr>
          <p:cNvPr id="25" name="Shape 20"/>
          <p:cNvSpPr/>
          <p:nvPr/>
        </p:nvSpPr>
        <p:spPr>
          <a:xfrm>
            <a:off x="9674352" y="3794760"/>
            <a:ext cx="274320" cy="45720"/>
          </a:xfrm>
          <a:prstGeom prst="rect">
            <a:avLst>
              <a:gd name="adj" fmla="val 240000"/>
            </a:avLst>
          </a:prstGeom>
          <a:solidFill>
            <a:srgbClr val="C27C3A"/>
          </a:solidFill>
          <a:ln/>
        </p:spPr>
      </p:sp>
      <p:sp>
        <p:nvSpPr>
          <p:cNvPr id="26" name="Shape 21"/>
          <p:cNvSpPr/>
          <p:nvPr/>
        </p:nvSpPr>
        <p:spPr>
          <a:xfrm>
            <a:off x="6766560" y="4041648"/>
            <a:ext cx="3291840" cy="54864"/>
          </a:xfrm>
          <a:prstGeom prst="rect">
            <a:avLst>
              <a:gd name="adj" fmla="val 200000"/>
            </a:avLst>
          </a:prstGeom>
          <a:solidFill>
            <a:srgbClr val="C27C3A"/>
          </a:solidFill>
          <a:ln/>
        </p:spPr>
      </p:sp>
      <p:sp>
        <p:nvSpPr>
          <p:cNvPr id="27" name="Text 22"/>
          <p:cNvSpPr txBox="1"/>
          <p:nvPr/>
        </p:nvSpPr>
        <p:spPr>
          <a:xfrm>
            <a:off x="10149840" y="3749040"/>
            <a:ext cx="1463040" cy="292608"/>
          </a:xfrm>
          <a:prstGeom prst="rect">
            <a:avLst/>
          </a:prstGeom>
          <a:noFill/>
          <a:ln/>
        </p:spPr>
        <p:txBody>
          <a:bodyPr wrap="square" lIns="0" tIns="0" rIns="0" bIns="0" rtlCol="0" anchor="t"/>
          <a:lstStyle/>
          <a:p>
            <a:pPr algn="l" indent="0" marL="0">
              <a:lnSpc>
                <a:spcPct val="100000"/>
              </a:lnSpc>
              <a:buNone/>
            </a:pPr>
            <a:r>
              <a:rPr lang="en-US" sz="1300" b="1" dirty="0">
                <a:solidFill>
                  <a:srgbClr val="1F2328"/>
                </a:solidFill>
                <a:latin typeface="Calibri" pitchFamily="34" charset="0"/>
                <a:ea typeface="Calibri" pitchFamily="34" charset="-122"/>
                <a:cs typeface="Calibri" pitchFamily="34" charset="-120"/>
              </a:rPr>
              <a:t>metasurface</a:t>
            </a:r>
            <a:endParaRPr lang="en-US" sz="1300" dirty="0"/>
          </a:p>
        </p:txBody>
      </p:sp>
      <p:sp>
        <p:nvSpPr>
          <p:cNvPr id="28" name="Text 23"/>
          <p:cNvSpPr txBox="1"/>
          <p:nvPr/>
        </p:nvSpPr>
        <p:spPr>
          <a:xfrm>
            <a:off x="10149840" y="3986784"/>
            <a:ext cx="1463040" cy="274320"/>
          </a:xfrm>
          <a:prstGeom prst="rect">
            <a:avLst/>
          </a:prstGeom>
          <a:noFill/>
          <a:ln/>
        </p:spPr>
        <p:txBody>
          <a:bodyPr wrap="square" lIns="0" tIns="0" rIns="0" bIns="0" rtlCol="0" anchor="t"/>
          <a:lstStyle/>
          <a:p>
            <a:pPr algn="l" indent="0" marL="0">
              <a:lnSpc>
                <a:spcPct val="100000"/>
              </a:lnSpc>
              <a:buNone/>
            </a:pPr>
            <a:r>
              <a:rPr lang="en-US" sz="1200" dirty="0">
                <a:solidFill>
                  <a:srgbClr val="5B6472"/>
                </a:solidFill>
                <a:latin typeface="Calibri" pitchFamily="34" charset="0"/>
                <a:ea typeface="Calibri" pitchFamily="34" charset="-122"/>
                <a:cs typeface="Calibri" pitchFamily="34" charset="-120"/>
              </a:rPr>
              <a:t>copper back</a:t>
            </a:r>
            <a:endParaRPr lang="en-US" sz="1200" dirty="0"/>
          </a:p>
        </p:txBody>
      </p:sp>
      <p:sp>
        <p:nvSpPr>
          <p:cNvPr id="29" name="Shape 24"/>
          <p:cNvSpPr/>
          <p:nvPr/>
        </p:nvSpPr>
        <p:spPr>
          <a:xfrm>
            <a:off x="6537960" y="2852928"/>
            <a:ext cx="91" cy="941832"/>
          </a:xfrm>
          <a:prstGeom prst="line">
            <a:avLst/>
          </a:prstGeom>
          <a:noFill/>
          <a:ln w="15875">
            <a:solidFill>
              <a:srgbClr val="1F2328"/>
            </a:solidFill>
            <a:prstDash val="solid"/>
            <a:headEnd type="triangle"/>
            <a:tailEnd type="triangle"/>
          </a:ln>
        </p:spPr>
      </p:sp>
      <p:sp>
        <p:nvSpPr>
          <p:cNvPr id="30" name="Text 25"/>
          <p:cNvSpPr txBox="1"/>
          <p:nvPr/>
        </p:nvSpPr>
        <p:spPr>
          <a:xfrm>
            <a:off x="5715000" y="3200400"/>
            <a:ext cx="777240" cy="274320"/>
          </a:xfrm>
          <a:prstGeom prst="rect">
            <a:avLst/>
          </a:prstGeom>
          <a:noFill/>
          <a:ln/>
        </p:spPr>
        <p:txBody>
          <a:bodyPr wrap="square" lIns="0" tIns="0" rIns="0" bIns="0" rtlCol="0" anchor="t"/>
          <a:lstStyle/>
          <a:p>
            <a:pPr algn="r" indent="0" marL="0">
              <a:lnSpc>
                <a:spcPct val="100000"/>
              </a:lnSpc>
              <a:buNone/>
            </a:pPr>
            <a:r>
              <a:rPr lang="en-US" sz="1400" b="1" dirty="0">
                <a:solidFill>
                  <a:srgbClr val="B8651B"/>
                </a:solidFill>
                <a:latin typeface="Calibri" pitchFamily="34" charset="0"/>
                <a:ea typeface="Calibri" pitchFamily="34" charset="-122"/>
                <a:cs typeface="Calibri" pitchFamily="34" charset="-120"/>
              </a:rPr>
              <a:t>2 mm</a:t>
            </a:r>
            <a:endParaRPr lang="en-US" sz="1400" dirty="0"/>
          </a:p>
        </p:txBody>
      </p:sp>
      <p:sp>
        <p:nvSpPr>
          <p:cNvPr id="31" name="Shape 26"/>
          <p:cNvSpPr/>
          <p:nvPr/>
        </p:nvSpPr>
        <p:spPr>
          <a:xfrm flipV="1">
            <a:off x="8138160" y="1965960"/>
            <a:ext cx="91" cy="576072"/>
          </a:xfrm>
          <a:prstGeom prst="line">
            <a:avLst/>
          </a:prstGeom>
          <a:noFill/>
          <a:ln w="31750">
            <a:solidFill>
              <a:srgbClr val="3B6EA5"/>
            </a:solidFill>
            <a:prstDash val="solid"/>
            <a:tailEnd type="triangle"/>
          </a:ln>
        </p:spPr>
      </p:sp>
      <p:sp>
        <p:nvSpPr>
          <p:cNvPr id="32" name="Shape 27"/>
          <p:cNvSpPr/>
          <p:nvPr/>
        </p:nvSpPr>
        <p:spPr>
          <a:xfrm>
            <a:off x="8778240" y="2926080"/>
            <a:ext cx="91" cy="804672"/>
          </a:xfrm>
          <a:prstGeom prst="line">
            <a:avLst/>
          </a:prstGeom>
          <a:noFill/>
          <a:ln w="31750">
            <a:solidFill>
              <a:srgbClr val="C0392B"/>
            </a:solidFill>
            <a:prstDash val="solid"/>
            <a:tailEnd type="triangle"/>
          </a:ln>
        </p:spPr>
      </p:sp>
      <p:sp>
        <p:nvSpPr>
          <p:cNvPr id="33" name="Shape 28"/>
          <p:cNvSpPr/>
          <p:nvPr/>
        </p:nvSpPr>
        <p:spPr>
          <a:xfrm flipV="1">
            <a:off x="9235440" y="1965960"/>
            <a:ext cx="91" cy="1764792"/>
          </a:xfrm>
          <a:prstGeom prst="line">
            <a:avLst/>
          </a:prstGeom>
          <a:noFill/>
          <a:ln w="31750">
            <a:solidFill>
              <a:srgbClr val="3B6EA5"/>
            </a:solidFill>
            <a:prstDash val="dash"/>
            <a:tailEnd type="triangle"/>
          </a:ln>
        </p:spPr>
      </p:sp>
      <p:sp>
        <p:nvSpPr>
          <p:cNvPr id="34" name="Text 29"/>
          <p:cNvSpPr txBox="1"/>
          <p:nvPr/>
        </p:nvSpPr>
        <p:spPr>
          <a:xfrm>
            <a:off x="7040880" y="2011680"/>
            <a:ext cx="1051560" cy="274320"/>
          </a:xfrm>
          <a:prstGeom prst="rect">
            <a:avLst/>
          </a:prstGeom>
          <a:noFill/>
          <a:ln/>
        </p:spPr>
        <p:txBody>
          <a:bodyPr wrap="square" lIns="0" tIns="0" rIns="0" bIns="0" rtlCol="0" anchor="t"/>
          <a:lstStyle/>
          <a:p>
            <a:pPr algn="r" indent="0" marL="0">
              <a:lnSpc>
                <a:spcPct val="100000"/>
              </a:lnSpc>
              <a:buNone/>
            </a:pPr>
            <a:r>
              <a:rPr lang="en-US" sz="1200" dirty="0">
                <a:solidFill>
                  <a:srgbClr val="3B6EA5"/>
                </a:solidFill>
                <a:latin typeface="Calibri" pitchFamily="34" charset="0"/>
                <a:ea typeface="Calibri" pitchFamily="34" charset="-122"/>
                <a:cs typeface="Calibri" pitchFamily="34" charset="-120"/>
              </a:rPr>
              <a:t>forward</a:t>
            </a:r>
            <a:endParaRPr lang="en-US" sz="1200" dirty="0"/>
          </a:p>
        </p:txBody>
      </p:sp>
      <p:sp>
        <p:nvSpPr>
          <p:cNvPr id="35" name="Text 30"/>
          <p:cNvSpPr txBox="1"/>
          <p:nvPr/>
        </p:nvSpPr>
        <p:spPr>
          <a:xfrm>
            <a:off x="7726680" y="3200400"/>
            <a:ext cx="1005840" cy="274320"/>
          </a:xfrm>
          <a:prstGeom prst="rect">
            <a:avLst/>
          </a:prstGeom>
          <a:noFill/>
          <a:ln/>
        </p:spPr>
        <p:txBody>
          <a:bodyPr wrap="square" lIns="0" tIns="0" rIns="0" bIns="0" rtlCol="0" anchor="t"/>
          <a:lstStyle/>
          <a:p>
            <a:pPr algn="r" indent="0" marL="0">
              <a:lnSpc>
                <a:spcPct val="100000"/>
              </a:lnSpc>
              <a:buNone/>
            </a:pPr>
            <a:r>
              <a:rPr lang="en-US" sz="1200" dirty="0">
                <a:solidFill>
                  <a:srgbClr val="C0392B"/>
                </a:solidFill>
                <a:latin typeface="Calibri" pitchFamily="34" charset="0"/>
                <a:ea typeface="Calibri" pitchFamily="34" charset="-122"/>
                <a:cs typeface="Calibri" pitchFamily="34" charset="-120"/>
              </a:rPr>
              <a:t>backward</a:t>
            </a:r>
            <a:endParaRPr lang="en-US" sz="1200" dirty="0"/>
          </a:p>
        </p:txBody>
      </p:sp>
      <p:sp>
        <p:nvSpPr>
          <p:cNvPr id="36" name="Text 31"/>
          <p:cNvSpPr txBox="1"/>
          <p:nvPr/>
        </p:nvSpPr>
        <p:spPr>
          <a:xfrm>
            <a:off x="9326880" y="2011680"/>
            <a:ext cx="2194560" cy="274320"/>
          </a:xfrm>
          <a:prstGeom prst="rect">
            <a:avLst/>
          </a:prstGeom>
          <a:noFill/>
          <a:ln/>
        </p:spPr>
        <p:txBody>
          <a:bodyPr wrap="square" lIns="0" tIns="0" rIns="0" bIns="0" rtlCol="0" anchor="t"/>
          <a:lstStyle/>
          <a:p>
            <a:pPr algn="l" indent="0" marL="0">
              <a:lnSpc>
                <a:spcPct val="100000"/>
              </a:lnSpc>
              <a:buNone/>
            </a:pPr>
            <a:r>
              <a:rPr lang="en-US" sz="1200" dirty="0">
                <a:solidFill>
                  <a:srgbClr val="3B6EA5"/>
                </a:solidFill>
                <a:latin typeface="Calibri" pitchFamily="34" charset="0"/>
                <a:ea typeface="Calibri" pitchFamily="34" charset="-122"/>
                <a:cs typeface="Calibri" pitchFamily="34" charset="-120"/>
              </a:rPr>
              <a:t>reflected, adds forward</a:t>
            </a:r>
            <a:endParaRPr lang="en-US" sz="1200" dirty="0"/>
          </a:p>
        </p:txBody>
      </p:sp>
      <p:sp>
        <p:nvSpPr>
          <p:cNvPr id="37" name="Shape 32"/>
          <p:cNvSpPr/>
          <p:nvPr/>
        </p:nvSpPr>
        <p:spPr>
          <a:xfrm>
            <a:off x="6400800" y="4526280"/>
            <a:ext cx="457200" cy="457200"/>
          </a:xfrm>
          <a:prstGeom prst="ellipse">
            <a:avLst/>
          </a:prstGeom>
          <a:solidFill>
            <a:srgbClr val="17324D"/>
          </a:solidFill>
          <a:ln/>
        </p:spPr>
      </p:sp>
      <p:pic>
        <p:nvPicPr>
          <p:cNvPr id="38" name="Image 2" descr="preencoded.png">    </p:cNvPr>
          <p:cNvPicPr>
            <a:picLocks noChangeAspect="1"/>
          </p:cNvPicPr>
          <p:nvPr/>
        </p:nvPicPr>
        <p:blipFill>
          <a:blip r:embed="rId3"/>
          <a:stretch>
            <a:fillRect/>
          </a:stretch>
        </p:blipFill>
        <p:spPr>
          <a:xfrm>
            <a:off x="6501384" y="4626864"/>
            <a:ext cx="256032" cy="256032"/>
          </a:xfrm>
          <a:prstGeom prst="rect">
            <a:avLst/>
          </a:prstGeom>
        </p:spPr>
      </p:pic>
      <p:sp>
        <p:nvSpPr>
          <p:cNvPr id="39" name="Text 33"/>
          <p:cNvSpPr txBox="1"/>
          <p:nvPr/>
        </p:nvSpPr>
        <p:spPr>
          <a:xfrm>
            <a:off x="6995160" y="4507992"/>
            <a:ext cx="4617720" cy="502920"/>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Thin board with repeated small metal cells</a:t>
            </a:r>
            <a:endParaRPr lang="en-US" sz="1500" dirty="0"/>
          </a:p>
        </p:txBody>
      </p:sp>
      <p:sp>
        <p:nvSpPr>
          <p:cNvPr id="40" name="Shape 34"/>
          <p:cNvSpPr/>
          <p:nvPr/>
        </p:nvSpPr>
        <p:spPr>
          <a:xfrm>
            <a:off x="6400800" y="5093208"/>
            <a:ext cx="457200" cy="457200"/>
          </a:xfrm>
          <a:prstGeom prst="ellipse">
            <a:avLst/>
          </a:prstGeom>
          <a:solidFill>
            <a:srgbClr val="17324D"/>
          </a:solidFill>
          <a:ln/>
        </p:spPr>
      </p:sp>
      <p:pic>
        <p:nvPicPr>
          <p:cNvPr id="41" name="Image 3" descr="preencoded.png">    </p:cNvPr>
          <p:cNvPicPr>
            <a:picLocks noChangeAspect="1"/>
          </p:cNvPicPr>
          <p:nvPr/>
        </p:nvPicPr>
        <p:blipFill>
          <a:blip r:embed="rId4"/>
          <a:stretch>
            <a:fillRect/>
          </a:stretch>
        </p:blipFill>
        <p:spPr>
          <a:xfrm>
            <a:off x="6501384" y="5193792"/>
            <a:ext cx="256032" cy="256032"/>
          </a:xfrm>
          <a:prstGeom prst="rect">
            <a:avLst/>
          </a:prstGeom>
        </p:spPr>
      </p:pic>
      <p:sp>
        <p:nvSpPr>
          <p:cNvPr id="42" name="Text 35"/>
          <p:cNvSpPr txBox="1"/>
          <p:nvPr/>
        </p:nvSpPr>
        <p:spPr>
          <a:xfrm>
            <a:off x="6995160" y="5074920"/>
            <a:ext cx="4617720" cy="502920"/>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Split ring = tiny resonator → two rings, two resonances</a:t>
            </a:r>
            <a:endParaRPr lang="en-US" sz="1500" dirty="0"/>
          </a:p>
        </p:txBody>
      </p:sp>
      <p:sp>
        <p:nvSpPr>
          <p:cNvPr id="43" name="Shape 36"/>
          <p:cNvSpPr/>
          <p:nvPr/>
        </p:nvSpPr>
        <p:spPr>
          <a:xfrm>
            <a:off x="6400800" y="5660136"/>
            <a:ext cx="457200" cy="457200"/>
          </a:xfrm>
          <a:prstGeom prst="ellipse">
            <a:avLst/>
          </a:prstGeom>
          <a:solidFill>
            <a:srgbClr val="17324D"/>
          </a:solidFill>
          <a:ln/>
        </p:spPr>
      </p:sp>
      <p:pic>
        <p:nvPicPr>
          <p:cNvPr id="44" name="Image 4" descr="preencoded.png">    </p:cNvPr>
          <p:cNvPicPr>
            <a:picLocks noChangeAspect="1"/>
          </p:cNvPicPr>
          <p:nvPr/>
        </p:nvPicPr>
        <p:blipFill>
          <a:blip r:embed="rId5"/>
          <a:stretch>
            <a:fillRect/>
          </a:stretch>
        </p:blipFill>
        <p:spPr>
          <a:xfrm>
            <a:off x="6501384" y="5760720"/>
            <a:ext cx="256032" cy="256032"/>
          </a:xfrm>
          <a:prstGeom prst="rect">
            <a:avLst/>
          </a:prstGeom>
        </p:spPr>
      </p:pic>
      <p:sp>
        <p:nvSpPr>
          <p:cNvPr id="45" name="Text 37"/>
          <p:cNvSpPr txBox="1"/>
          <p:nvPr/>
        </p:nvSpPr>
        <p:spPr>
          <a:xfrm>
            <a:off x="6995160" y="5641848"/>
            <a:ext cx="4617720" cy="502920"/>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Placed only 2 mm behind → can stay thin</a:t>
            </a:r>
            <a:endParaRPr lang="en-US" sz="1500" dirty="0"/>
          </a:p>
        </p:txBody>
      </p:sp>
      <p:sp>
        <p:nvSpPr>
          <p:cNvPr id="46" name="Shape 38"/>
          <p:cNvSpPr/>
          <p:nvPr/>
        </p:nvSpPr>
        <p:spPr>
          <a:xfrm>
            <a:off x="548640" y="5440680"/>
            <a:ext cx="5486400" cy="731520"/>
          </a:xfrm>
          <a:prstGeom prst="roundRect">
            <a:avLst>
              <a:gd name="adj" fmla="val 12500"/>
            </a:avLst>
          </a:prstGeom>
          <a:solidFill>
            <a:srgbClr val="F7EDE3"/>
          </a:solidFill>
          <a:ln/>
        </p:spPr>
      </p:sp>
      <p:sp>
        <p:nvSpPr>
          <p:cNvPr id="47" name="Text 39"/>
          <p:cNvSpPr txBox="1"/>
          <p:nvPr/>
        </p:nvSpPr>
        <p:spPr>
          <a:xfrm>
            <a:off x="685800" y="5440680"/>
            <a:ext cx="5212080" cy="731520"/>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Goal: send the backward wave forward →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more gain</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CST: peak directivity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3.7 → 8.8 dBi</a:t>
            </a:r>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(slide 14)</a:t>
            </a:r>
            <a:endParaRPr lang="en-US" sz="1500" dirty="0"/>
          </a:p>
        </p:txBody>
      </p:sp>
      <p:sp>
        <p:nvSpPr>
          <p:cNvPr id="48" name="Text 40"/>
          <p:cNvSpPr txBox="1"/>
          <p:nvPr/>
        </p:nvSpPr>
        <p:spPr>
          <a:xfrm>
            <a:off x="10271455" y="6217920"/>
            <a:ext cx="1371600" cy="201168"/>
          </a:xfrm>
          <a:prstGeom prst="rect">
            <a:avLst/>
          </a:prstGeom>
          <a:noFill/>
          <a:ln/>
        </p:spPr>
        <p:txBody>
          <a:bodyPr wrap="square" lIns="0" tIns="0" rIns="0" bIns="0" rtlCol="0" anchor="t"/>
          <a:lstStyle/>
          <a:p>
            <a:pPr algn="r" indent="0" marL="0">
              <a:lnSpc>
                <a:spcPct val="100000"/>
              </a:lnSpc>
              <a:buNone/>
            </a:pPr>
            <a:r>
              <a:rPr lang="en-US" sz="1000" dirty="0">
                <a:solidFill>
                  <a:srgbClr val="8A94A6"/>
                </a:solidFill>
                <a:latin typeface="Calibri" pitchFamily="34" charset="0"/>
                <a:ea typeface="Calibri" pitchFamily="34" charset="-122"/>
                <a:cs typeface="Calibri" pitchFamily="34" charset="-120"/>
              </a:rPr>
              <a:t>[5], [6]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OBJECTIVES</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Four objectives</a:t>
            </a:r>
            <a:endParaRPr lang="en-US" sz="3400" dirty="0"/>
          </a:p>
        </p:txBody>
      </p:sp>
      <p:sp>
        <p:nvSpPr>
          <p:cNvPr id="5" name="Shape 2"/>
          <p:cNvSpPr/>
          <p:nvPr/>
        </p:nvSpPr>
        <p:spPr>
          <a:xfrm>
            <a:off x="548640" y="1783080"/>
            <a:ext cx="2567864" cy="3291840"/>
          </a:xfrm>
          <a:prstGeom prst="roundRect">
            <a:avLst>
              <a:gd name="adj" fmla="val 4273"/>
            </a:avLst>
          </a:prstGeom>
          <a:solidFill>
            <a:srgbClr val="F2F4F7"/>
          </a:solidFill>
          <a:ln/>
        </p:spPr>
      </p:sp>
      <p:sp>
        <p:nvSpPr>
          <p:cNvPr id="6" name="Shape 3"/>
          <p:cNvSpPr/>
          <p:nvPr/>
        </p:nvSpPr>
        <p:spPr>
          <a:xfrm>
            <a:off x="822960" y="2057400"/>
            <a:ext cx="548640" cy="548640"/>
          </a:xfrm>
          <a:prstGeom prst="ellipse">
            <a:avLst/>
          </a:prstGeom>
          <a:solidFill>
            <a:srgbClr val="B8651B"/>
          </a:solidFill>
          <a:ln/>
        </p:spPr>
      </p:sp>
      <p:sp>
        <p:nvSpPr>
          <p:cNvPr id="7" name="Text 4"/>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Shape 5"/>
          <p:cNvSpPr/>
          <p:nvPr/>
        </p:nvSpPr>
        <p:spPr>
          <a:xfrm>
            <a:off x="2156384" y="2011680"/>
            <a:ext cx="685800" cy="685800"/>
          </a:xfrm>
          <a:prstGeom prst="ellipse">
            <a:avLst/>
          </a:prstGeom>
          <a:solidFill>
            <a:srgbClr val="17324D"/>
          </a:solidFill>
          <a:ln/>
        </p:spPr>
      </p:sp>
      <p:pic>
        <p:nvPicPr>
          <p:cNvPr id="9" name="Image 0" descr="preencoded.png">    </p:cNvPr>
          <p:cNvPicPr>
            <a:picLocks noChangeAspect="1"/>
          </p:cNvPicPr>
          <p:nvPr/>
        </p:nvPicPr>
        <p:blipFill>
          <a:blip r:embed="rId1"/>
          <a:stretch>
            <a:fillRect/>
          </a:stretch>
        </p:blipFill>
        <p:spPr>
          <a:xfrm>
            <a:off x="2307260" y="2162556"/>
            <a:ext cx="384048" cy="384048"/>
          </a:xfrm>
          <a:prstGeom prst="rect">
            <a:avLst/>
          </a:prstGeom>
        </p:spPr>
      </p:pic>
      <p:sp>
        <p:nvSpPr>
          <p:cNvPr id="10" name="Text 6"/>
          <p:cNvSpPr txBox="1"/>
          <p:nvPr/>
        </p:nvSpPr>
        <p:spPr>
          <a:xfrm>
            <a:off x="822960" y="3017520"/>
            <a:ext cx="2019224" cy="457200"/>
          </a:xfrm>
          <a:prstGeom prst="rect">
            <a:avLst/>
          </a:prstGeom>
          <a:noFill/>
          <a:ln/>
        </p:spPr>
        <p:txBody>
          <a:bodyPr wrap="square" lIns="0" tIns="0" rIns="0" bIns="0" rtlCol="0" anchor="t"/>
          <a:lstStyle/>
          <a:p>
            <a:pPr algn="l" indent="0" marL="0">
              <a:lnSpc>
                <a:spcPct val="100000"/>
              </a:lnSpc>
              <a:buNone/>
            </a:pPr>
            <a:r>
              <a:rPr lang="en-US" sz="2100" b="1" dirty="0">
                <a:solidFill>
                  <a:srgbClr val="17324D"/>
                </a:solidFill>
                <a:latin typeface="Calibri" pitchFamily="34" charset="0"/>
                <a:ea typeface="Calibri" pitchFamily="34" charset="-122"/>
                <a:cs typeface="Calibri" pitchFamily="34" charset="-120"/>
              </a:rPr>
              <a:t>Design</a:t>
            </a:r>
            <a:endParaRPr lang="en-US" sz="2100" dirty="0"/>
          </a:p>
        </p:txBody>
      </p:sp>
      <p:sp>
        <p:nvSpPr>
          <p:cNvPr id="11" name="Text 7"/>
          <p:cNvSpPr txBox="1"/>
          <p:nvPr/>
        </p:nvSpPr>
        <p:spPr>
          <a:xfrm>
            <a:off x="822960" y="3566160"/>
            <a:ext cx="2019224" cy="1371600"/>
          </a:xfrm>
          <a:prstGeom prst="rect">
            <a:avLst/>
          </a:prstGeom>
          <a:noFill/>
          <a:ln/>
        </p:spPr>
        <p:txBody>
          <a:bodyPr wrap="square" lIns="0" tIns="0" rIns="0" bIns="0" rtlCol="0" anchor="t"/>
          <a:lstStyle/>
          <a:p>
            <a:pPr algn="l" indent="0" marL="0">
              <a:lnSpc>
                <a:spcPct val="100000"/>
              </a:lnSpc>
              <a:buNone/>
            </a:pPr>
            <a:r>
              <a:rPr lang="en-US" sz="1700" dirty="0">
                <a:solidFill>
                  <a:srgbClr val="1F2328"/>
                </a:solidFill>
                <a:latin typeface="Calibri" pitchFamily="34" charset="0"/>
                <a:ea typeface="Calibri" pitchFamily="34" charset="-122"/>
                <a:cs typeface="Calibri" pitchFamily="34" charset="-120"/>
              </a:rPr>
              <a:t>A compact CPW-fed wideband antenna covering about 2–15 GHz</a:t>
            </a:r>
            <a:endParaRPr lang="en-US" sz="1700" dirty="0"/>
          </a:p>
        </p:txBody>
      </p:sp>
      <p:sp>
        <p:nvSpPr>
          <p:cNvPr id="12" name="Shape 8"/>
          <p:cNvSpPr/>
          <p:nvPr/>
        </p:nvSpPr>
        <p:spPr>
          <a:xfrm>
            <a:off x="3390824" y="1783080"/>
            <a:ext cx="2567864" cy="3291840"/>
          </a:xfrm>
          <a:prstGeom prst="roundRect">
            <a:avLst>
              <a:gd name="adj" fmla="val 4273"/>
            </a:avLst>
          </a:prstGeom>
          <a:solidFill>
            <a:srgbClr val="F2F4F7"/>
          </a:solidFill>
          <a:ln/>
        </p:spPr>
      </p:sp>
      <p:sp>
        <p:nvSpPr>
          <p:cNvPr id="13" name="Shape 9"/>
          <p:cNvSpPr/>
          <p:nvPr/>
        </p:nvSpPr>
        <p:spPr>
          <a:xfrm>
            <a:off x="3665144" y="2057400"/>
            <a:ext cx="548640" cy="548640"/>
          </a:xfrm>
          <a:prstGeom prst="ellipse">
            <a:avLst/>
          </a:prstGeom>
          <a:solidFill>
            <a:srgbClr val="B8651B"/>
          </a:solidFill>
          <a:ln/>
        </p:spPr>
      </p:sp>
      <p:sp>
        <p:nvSpPr>
          <p:cNvPr id="14" name="Text 10"/>
          <p:cNvSpPr txBox="1"/>
          <p:nvPr/>
        </p:nvSpPr>
        <p:spPr>
          <a:xfrm>
            <a:off x="3665144"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Shape 11"/>
          <p:cNvSpPr/>
          <p:nvPr/>
        </p:nvSpPr>
        <p:spPr>
          <a:xfrm>
            <a:off x="4998568" y="2011680"/>
            <a:ext cx="685800" cy="685800"/>
          </a:xfrm>
          <a:prstGeom prst="ellipse">
            <a:avLst/>
          </a:prstGeom>
          <a:solidFill>
            <a:srgbClr val="17324D"/>
          </a:solidFill>
          <a:ln/>
        </p:spPr>
      </p:sp>
      <p:pic>
        <p:nvPicPr>
          <p:cNvPr id="16" name="Image 1" descr="preencoded.png">    </p:cNvPr>
          <p:cNvPicPr>
            <a:picLocks noChangeAspect="1"/>
          </p:cNvPicPr>
          <p:nvPr/>
        </p:nvPicPr>
        <p:blipFill>
          <a:blip r:embed="rId2"/>
          <a:stretch>
            <a:fillRect/>
          </a:stretch>
        </p:blipFill>
        <p:spPr>
          <a:xfrm>
            <a:off x="5149444" y="2162556"/>
            <a:ext cx="384048" cy="384048"/>
          </a:xfrm>
          <a:prstGeom prst="rect">
            <a:avLst/>
          </a:prstGeom>
        </p:spPr>
      </p:pic>
      <p:sp>
        <p:nvSpPr>
          <p:cNvPr id="17" name="Text 12"/>
          <p:cNvSpPr txBox="1"/>
          <p:nvPr/>
        </p:nvSpPr>
        <p:spPr>
          <a:xfrm>
            <a:off x="3665144" y="3017520"/>
            <a:ext cx="2019224" cy="457200"/>
          </a:xfrm>
          <a:prstGeom prst="rect">
            <a:avLst/>
          </a:prstGeom>
          <a:noFill/>
          <a:ln/>
        </p:spPr>
        <p:txBody>
          <a:bodyPr wrap="square" lIns="0" tIns="0" rIns="0" bIns="0" rtlCol="0" anchor="t"/>
          <a:lstStyle/>
          <a:p>
            <a:pPr algn="l" indent="0" marL="0">
              <a:lnSpc>
                <a:spcPct val="100000"/>
              </a:lnSpc>
              <a:buNone/>
            </a:pPr>
            <a:r>
              <a:rPr lang="en-US" sz="2100" b="1" dirty="0">
                <a:solidFill>
                  <a:srgbClr val="17324D"/>
                </a:solidFill>
                <a:latin typeface="Calibri" pitchFamily="34" charset="0"/>
                <a:ea typeface="Calibri" pitchFamily="34" charset="-122"/>
                <a:cs typeface="Calibri" pitchFamily="34" charset="-120"/>
              </a:rPr>
              <a:t>Optimise</a:t>
            </a:r>
            <a:endParaRPr lang="en-US" sz="2100" dirty="0"/>
          </a:p>
        </p:txBody>
      </p:sp>
      <p:sp>
        <p:nvSpPr>
          <p:cNvPr id="18" name="Text 13"/>
          <p:cNvSpPr txBox="1"/>
          <p:nvPr/>
        </p:nvSpPr>
        <p:spPr>
          <a:xfrm>
            <a:off x="3665144" y="3566160"/>
            <a:ext cx="2019224" cy="1371600"/>
          </a:xfrm>
          <a:prstGeom prst="rect">
            <a:avLst/>
          </a:prstGeom>
          <a:noFill/>
          <a:ln/>
        </p:spPr>
        <p:txBody>
          <a:bodyPr wrap="square" lIns="0" tIns="0" rIns="0" bIns="0" rtlCol="0" anchor="t"/>
          <a:lstStyle/>
          <a:p>
            <a:pPr algn="l" indent="0" marL="0">
              <a:lnSpc>
                <a:spcPct val="100000"/>
              </a:lnSpc>
              <a:buNone/>
            </a:pPr>
            <a:r>
              <a:rPr lang="en-US" sz="1700" dirty="0">
                <a:solidFill>
                  <a:srgbClr val="1F2328"/>
                </a:solidFill>
                <a:latin typeface="Calibri" pitchFamily="34" charset="0"/>
                <a:ea typeface="Calibri" pitchFamily="34" charset="-122"/>
                <a:cs typeface="Calibri" pitchFamily="34" charset="-120"/>
              </a:rPr>
              <a:t>Ground position, then patch size, in CST, for S</a:t>
            </a:r>
            <a:pPr algn="l" indent="0" marL="0">
              <a:lnSpc>
                <a:spcPct val="100000"/>
              </a:lnSpc>
              <a:buNone/>
            </a:pPr>
            <a:r>
              <a:rPr lang="en-US" sz="1700" baseline="-40000" dirty="0">
                <a:solidFill>
                  <a:srgbClr val="1F2328"/>
                </a:solidFill>
                <a:latin typeface="Calibri" pitchFamily="34" charset="0"/>
                <a:ea typeface="Calibri" pitchFamily="34" charset="-122"/>
                <a:cs typeface="Calibri" pitchFamily="34" charset="-120"/>
              </a:rPr>
              <a:t>11</a:t>
            </a:r>
            <a:pPr algn="l" indent="0" marL="0">
              <a:lnSpc>
                <a:spcPct val="100000"/>
              </a:lnSpc>
              <a:buNone/>
            </a:pPr>
            <a:r>
              <a:rPr lang="en-US" sz="1700" dirty="0">
                <a:solidFill>
                  <a:srgbClr val="1F2328"/>
                </a:solidFill>
                <a:latin typeface="Calibri" pitchFamily="34" charset="0"/>
                <a:ea typeface="Calibri" pitchFamily="34" charset="-122"/>
                <a:cs typeface="Calibri" pitchFamily="34" charset="-120"/>
              </a:rPr>
              <a:t> below −10 dB</a:t>
            </a:r>
            <a:endParaRPr lang="en-US" sz="1700" dirty="0"/>
          </a:p>
        </p:txBody>
      </p:sp>
      <p:sp>
        <p:nvSpPr>
          <p:cNvPr id="19" name="Shape 14"/>
          <p:cNvSpPr/>
          <p:nvPr/>
        </p:nvSpPr>
        <p:spPr>
          <a:xfrm>
            <a:off x="6233008" y="1783080"/>
            <a:ext cx="2567864" cy="3291840"/>
          </a:xfrm>
          <a:prstGeom prst="roundRect">
            <a:avLst>
              <a:gd name="adj" fmla="val 4273"/>
            </a:avLst>
          </a:prstGeom>
          <a:solidFill>
            <a:srgbClr val="F2F4F7"/>
          </a:solidFill>
          <a:ln/>
        </p:spPr>
      </p:sp>
      <p:sp>
        <p:nvSpPr>
          <p:cNvPr id="20" name="Shape 15"/>
          <p:cNvSpPr/>
          <p:nvPr/>
        </p:nvSpPr>
        <p:spPr>
          <a:xfrm>
            <a:off x="6507328" y="2057400"/>
            <a:ext cx="548640" cy="548640"/>
          </a:xfrm>
          <a:prstGeom prst="ellipse">
            <a:avLst/>
          </a:prstGeom>
          <a:solidFill>
            <a:srgbClr val="B8651B"/>
          </a:solidFill>
          <a:ln/>
        </p:spPr>
      </p:sp>
      <p:sp>
        <p:nvSpPr>
          <p:cNvPr id="21" name="Text 16"/>
          <p:cNvSpPr txBox="1"/>
          <p:nvPr/>
        </p:nvSpPr>
        <p:spPr>
          <a:xfrm>
            <a:off x="6507328"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hape 17"/>
          <p:cNvSpPr/>
          <p:nvPr/>
        </p:nvSpPr>
        <p:spPr>
          <a:xfrm>
            <a:off x="7840751" y="2011680"/>
            <a:ext cx="685800" cy="685800"/>
          </a:xfrm>
          <a:prstGeom prst="ellipse">
            <a:avLst/>
          </a:prstGeom>
          <a:solidFill>
            <a:srgbClr val="17324D"/>
          </a:solidFill>
          <a:ln/>
        </p:spPr>
      </p:sp>
      <p:pic>
        <p:nvPicPr>
          <p:cNvPr id="23" name="Image 2" descr="preencoded.png">    </p:cNvPr>
          <p:cNvPicPr>
            <a:picLocks noChangeAspect="1"/>
          </p:cNvPicPr>
          <p:nvPr/>
        </p:nvPicPr>
        <p:blipFill>
          <a:blip r:embed="rId3"/>
          <a:stretch>
            <a:fillRect/>
          </a:stretch>
        </p:blipFill>
        <p:spPr>
          <a:xfrm>
            <a:off x="7991627" y="2162556"/>
            <a:ext cx="384048" cy="384048"/>
          </a:xfrm>
          <a:prstGeom prst="rect">
            <a:avLst/>
          </a:prstGeom>
        </p:spPr>
      </p:pic>
      <p:sp>
        <p:nvSpPr>
          <p:cNvPr id="24" name="Text 18"/>
          <p:cNvSpPr txBox="1"/>
          <p:nvPr/>
        </p:nvSpPr>
        <p:spPr>
          <a:xfrm>
            <a:off x="6507328" y="3017520"/>
            <a:ext cx="2019224" cy="457200"/>
          </a:xfrm>
          <a:prstGeom prst="rect">
            <a:avLst/>
          </a:prstGeom>
          <a:noFill/>
          <a:ln/>
        </p:spPr>
        <p:txBody>
          <a:bodyPr wrap="square" lIns="0" tIns="0" rIns="0" bIns="0" rtlCol="0" anchor="t"/>
          <a:lstStyle/>
          <a:p>
            <a:pPr algn="l" indent="0" marL="0">
              <a:lnSpc>
                <a:spcPct val="100000"/>
              </a:lnSpc>
              <a:buNone/>
            </a:pPr>
            <a:r>
              <a:rPr lang="en-US" sz="2100" b="1" dirty="0">
                <a:solidFill>
                  <a:srgbClr val="17324D"/>
                </a:solidFill>
                <a:latin typeface="Calibri" pitchFamily="34" charset="0"/>
                <a:ea typeface="Calibri" pitchFamily="34" charset="-122"/>
                <a:cs typeface="Calibri" pitchFamily="34" charset="-120"/>
              </a:rPr>
              <a:t>Metasurface</a:t>
            </a:r>
            <a:endParaRPr lang="en-US" sz="2100" dirty="0"/>
          </a:p>
        </p:txBody>
      </p:sp>
      <p:sp>
        <p:nvSpPr>
          <p:cNvPr id="25" name="Text 19"/>
          <p:cNvSpPr txBox="1"/>
          <p:nvPr/>
        </p:nvSpPr>
        <p:spPr>
          <a:xfrm>
            <a:off x="6507328" y="3566160"/>
            <a:ext cx="2019224" cy="1371600"/>
          </a:xfrm>
          <a:prstGeom prst="rect">
            <a:avLst/>
          </a:prstGeom>
          <a:noFill/>
          <a:ln/>
        </p:spPr>
        <p:txBody>
          <a:bodyPr wrap="square" lIns="0" tIns="0" rIns="0" bIns="0" rtlCol="0" anchor="t"/>
          <a:lstStyle/>
          <a:p>
            <a:pPr algn="l" indent="0" marL="0">
              <a:lnSpc>
                <a:spcPct val="100000"/>
              </a:lnSpc>
              <a:buNone/>
            </a:pPr>
            <a:r>
              <a:rPr lang="en-US" sz="1700" dirty="0">
                <a:solidFill>
                  <a:srgbClr val="1F2328"/>
                </a:solidFill>
                <a:latin typeface="Calibri" pitchFamily="34" charset="0"/>
                <a:ea typeface="Calibri" pitchFamily="34" charset="-122"/>
                <a:cs typeface="Calibri" pitchFamily="34" charset="-120"/>
              </a:rPr>
              <a:t>Split rings behind the antenna to raise the gain while keeping it thin</a:t>
            </a:r>
            <a:endParaRPr lang="en-US" sz="1700" dirty="0"/>
          </a:p>
        </p:txBody>
      </p:sp>
      <p:sp>
        <p:nvSpPr>
          <p:cNvPr id="26" name="Shape 20"/>
          <p:cNvSpPr/>
          <p:nvPr/>
        </p:nvSpPr>
        <p:spPr>
          <a:xfrm>
            <a:off x="9075191" y="1783080"/>
            <a:ext cx="2567864" cy="3291840"/>
          </a:xfrm>
          <a:prstGeom prst="roundRect">
            <a:avLst>
              <a:gd name="adj" fmla="val 4273"/>
            </a:avLst>
          </a:prstGeom>
          <a:solidFill>
            <a:srgbClr val="FFFFFF"/>
          </a:solidFill>
          <a:ln w="12700">
            <a:solidFill>
              <a:srgbClr val="D5D9E0"/>
            </a:solidFill>
            <a:prstDash val="dash"/>
          </a:ln>
        </p:spPr>
      </p:sp>
      <p:sp>
        <p:nvSpPr>
          <p:cNvPr id="27" name="Shape 21"/>
          <p:cNvSpPr/>
          <p:nvPr/>
        </p:nvSpPr>
        <p:spPr>
          <a:xfrm>
            <a:off x="9349511" y="2057400"/>
            <a:ext cx="548640" cy="548640"/>
          </a:xfrm>
          <a:prstGeom prst="ellipse">
            <a:avLst/>
          </a:prstGeom>
          <a:solidFill>
            <a:srgbClr val="8A94A6"/>
          </a:solidFill>
          <a:ln/>
        </p:spPr>
      </p:sp>
      <p:sp>
        <p:nvSpPr>
          <p:cNvPr id="28" name="Text 22"/>
          <p:cNvSpPr txBox="1"/>
          <p:nvPr/>
        </p:nvSpPr>
        <p:spPr>
          <a:xfrm>
            <a:off x="9349511"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9" name="Shape 23"/>
          <p:cNvSpPr/>
          <p:nvPr/>
        </p:nvSpPr>
        <p:spPr>
          <a:xfrm>
            <a:off x="10682935" y="2011680"/>
            <a:ext cx="685800" cy="685800"/>
          </a:xfrm>
          <a:prstGeom prst="ellipse">
            <a:avLst/>
          </a:prstGeom>
          <a:solidFill>
            <a:srgbClr val="17324D"/>
          </a:solidFill>
          <a:ln/>
        </p:spPr>
      </p:sp>
      <p:pic>
        <p:nvPicPr>
          <p:cNvPr id="30" name="Image 3" descr="preencoded.png">    </p:cNvPr>
          <p:cNvPicPr>
            <a:picLocks noChangeAspect="1"/>
          </p:cNvPicPr>
          <p:nvPr/>
        </p:nvPicPr>
        <p:blipFill>
          <a:blip r:embed="rId4"/>
          <a:stretch>
            <a:fillRect/>
          </a:stretch>
        </p:blipFill>
        <p:spPr>
          <a:xfrm>
            <a:off x="10833811" y="2162556"/>
            <a:ext cx="384048" cy="384048"/>
          </a:xfrm>
          <a:prstGeom prst="rect">
            <a:avLst/>
          </a:prstGeom>
        </p:spPr>
      </p:pic>
      <p:sp>
        <p:nvSpPr>
          <p:cNvPr id="31" name="Text 24"/>
          <p:cNvSpPr txBox="1"/>
          <p:nvPr/>
        </p:nvSpPr>
        <p:spPr>
          <a:xfrm>
            <a:off x="9349511" y="3017520"/>
            <a:ext cx="2019224" cy="457200"/>
          </a:xfrm>
          <a:prstGeom prst="rect">
            <a:avLst/>
          </a:prstGeom>
          <a:noFill/>
          <a:ln/>
        </p:spPr>
        <p:txBody>
          <a:bodyPr wrap="square" lIns="0" tIns="0" rIns="0" bIns="0" rtlCol="0" anchor="t"/>
          <a:lstStyle/>
          <a:p>
            <a:pPr algn="l" indent="0" marL="0">
              <a:lnSpc>
                <a:spcPct val="100000"/>
              </a:lnSpc>
              <a:buNone/>
            </a:pPr>
            <a:r>
              <a:rPr lang="en-US" sz="2100" b="1" dirty="0">
                <a:solidFill>
                  <a:srgbClr val="17324D"/>
                </a:solidFill>
                <a:latin typeface="Calibri" pitchFamily="34" charset="0"/>
                <a:ea typeface="Calibri" pitchFamily="34" charset="-122"/>
                <a:cs typeface="Calibri" pitchFamily="34" charset="-120"/>
              </a:rPr>
              <a:t>Extend &amp; test</a:t>
            </a:r>
            <a:endParaRPr lang="en-US" sz="2100" dirty="0"/>
          </a:p>
        </p:txBody>
      </p:sp>
      <p:sp>
        <p:nvSpPr>
          <p:cNvPr id="32" name="Text 25"/>
          <p:cNvSpPr txBox="1"/>
          <p:nvPr/>
        </p:nvSpPr>
        <p:spPr>
          <a:xfrm>
            <a:off x="9349511" y="3566160"/>
            <a:ext cx="2019224" cy="1371600"/>
          </a:xfrm>
          <a:prstGeom prst="rect">
            <a:avLst/>
          </a:prstGeom>
          <a:noFill/>
          <a:ln/>
        </p:spPr>
        <p:txBody>
          <a:bodyPr wrap="square" lIns="0" tIns="0" rIns="0" bIns="0" rtlCol="0" anchor="t"/>
          <a:lstStyle/>
          <a:p>
            <a:pPr algn="l" indent="0" marL="0">
              <a:lnSpc>
                <a:spcPct val="100000"/>
              </a:lnSpc>
              <a:buNone/>
            </a:pPr>
            <a:r>
              <a:rPr lang="en-US" sz="1700" dirty="0">
                <a:solidFill>
                  <a:srgbClr val="1F2328"/>
                </a:solidFill>
                <a:latin typeface="Calibri" pitchFamily="34" charset="0"/>
                <a:ea typeface="Calibri" pitchFamily="34" charset="-122"/>
                <a:cs typeface="Calibri" pitchFamily="34" charset="-120"/>
              </a:rPr>
              <a:t>Phase II: MIMO version, fabrication and measurement</a:t>
            </a:r>
            <a:endParaRPr lang="en-US" sz="1700" dirty="0"/>
          </a:p>
        </p:txBody>
      </p:sp>
      <p:sp>
        <p:nvSpPr>
          <p:cNvPr id="33" name="Text 26"/>
          <p:cNvSpPr txBox="1"/>
          <p:nvPr/>
        </p:nvSpPr>
        <p:spPr>
          <a:xfrm>
            <a:off x="548640" y="5349240"/>
            <a:ext cx="11094415" cy="320040"/>
          </a:xfrm>
          <a:prstGeom prst="rect">
            <a:avLst/>
          </a:prstGeom>
          <a:noFill/>
          <a:ln/>
        </p:spPr>
        <p:txBody>
          <a:bodyPr wrap="square" lIns="0" tIns="0" rIns="0" bIns="0" rtlCol="0" anchor="t"/>
          <a:lstStyle/>
          <a:p>
            <a:pPr algn="ctr" indent="0" marL="0">
              <a:lnSpc>
                <a:spcPct val="100000"/>
              </a:lnSpc>
              <a:buNone/>
            </a:pPr>
            <a:r>
              <a:rPr lang="en-US" sz="1400" dirty="0">
                <a:solidFill>
                  <a:srgbClr val="5B6472"/>
                </a:solidFill>
                <a:latin typeface="Calibri" pitchFamily="34" charset="0"/>
                <a:ea typeface="Calibri" pitchFamily="34" charset="-122"/>
                <a:cs typeface="Calibri" pitchFamily="34" charset="-120"/>
              </a:rPr>
              <a:t>Objectives 1–3: this phase   ·   Objective 4: Phase II</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LITERATURE REVIEW</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Reflectors add gain, but sit 9–20 mm away</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20840" cy="914400"/>
        </p:xfrm>
        <a:graphic>
          <a:graphicData uri="http://schemas.openxmlformats.org/drawingml/2006/table">
            <a:tbl>
              <a:tblPr/>
              <a:tblGrid>
                <a:gridCol w="1783080"/>
                <a:gridCol w="2606040"/>
                <a:gridCol w="822960"/>
                <a:gridCol w="15087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Reflector behind the antenna</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Gap</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Peak gain</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7324D"/>
                    </a:solidFill>
                  </a:tcPr>
                </a:tc>
              </a:tr>
              <a:tr h="4572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Al-Gburi 2022 [7]</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19 × 19 loop FSS</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10 mm*</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6.7 → 11.5 dBi</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Hussain 2023 [8]</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5 × 5 ring-frame FSS</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9 mm</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6.5 → 10.5 dBi</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Hammache 2024 [9]</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7 × 7 FSS</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20 mm</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2.2 → 8.4 dBi</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Sen 2017 [10]</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double split-ring metasurface</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 +5.5 dB</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328"/>
                          </a:solidFill>
                          <a:latin typeface="Calibri" pitchFamily="34" charset="0"/>
                          <a:ea typeface="Calibri" pitchFamily="34" charset="-122"/>
                          <a:cs typeface="Calibri" pitchFamily="34" charset="-120"/>
                        </a:rPr>
                        <a:t>Hasan 2022 [11]</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10 × 10 split-ring MS (MIMO)</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12 mm</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5.4 → 8.3 dBi</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B8651B"/>
                          </a:solidFill>
                          <a:latin typeface="Calibri" pitchFamily="34" charset="0"/>
                          <a:ea typeface="Calibri" pitchFamily="34" charset="-122"/>
                          <a:cs typeface="Calibri" pitchFamily="34" charset="-120"/>
                        </a:rPr>
                        <a:t>This work</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7EDE3"/>
                    </a:solidFill>
                  </a:tcPr>
                </a:tc>
                <a:tc>
                  <a:txBody>
                    <a:bodyPr/>
                    <a:lstStyle/>
                    <a:p>
                      <a:pPr indent="0" marL="0">
                        <a:buNone/>
                      </a:pPr>
                      <a:r>
                        <a:rPr lang="en-US" sz="1400" b="1" dirty="0">
                          <a:solidFill>
                            <a:srgbClr val="B8651B"/>
                          </a:solidFill>
                          <a:latin typeface="Calibri" pitchFamily="34" charset="0"/>
                          <a:ea typeface="Calibri" pitchFamily="34" charset="-122"/>
                          <a:cs typeface="Calibri" pitchFamily="34" charset="-120"/>
                        </a:rPr>
                        <a:t>6 × 5 double split-ring MS</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7EDE3"/>
                    </a:solidFill>
                  </a:tcPr>
                </a:tc>
                <a:tc>
                  <a:txBody>
                    <a:bodyPr/>
                    <a:lstStyle/>
                    <a:p>
                      <a:pPr indent="0" marL="0">
                        <a:buNone/>
                      </a:pPr>
                      <a:r>
                        <a:rPr lang="en-US" sz="1400" b="1" dirty="0">
                          <a:solidFill>
                            <a:srgbClr val="B8651B"/>
                          </a:solidFill>
                          <a:latin typeface="Calibri" pitchFamily="34" charset="0"/>
                          <a:ea typeface="Calibri" pitchFamily="34" charset="-122"/>
                          <a:cs typeface="Calibri" pitchFamily="34" charset="-120"/>
                        </a:rPr>
                        <a:t>2 mm</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7EDE3"/>
                    </a:solidFill>
                  </a:tcPr>
                </a:tc>
                <a:tc>
                  <a:txBody>
                    <a:bodyPr/>
                    <a:lstStyle/>
                    <a:p>
                      <a:pPr indent="0" marL="0">
                        <a:buNone/>
                      </a:pPr>
                      <a:r>
                        <a:rPr lang="en-US" sz="1400" b="1" dirty="0">
                          <a:solidFill>
                            <a:srgbClr val="B8651B"/>
                          </a:solidFill>
                          <a:latin typeface="Calibri" pitchFamily="34" charset="0"/>
                          <a:ea typeface="Calibri" pitchFamily="34" charset="-122"/>
                          <a:cs typeface="Calibri" pitchFamily="34" charset="-120"/>
                        </a:rPr>
                        <a:t>3.7 → 8.8 dBi†</a:t>
                      </a:r>
                      <a:endParaRPr lang="en-US" sz="1400" dirty="0">
                        <a:latin typeface="Calibri" charset="0"/>
                        <a:ea typeface="Calibri" charset="0"/>
                        <a:cs typeface="Calibri" charset="0"/>
                      </a:endParaRPr>
                    </a:p>
                  </a:txBody>
                  <a:tcPr marL="73152" marR="73152"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7EDE3"/>
                    </a:solidFill>
                  </a:tcPr>
                </a:tc>
              </a:tr>
            </a:tbl>
          </a:graphicData>
        </a:graphic>
      </p:graphicFrame>
      <p:sp>
        <p:nvSpPr>
          <p:cNvPr id="6" name="Text 2"/>
          <p:cNvSpPr txBox="1"/>
          <p:nvPr/>
        </p:nvSpPr>
        <p:spPr>
          <a:xfrm>
            <a:off x="548640" y="4754880"/>
            <a:ext cx="6720840" cy="365760"/>
          </a:xfrm>
          <a:prstGeom prst="rect">
            <a:avLst/>
          </a:prstGeom>
          <a:noFill/>
          <a:ln/>
        </p:spPr>
        <p:txBody>
          <a:bodyPr wrap="square" lIns="0" tIns="0" rIns="0" bIns="0" rtlCol="0" anchor="t"/>
          <a:lstStyle/>
          <a:p>
            <a:pPr algn="l" indent="0" marL="0">
              <a:lnSpc>
                <a:spcPct val="100000"/>
              </a:lnSpc>
              <a:buNone/>
            </a:pPr>
            <a:r>
              <a:rPr lang="en-US" sz="1100" dirty="0">
                <a:solidFill>
                  <a:srgbClr val="8A94A6"/>
                </a:solidFill>
                <a:latin typeface="Calibri" pitchFamily="34" charset="0"/>
                <a:ea typeface="Calibri" pitchFamily="34" charset="-122"/>
                <a:cs typeface="Calibri" pitchFamily="34" charset="-120"/>
              </a:rPr>
              <a:t>FSS = frequency selective surface · MS = metasurface · * total height · — not given in the abstract</a:t>
            </a:r>
            <a:endParaRPr lang="en-US" sz="1100" dirty="0"/>
          </a:p>
          <a:p>
            <a:pPr algn="l" indent="0" marL="0">
              <a:lnSpc>
                <a:spcPct val="100000"/>
              </a:lnSpc>
              <a:buNone/>
            </a:pPr>
            <a:r>
              <a:rPr lang="en-US" sz="1100" dirty="0">
                <a:solidFill>
                  <a:srgbClr val="8A94A6"/>
                </a:solidFill>
                <a:latin typeface="Calibri" pitchFamily="34" charset="0"/>
                <a:ea typeface="Calibri" pitchFamily="34" charset="-122"/>
                <a:cs typeface="Calibri" pitchFamily="34" charset="-120"/>
              </a:rPr>
              <a:t>† directivity, φ = 0° plane (CST)</a:t>
            </a:r>
            <a:endParaRPr lang="en-US" sz="1100" dirty="0"/>
          </a:p>
        </p:txBody>
      </p:sp>
      <p:graphicFrame>
        <p:nvGraphicFramePr>
          <p:cNvPr id="7" name="Chart 0" descr=""/>
          <p:cNvGraphicFramePr/>
          <p:nvPr/>
        </p:nvGraphicFramePr>
        <p:xfrm>
          <a:off x="7498080" y="1417320"/>
          <a:ext cx="4144975" cy="352044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548640" y="5166360"/>
            <a:ext cx="11094415" cy="1051560"/>
          </a:xfrm>
          <a:prstGeom prst="roundRect">
            <a:avLst>
              <a:gd name="adj" fmla="val 10435"/>
            </a:avLst>
          </a:prstGeom>
          <a:solidFill>
            <a:srgbClr val="17324D"/>
          </a:solidFill>
          <a:ln/>
        </p:spPr>
      </p:sp>
      <p:sp>
        <p:nvSpPr>
          <p:cNvPr id="9" name="Shape 4"/>
          <p:cNvSpPr/>
          <p:nvPr/>
        </p:nvSpPr>
        <p:spPr>
          <a:xfrm>
            <a:off x="822960" y="5367528"/>
            <a:ext cx="640080" cy="640080"/>
          </a:xfrm>
          <a:prstGeom prst="ellipse">
            <a:avLst/>
          </a:prstGeom>
          <a:solidFill>
            <a:srgbClr val="B8651B"/>
          </a:solidFill>
          <a:ln/>
        </p:spPr>
      </p:sp>
      <p:pic>
        <p:nvPicPr>
          <p:cNvPr id="10" name="Image 0" descr="preencoded.png">    </p:cNvPr>
          <p:cNvPicPr>
            <a:picLocks noChangeAspect="1"/>
          </p:cNvPicPr>
          <p:nvPr/>
        </p:nvPicPr>
        <p:blipFill>
          <a:blip r:embed="rId2"/>
          <a:stretch>
            <a:fillRect/>
          </a:stretch>
        </p:blipFill>
        <p:spPr>
          <a:xfrm>
            <a:off x="963778" y="5508346"/>
            <a:ext cx="358445" cy="358445"/>
          </a:xfrm>
          <a:prstGeom prst="rect">
            <a:avLst/>
          </a:prstGeom>
        </p:spPr>
      </p:pic>
      <p:sp>
        <p:nvSpPr>
          <p:cNvPr id="11" name="Text 5"/>
          <p:cNvSpPr txBox="1"/>
          <p:nvPr/>
        </p:nvSpPr>
        <p:spPr>
          <a:xfrm>
            <a:off x="1645920" y="5276088"/>
            <a:ext cx="9768535" cy="868680"/>
          </a:xfrm>
          <a:prstGeom prst="rect">
            <a:avLst/>
          </a:prstGeom>
          <a:noFill/>
          <a:ln/>
        </p:spPr>
        <p:txBody>
          <a:bodyPr wrap="square" lIns="0" tIns="0" rIns="0" bIns="0" rtlCol="0" anchor="ctr"/>
          <a:lstStyle/>
          <a:p>
            <a:pPr algn="l" indent="0" marL="0">
              <a:lnSpc>
                <a:spcPct val="100000"/>
              </a:lnSpc>
              <a:spcAft>
                <a:spcPts val="200"/>
              </a:spcAft>
              <a:buNone/>
            </a:pPr>
            <a:r>
              <a:rPr lang="en-US" sz="1500" b="1" dirty="0">
                <a:solidFill>
                  <a:srgbClr val="F3C9A1"/>
                </a:solidFill>
                <a:latin typeface="Calibri" pitchFamily="34" charset="0"/>
                <a:ea typeface="Calibri" pitchFamily="34" charset="-122"/>
                <a:cs typeface="Calibri" pitchFamily="34" charset="-120"/>
              </a:rPr>
              <a:t>Research gap</a:t>
            </a:r>
            <a:endParaRPr lang="en-US" sz="1500" dirty="0"/>
          </a:p>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A metasurface only a few mm behind an antenna that works from about 2 to 15 GHz is rarely reported → our aim: 2 mm, then MIMO</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PROPOSED METHODOLOGY</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Eight steps — seven done</a:t>
            </a:r>
            <a:endParaRPr lang="en-US" sz="3400" dirty="0"/>
          </a:p>
        </p:txBody>
      </p:sp>
      <p:sp>
        <p:nvSpPr>
          <p:cNvPr id="5" name="Shape 2"/>
          <p:cNvSpPr/>
          <p:nvPr/>
        </p:nvSpPr>
        <p:spPr>
          <a:xfrm>
            <a:off x="1289304" y="2203704"/>
            <a:ext cx="8239789" cy="91"/>
          </a:xfrm>
          <a:prstGeom prst="line">
            <a:avLst/>
          </a:prstGeom>
          <a:noFill/>
          <a:ln w="38100">
            <a:solidFill>
              <a:srgbClr val="17324D"/>
            </a:solidFill>
            <a:prstDash val="solid"/>
          </a:ln>
        </p:spPr>
      </p:sp>
      <p:sp>
        <p:nvSpPr>
          <p:cNvPr id="6" name="Shape 3"/>
          <p:cNvSpPr/>
          <p:nvPr/>
        </p:nvSpPr>
        <p:spPr>
          <a:xfrm>
            <a:off x="9529093" y="2203704"/>
            <a:ext cx="1373298" cy="91"/>
          </a:xfrm>
          <a:prstGeom prst="line">
            <a:avLst/>
          </a:prstGeom>
          <a:noFill/>
          <a:ln w="25400">
            <a:solidFill>
              <a:srgbClr val="8A94A6"/>
            </a:solidFill>
            <a:prstDash val="dash"/>
          </a:ln>
        </p:spPr>
      </p:sp>
      <p:sp>
        <p:nvSpPr>
          <p:cNvPr id="7" name="Shape 4"/>
          <p:cNvSpPr/>
          <p:nvPr/>
        </p:nvSpPr>
        <p:spPr>
          <a:xfrm>
            <a:off x="960120" y="1874520"/>
            <a:ext cx="658368" cy="658368"/>
          </a:xfrm>
          <a:prstGeom prst="ellipse">
            <a:avLst/>
          </a:prstGeom>
          <a:solidFill>
            <a:srgbClr val="17324D"/>
          </a:solidFill>
          <a:ln/>
        </p:spPr>
      </p:sp>
      <p:sp>
        <p:nvSpPr>
          <p:cNvPr id="8" name="Text 5"/>
          <p:cNvSpPr txBox="1"/>
          <p:nvPr/>
        </p:nvSpPr>
        <p:spPr>
          <a:xfrm>
            <a:off x="960120"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612648"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Initial antenna</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in CST</a:t>
            </a:r>
            <a:endParaRPr lang="en-US" sz="1400" dirty="0"/>
          </a:p>
        </p:txBody>
      </p:sp>
      <p:sp>
        <p:nvSpPr>
          <p:cNvPr id="10" name="Shape 7"/>
          <p:cNvSpPr/>
          <p:nvPr/>
        </p:nvSpPr>
        <p:spPr>
          <a:xfrm>
            <a:off x="2333418" y="1874520"/>
            <a:ext cx="658368" cy="658368"/>
          </a:xfrm>
          <a:prstGeom prst="ellipse">
            <a:avLst/>
          </a:prstGeom>
          <a:solidFill>
            <a:srgbClr val="17324D"/>
          </a:solidFill>
          <a:ln/>
        </p:spPr>
      </p:sp>
      <p:sp>
        <p:nvSpPr>
          <p:cNvPr id="11" name="Text 8"/>
          <p:cNvSpPr txBox="1"/>
          <p:nvPr/>
        </p:nvSpPr>
        <p:spPr>
          <a:xfrm>
            <a:off x="2333418"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1985946"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Ground position</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sweep</a:t>
            </a:r>
            <a:endParaRPr lang="en-US" sz="1400" dirty="0"/>
          </a:p>
        </p:txBody>
      </p:sp>
      <p:sp>
        <p:nvSpPr>
          <p:cNvPr id="13" name="Shape 10"/>
          <p:cNvSpPr/>
          <p:nvPr/>
        </p:nvSpPr>
        <p:spPr>
          <a:xfrm>
            <a:off x="3706716" y="1874520"/>
            <a:ext cx="658368" cy="658368"/>
          </a:xfrm>
          <a:prstGeom prst="ellipse">
            <a:avLst/>
          </a:prstGeom>
          <a:solidFill>
            <a:srgbClr val="17324D"/>
          </a:solidFill>
          <a:ln/>
        </p:spPr>
      </p:sp>
      <p:sp>
        <p:nvSpPr>
          <p:cNvPr id="14" name="Text 11"/>
          <p:cNvSpPr txBox="1"/>
          <p:nvPr/>
        </p:nvSpPr>
        <p:spPr>
          <a:xfrm>
            <a:off x="3706716"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3359244"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Patch size</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sweep</a:t>
            </a:r>
            <a:endParaRPr lang="en-US" sz="1400" dirty="0"/>
          </a:p>
        </p:txBody>
      </p:sp>
      <p:sp>
        <p:nvSpPr>
          <p:cNvPr id="16" name="Shape 13"/>
          <p:cNvSpPr/>
          <p:nvPr/>
        </p:nvSpPr>
        <p:spPr>
          <a:xfrm>
            <a:off x="5080015" y="1874520"/>
            <a:ext cx="658368" cy="658368"/>
          </a:xfrm>
          <a:prstGeom prst="ellipse">
            <a:avLst/>
          </a:prstGeom>
          <a:solidFill>
            <a:srgbClr val="17324D"/>
          </a:solidFill>
          <a:ln/>
        </p:spPr>
      </p:sp>
      <p:sp>
        <p:nvSpPr>
          <p:cNvPr id="17" name="Text 14"/>
          <p:cNvSpPr txBox="1"/>
          <p:nvPr/>
        </p:nvSpPr>
        <p:spPr>
          <a:xfrm>
            <a:off x="5080015"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5"/>
          <p:cNvSpPr txBox="1"/>
          <p:nvPr/>
        </p:nvSpPr>
        <p:spPr>
          <a:xfrm>
            <a:off x="4732543"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Optimised</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antenna</a:t>
            </a:r>
            <a:endParaRPr lang="en-US" sz="1400" dirty="0"/>
          </a:p>
        </p:txBody>
      </p:sp>
      <p:sp>
        <p:nvSpPr>
          <p:cNvPr id="19" name="Shape 16"/>
          <p:cNvSpPr/>
          <p:nvPr/>
        </p:nvSpPr>
        <p:spPr>
          <a:xfrm>
            <a:off x="6453313" y="1874520"/>
            <a:ext cx="658368" cy="658368"/>
          </a:xfrm>
          <a:prstGeom prst="ellipse">
            <a:avLst/>
          </a:prstGeom>
          <a:solidFill>
            <a:srgbClr val="17324D"/>
          </a:solidFill>
          <a:ln/>
        </p:spPr>
      </p:sp>
      <p:sp>
        <p:nvSpPr>
          <p:cNvPr id="20" name="Text 17"/>
          <p:cNvSpPr txBox="1"/>
          <p:nvPr/>
        </p:nvSpPr>
        <p:spPr>
          <a:xfrm>
            <a:off x="6453313"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1" name="Text 18"/>
          <p:cNvSpPr txBox="1"/>
          <p:nvPr/>
        </p:nvSpPr>
        <p:spPr>
          <a:xfrm>
            <a:off x="6105841"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Metasurface</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design</a:t>
            </a:r>
            <a:endParaRPr lang="en-US" sz="1400" dirty="0"/>
          </a:p>
        </p:txBody>
      </p:sp>
      <p:sp>
        <p:nvSpPr>
          <p:cNvPr id="22" name="Shape 19"/>
          <p:cNvSpPr/>
          <p:nvPr/>
        </p:nvSpPr>
        <p:spPr>
          <a:xfrm>
            <a:off x="7826611" y="1874520"/>
            <a:ext cx="658368" cy="658368"/>
          </a:xfrm>
          <a:prstGeom prst="ellipse">
            <a:avLst/>
          </a:prstGeom>
          <a:solidFill>
            <a:srgbClr val="17324D"/>
          </a:solidFill>
          <a:ln/>
        </p:spPr>
      </p:sp>
      <p:sp>
        <p:nvSpPr>
          <p:cNvPr id="23" name="Text 20"/>
          <p:cNvSpPr txBox="1"/>
          <p:nvPr/>
        </p:nvSpPr>
        <p:spPr>
          <a:xfrm>
            <a:off x="7826611"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4" name="Text 21"/>
          <p:cNvSpPr txBox="1"/>
          <p:nvPr/>
        </p:nvSpPr>
        <p:spPr>
          <a:xfrm>
            <a:off x="7479139"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Antenna +</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metasurface</a:t>
            </a:r>
            <a:endParaRPr lang="en-US" sz="1400" dirty="0"/>
          </a:p>
        </p:txBody>
      </p:sp>
      <p:sp>
        <p:nvSpPr>
          <p:cNvPr id="25" name="Shape 22"/>
          <p:cNvSpPr/>
          <p:nvPr/>
        </p:nvSpPr>
        <p:spPr>
          <a:xfrm>
            <a:off x="9199909" y="1874520"/>
            <a:ext cx="658368" cy="658368"/>
          </a:xfrm>
          <a:prstGeom prst="ellipse">
            <a:avLst/>
          </a:prstGeom>
          <a:solidFill>
            <a:srgbClr val="17324D"/>
          </a:solidFill>
          <a:ln/>
        </p:spPr>
      </p:sp>
      <p:sp>
        <p:nvSpPr>
          <p:cNvPr id="26" name="Text 23"/>
          <p:cNvSpPr txBox="1"/>
          <p:nvPr/>
        </p:nvSpPr>
        <p:spPr>
          <a:xfrm>
            <a:off x="9199909" y="18745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27" name="Text 24"/>
          <p:cNvSpPr txBox="1"/>
          <p:nvPr/>
        </p:nvSpPr>
        <p:spPr>
          <a:xfrm>
            <a:off x="8852437"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Directivity vs</a:t>
            </a:r>
            <a:endParaRPr lang="en-US" sz="1400" dirty="0"/>
          </a:p>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frequency</a:t>
            </a:r>
            <a:endParaRPr lang="en-US" sz="1400" dirty="0"/>
          </a:p>
        </p:txBody>
      </p:sp>
      <p:sp>
        <p:nvSpPr>
          <p:cNvPr id="28" name="Shape 25"/>
          <p:cNvSpPr/>
          <p:nvPr/>
        </p:nvSpPr>
        <p:spPr>
          <a:xfrm>
            <a:off x="10573207" y="1874520"/>
            <a:ext cx="658368" cy="658368"/>
          </a:xfrm>
          <a:prstGeom prst="ellipse">
            <a:avLst/>
          </a:prstGeom>
          <a:solidFill>
            <a:srgbClr val="FFFFFF"/>
          </a:solidFill>
          <a:ln w="19050">
            <a:solidFill>
              <a:srgbClr val="8A94A6"/>
            </a:solidFill>
            <a:prstDash val="dash"/>
          </a:ln>
        </p:spPr>
      </p:sp>
      <p:sp>
        <p:nvSpPr>
          <p:cNvPr id="29" name="Text 26"/>
          <p:cNvSpPr txBox="1"/>
          <p:nvPr/>
        </p:nvSpPr>
        <p:spPr>
          <a:xfrm>
            <a:off x="10573207" y="1874520"/>
            <a:ext cx="658368" cy="658368"/>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8</a:t>
            </a:r>
            <a:endParaRPr lang="en-US" sz="2000" dirty="0"/>
          </a:p>
        </p:txBody>
      </p:sp>
      <p:sp>
        <p:nvSpPr>
          <p:cNvPr id="30" name="Text 27"/>
          <p:cNvSpPr txBox="1"/>
          <p:nvPr/>
        </p:nvSpPr>
        <p:spPr>
          <a:xfrm>
            <a:off x="10225735" y="2670048"/>
            <a:ext cx="1353312" cy="868680"/>
          </a:xfrm>
          <a:prstGeom prst="rect">
            <a:avLst/>
          </a:prstGeom>
          <a:noFill/>
          <a:ln/>
        </p:spPr>
        <p:txBody>
          <a:bodyPr wrap="square" lIns="0" tIns="0" rIns="0" bIns="0" rtlCol="0" anchor="t"/>
          <a:lstStyle/>
          <a:p>
            <a:pPr algn="ctr" indent="0" marL="0">
              <a:lnSpc>
                <a:spcPct val="100000"/>
              </a:lnSpc>
              <a:buNone/>
            </a:pPr>
            <a:r>
              <a:rPr lang="en-US" sz="1400" dirty="0">
                <a:solidFill>
                  <a:srgbClr val="5B6472"/>
                </a:solidFill>
                <a:latin typeface="Calibri" pitchFamily="34" charset="0"/>
                <a:ea typeface="Calibri" pitchFamily="34" charset="-122"/>
                <a:cs typeface="Calibri" pitchFamily="34" charset="-120"/>
              </a:rPr>
              <a:t>Phase II: MIMO</a:t>
            </a:r>
            <a:endParaRPr lang="en-US" sz="1400" dirty="0"/>
          </a:p>
          <a:p>
            <a:pPr algn="ctr" indent="0" marL="0">
              <a:lnSpc>
                <a:spcPct val="100000"/>
              </a:lnSpc>
              <a:buNone/>
            </a:pPr>
            <a:r>
              <a:rPr lang="en-US" sz="1400" dirty="0">
                <a:solidFill>
                  <a:srgbClr val="5B6472"/>
                </a:solidFill>
                <a:latin typeface="Calibri" pitchFamily="34" charset="0"/>
                <a:ea typeface="Calibri" pitchFamily="34" charset="-122"/>
                <a:cs typeface="Calibri" pitchFamily="34" charset="-120"/>
              </a:rPr>
              <a:t>&amp; testing</a:t>
            </a:r>
            <a:endParaRPr lang="en-US" sz="1400" dirty="0"/>
          </a:p>
        </p:txBody>
      </p:sp>
      <p:sp>
        <p:nvSpPr>
          <p:cNvPr id="31" name="Shape 28"/>
          <p:cNvSpPr/>
          <p:nvPr/>
        </p:nvSpPr>
        <p:spPr>
          <a:xfrm>
            <a:off x="4271620" y="3721608"/>
            <a:ext cx="237744" cy="237744"/>
          </a:xfrm>
          <a:prstGeom prst="ellipse">
            <a:avLst/>
          </a:prstGeom>
          <a:solidFill>
            <a:srgbClr val="17324D"/>
          </a:solidFill>
          <a:ln/>
        </p:spPr>
      </p:sp>
      <p:sp>
        <p:nvSpPr>
          <p:cNvPr id="32" name="Text 29"/>
          <p:cNvSpPr txBox="1"/>
          <p:nvPr/>
        </p:nvSpPr>
        <p:spPr>
          <a:xfrm>
            <a:off x="4619092" y="3675888"/>
            <a:ext cx="658368" cy="329184"/>
          </a:xfrm>
          <a:prstGeom prst="rect">
            <a:avLst/>
          </a:prstGeom>
          <a:noFill/>
          <a:ln/>
        </p:spPr>
        <p:txBody>
          <a:bodyPr wrap="square" lIns="0" tIns="0" rIns="0" bIns="0" rtlCol="0" anchor="ctr"/>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Done</a:t>
            </a:r>
            <a:endParaRPr lang="en-US" sz="1400" dirty="0"/>
          </a:p>
        </p:txBody>
      </p:sp>
      <p:sp>
        <p:nvSpPr>
          <p:cNvPr id="33" name="Shape 30"/>
          <p:cNvSpPr/>
          <p:nvPr/>
        </p:nvSpPr>
        <p:spPr>
          <a:xfrm>
            <a:off x="6283300" y="3721608"/>
            <a:ext cx="237744" cy="237744"/>
          </a:xfrm>
          <a:prstGeom prst="ellipse">
            <a:avLst/>
          </a:prstGeom>
          <a:solidFill>
            <a:srgbClr val="FFFFFF"/>
          </a:solidFill>
          <a:ln w="15875">
            <a:solidFill>
              <a:srgbClr val="8A94A6"/>
            </a:solidFill>
            <a:prstDash val="dash"/>
          </a:ln>
        </p:spPr>
      </p:sp>
      <p:sp>
        <p:nvSpPr>
          <p:cNvPr id="34" name="Text 31"/>
          <p:cNvSpPr txBox="1"/>
          <p:nvPr/>
        </p:nvSpPr>
        <p:spPr>
          <a:xfrm>
            <a:off x="6630772" y="3675888"/>
            <a:ext cx="1563624" cy="329184"/>
          </a:xfrm>
          <a:prstGeom prst="rect">
            <a:avLst/>
          </a:prstGeom>
          <a:noFill/>
          <a:ln/>
        </p:spPr>
        <p:txBody>
          <a:bodyPr wrap="square" lIns="0" tIns="0" rIns="0" bIns="0" rtlCol="0" anchor="ctr"/>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Planned (Phase II)</a:t>
            </a:r>
            <a:endParaRPr lang="en-US" sz="1400" dirty="0"/>
          </a:p>
        </p:txBody>
      </p:sp>
      <p:sp>
        <p:nvSpPr>
          <p:cNvPr id="35" name="Shape 32"/>
          <p:cNvSpPr/>
          <p:nvPr/>
        </p:nvSpPr>
        <p:spPr>
          <a:xfrm>
            <a:off x="548640" y="4434840"/>
            <a:ext cx="3515258" cy="1691640"/>
          </a:xfrm>
          <a:prstGeom prst="roundRect">
            <a:avLst>
              <a:gd name="adj" fmla="val 6486"/>
            </a:avLst>
          </a:prstGeom>
          <a:solidFill>
            <a:srgbClr val="F2F4F7"/>
          </a:solidFill>
          <a:ln/>
        </p:spPr>
      </p:sp>
      <p:sp>
        <p:nvSpPr>
          <p:cNvPr id="36" name="Shape 33"/>
          <p:cNvSpPr/>
          <p:nvPr/>
        </p:nvSpPr>
        <p:spPr>
          <a:xfrm>
            <a:off x="822960" y="4709160"/>
            <a:ext cx="621792" cy="621792"/>
          </a:xfrm>
          <a:prstGeom prst="ellipse">
            <a:avLst/>
          </a:prstGeom>
          <a:solidFill>
            <a:srgbClr val="B8651B"/>
          </a:solidFill>
          <a:ln/>
        </p:spPr>
      </p:sp>
      <p:pic>
        <p:nvPicPr>
          <p:cNvPr id="37" name="Image 0" descr="preencoded.png">    </p:cNvPr>
          <p:cNvPicPr>
            <a:picLocks noChangeAspect="1"/>
          </p:cNvPicPr>
          <p:nvPr/>
        </p:nvPicPr>
        <p:blipFill>
          <a:blip r:embed="rId1"/>
          <a:stretch>
            <a:fillRect/>
          </a:stretch>
        </p:blipFill>
        <p:spPr>
          <a:xfrm>
            <a:off x="959754" y="4845954"/>
            <a:ext cx="348204" cy="348204"/>
          </a:xfrm>
          <a:prstGeom prst="rect">
            <a:avLst/>
          </a:prstGeom>
        </p:spPr>
      </p:pic>
      <p:sp>
        <p:nvSpPr>
          <p:cNvPr id="38" name="Text 34"/>
          <p:cNvSpPr txBox="1"/>
          <p:nvPr/>
        </p:nvSpPr>
        <p:spPr>
          <a:xfrm>
            <a:off x="1600200" y="4709160"/>
            <a:ext cx="2280818" cy="621792"/>
          </a:xfrm>
          <a:prstGeom prst="rect">
            <a:avLst/>
          </a:prstGeom>
          <a:noFill/>
          <a:ln/>
        </p:spPr>
        <p:txBody>
          <a:bodyPr wrap="square" lIns="0" tIns="0" rIns="0" bIns="0" rtlCol="0" anchor="ctr"/>
          <a:lstStyle/>
          <a:p>
            <a:pPr algn="l" indent="0" marL="0">
              <a:lnSpc>
                <a:spcPct val="100000"/>
              </a:lnSpc>
              <a:buNone/>
            </a:pPr>
            <a:r>
              <a:rPr lang="en-US" sz="1800" b="1" dirty="0">
                <a:solidFill>
                  <a:srgbClr val="17324D"/>
                </a:solidFill>
                <a:latin typeface="Calibri" pitchFamily="34" charset="0"/>
                <a:ea typeface="Calibri" pitchFamily="34" charset="-122"/>
                <a:cs typeface="Calibri" pitchFamily="34" charset="-120"/>
              </a:rPr>
              <a:t>Simulation tool</a:t>
            </a:r>
            <a:endParaRPr lang="en-US" sz="1800" dirty="0"/>
          </a:p>
        </p:txBody>
      </p:sp>
      <p:sp>
        <p:nvSpPr>
          <p:cNvPr id="39" name="Text 35"/>
          <p:cNvSpPr txBox="1"/>
          <p:nvPr/>
        </p:nvSpPr>
        <p:spPr>
          <a:xfrm>
            <a:off x="822960" y="542239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CST Studio Suite 2019, frequency-domain solver, 0–18 GHz</a:t>
            </a:r>
            <a:endParaRPr lang="en-US" sz="1500" dirty="0"/>
          </a:p>
        </p:txBody>
      </p:sp>
      <p:sp>
        <p:nvSpPr>
          <p:cNvPr id="40" name="Shape 36"/>
          <p:cNvSpPr/>
          <p:nvPr/>
        </p:nvSpPr>
        <p:spPr>
          <a:xfrm>
            <a:off x="4338218" y="4434840"/>
            <a:ext cx="3515258" cy="1691640"/>
          </a:xfrm>
          <a:prstGeom prst="roundRect">
            <a:avLst>
              <a:gd name="adj" fmla="val 6486"/>
            </a:avLst>
          </a:prstGeom>
          <a:solidFill>
            <a:srgbClr val="F2F4F7"/>
          </a:solidFill>
          <a:ln/>
        </p:spPr>
      </p:sp>
      <p:sp>
        <p:nvSpPr>
          <p:cNvPr id="41" name="Shape 37"/>
          <p:cNvSpPr/>
          <p:nvPr/>
        </p:nvSpPr>
        <p:spPr>
          <a:xfrm>
            <a:off x="4612538" y="4709160"/>
            <a:ext cx="621792" cy="621792"/>
          </a:xfrm>
          <a:prstGeom prst="ellipse">
            <a:avLst/>
          </a:prstGeom>
          <a:solidFill>
            <a:srgbClr val="B8651B"/>
          </a:solidFill>
          <a:ln/>
        </p:spPr>
      </p:sp>
      <p:pic>
        <p:nvPicPr>
          <p:cNvPr id="42" name="Image 1" descr="preencoded.png">    </p:cNvPr>
          <p:cNvPicPr>
            <a:picLocks noChangeAspect="1"/>
          </p:cNvPicPr>
          <p:nvPr/>
        </p:nvPicPr>
        <p:blipFill>
          <a:blip r:embed="rId2"/>
          <a:stretch>
            <a:fillRect/>
          </a:stretch>
        </p:blipFill>
        <p:spPr>
          <a:xfrm>
            <a:off x="4749333" y="4845954"/>
            <a:ext cx="348204" cy="348204"/>
          </a:xfrm>
          <a:prstGeom prst="rect">
            <a:avLst/>
          </a:prstGeom>
        </p:spPr>
      </p:pic>
      <p:sp>
        <p:nvSpPr>
          <p:cNvPr id="43" name="Text 38"/>
          <p:cNvSpPr txBox="1"/>
          <p:nvPr/>
        </p:nvSpPr>
        <p:spPr>
          <a:xfrm>
            <a:off x="5389778" y="4709160"/>
            <a:ext cx="2280818" cy="621792"/>
          </a:xfrm>
          <a:prstGeom prst="rect">
            <a:avLst/>
          </a:prstGeom>
          <a:noFill/>
          <a:ln/>
        </p:spPr>
        <p:txBody>
          <a:bodyPr wrap="square" lIns="0" tIns="0" rIns="0" bIns="0" rtlCol="0" anchor="ctr"/>
          <a:lstStyle/>
          <a:p>
            <a:pPr algn="l" indent="0" marL="0">
              <a:lnSpc>
                <a:spcPct val="100000"/>
              </a:lnSpc>
              <a:buNone/>
            </a:pPr>
            <a:r>
              <a:rPr lang="en-US" sz="1800" b="1" dirty="0">
                <a:solidFill>
                  <a:srgbClr val="17324D"/>
                </a:solidFill>
                <a:latin typeface="Calibri" pitchFamily="34" charset="0"/>
                <a:ea typeface="Calibri" pitchFamily="34" charset="-122"/>
                <a:cs typeface="Calibri" pitchFamily="34" charset="-120"/>
              </a:rPr>
              <a:t>Material</a:t>
            </a:r>
            <a:endParaRPr lang="en-US" sz="1800" dirty="0"/>
          </a:p>
        </p:txBody>
      </p:sp>
      <p:sp>
        <p:nvSpPr>
          <p:cNvPr id="44" name="Text 39"/>
          <p:cNvSpPr txBox="1"/>
          <p:nvPr/>
        </p:nvSpPr>
        <p:spPr>
          <a:xfrm>
            <a:off x="4612538" y="542239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FR-4 board (1.6 mm) with copper conductors</a:t>
            </a:r>
            <a:endParaRPr lang="en-US" sz="1500" dirty="0"/>
          </a:p>
        </p:txBody>
      </p:sp>
      <p:sp>
        <p:nvSpPr>
          <p:cNvPr id="45" name="Shape 40"/>
          <p:cNvSpPr/>
          <p:nvPr/>
        </p:nvSpPr>
        <p:spPr>
          <a:xfrm>
            <a:off x="8127797" y="4434840"/>
            <a:ext cx="3515258" cy="1691640"/>
          </a:xfrm>
          <a:prstGeom prst="roundRect">
            <a:avLst>
              <a:gd name="adj" fmla="val 6486"/>
            </a:avLst>
          </a:prstGeom>
          <a:solidFill>
            <a:srgbClr val="F2F4F7"/>
          </a:solidFill>
          <a:ln/>
        </p:spPr>
      </p:sp>
      <p:sp>
        <p:nvSpPr>
          <p:cNvPr id="46" name="Shape 41"/>
          <p:cNvSpPr/>
          <p:nvPr/>
        </p:nvSpPr>
        <p:spPr>
          <a:xfrm>
            <a:off x="8402117" y="4709160"/>
            <a:ext cx="621792" cy="621792"/>
          </a:xfrm>
          <a:prstGeom prst="ellipse">
            <a:avLst/>
          </a:prstGeom>
          <a:solidFill>
            <a:srgbClr val="B8651B"/>
          </a:solidFill>
          <a:ln/>
        </p:spPr>
      </p:sp>
      <p:pic>
        <p:nvPicPr>
          <p:cNvPr id="47" name="Image 2" descr="preencoded.png">    </p:cNvPr>
          <p:cNvPicPr>
            <a:picLocks noChangeAspect="1"/>
          </p:cNvPicPr>
          <p:nvPr/>
        </p:nvPicPr>
        <p:blipFill>
          <a:blip r:embed="rId3"/>
          <a:stretch>
            <a:fillRect/>
          </a:stretch>
        </p:blipFill>
        <p:spPr>
          <a:xfrm>
            <a:off x="8538911" y="4845954"/>
            <a:ext cx="348204" cy="348204"/>
          </a:xfrm>
          <a:prstGeom prst="rect">
            <a:avLst/>
          </a:prstGeom>
        </p:spPr>
      </p:pic>
      <p:sp>
        <p:nvSpPr>
          <p:cNvPr id="48" name="Text 42"/>
          <p:cNvSpPr txBox="1"/>
          <p:nvPr/>
        </p:nvSpPr>
        <p:spPr>
          <a:xfrm>
            <a:off x="9179357" y="4709160"/>
            <a:ext cx="2280818" cy="621792"/>
          </a:xfrm>
          <a:prstGeom prst="rect">
            <a:avLst/>
          </a:prstGeom>
          <a:noFill/>
          <a:ln/>
        </p:spPr>
        <p:txBody>
          <a:bodyPr wrap="square" lIns="0" tIns="0" rIns="0" bIns="0" rtlCol="0" anchor="ctr"/>
          <a:lstStyle/>
          <a:p>
            <a:pPr algn="l" indent="0" marL="0">
              <a:lnSpc>
                <a:spcPct val="100000"/>
              </a:lnSpc>
              <a:buNone/>
            </a:pPr>
            <a:r>
              <a:rPr lang="en-US" sz="1800" b="1" dirty="0">
                <a:solidFill>
                  <a:srgbClr val="17324D"/>
                </a:solidFill>
                <a:latin typeface="Calibri" pitchFamily="34" charset="0"/>
                <a:ea typeface="Calibri" pitchFamily="34" charset="-122"/>
                <a:cs typeface="Calibri" pitchFamily="34" charset="-120"/>
              </a:rPr>
              <a:t>Method</a:t>
            </a:r>
            <a:endParaRPr lang="en-US" sz="1800" dirty="0"/>
          </a:p>
        </p:txBody>
      </p:sp>
      <p:sp>
        <p:nvSpPr>
          <p:cNvPr id="49" name="Text 43"/>
          <p:cNvSpPr txBox="1"/>
          <p:nvPr/>
        </p:nvSpPr>
        <p:spPr>
          <a:xfrm>
            <a:off x="8402117" y="5422392"/>
            <a:ext cx="2966618" cy="64008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Change one dimension at a time; keep the value with the best S</a:t>
            </a:r>
            <a:pPr algn="l" indent="0" marL="0">
              <a:lnSpc>
                <a:spcPct val="100000"/>
              </a:lnSpc>
              <a:buNone/>
            </a:pPr>
            <a:r>
              <a:rPr lang="en-US" sz="1500" baseline="-40000" dirty="0">
                <a:solidFill>
                  <a:srgbClr val="1F2328"/>
                </a:solidFill>
                <a:latin typeface="Calibri" pitchFamily="34" charset="0"/>
                <a:ea typeface="Calibri" pitchFamily="34" charset="-122"/>
                <a:cs typeface="Calibri" pitchFamily="34" charset="-120"/>
              </a:rPr>
              <a:t>11</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Starting point: the initial antenna is poorly matched</a:t>
            </a:r>
            <a:endParaRPr lang="en-US" sz="3400" dirty="0"/>
          </a:p>
        </p:txBody>
      </p:sp>
      <p:sp>
        <p:nvSpPr>
          <p:cNvPr id="4" name="Shape 1"/>
          <p:cNvSpPr/>
          <p:nvPr/>
        </p:nvSpPr>
        <p:spPr>
          <a:xfrm>
            <a:off x="548640" y="1463040"/>
            <a:ext cx="3429000" cy="3977640"/>
          </a:xfrm>
          <a:prstGeom prst="roundRect">
            <a:avLst>
              <a:gd name="adj" fmla="val 3200"/>
            </a:avLst>
          </a:prstGeom>
          <a:solidFill>
            <a:srgbClr val="F2F4F7"/>
          </a:solidFill>
          <a:ln/>
        </p:spPr>
      </p:sp>
      <p:pic>
        <p:nvPicPr>
          <p:cNvPr id="5" name="cst_initial_antenna.png" descr="/home/user/fyp-mimo-antenna-metasurface/figures/cst_initial_antenna.png">    </p:cNvPr>
          <p:cNvPicPr>
            <a:picLocks noChangeAspect="1"/>
          </p:cNvPicPr>
          <p:nvPr/>
        </p:nvPicPr>
        <p:blipFill>
          <a:blip r:embed="rId1"/>
          <a:stretch>
            <a:fillRect/>
          </a:stretch>
        </p:blipFill>
        <p:spPr>
          <a:xfrm>
            <a:off x="777240" y="1693196"/>
            <a:ext cx="2971800" cy="2968688"/>
          </a:xfrm>
          <a:prstGeom prst="rect">
            <a:avLst/>
          </a:prstGeom>
        </p:spPr>
      </p:pic>
      <p:sp>
        <p:nvSpPr>
          <p:cNvPr id="6" name="Text 2"/>
          <p:cNvSpPr txBox="1"/>
          <p:nvPr/>
        </p:nvSpPr>
        <p:spPr>
          <a:xfrm>
            <a:off x="731520" y="4754880"/>
            <a:ext cx="3063240" cy="594360"/>
          </a:xfrm>
          <a:prstGeom prst="rect">
            <a:avLst/>
          </a:prstGeom>
          <a:noFill/>
          <a:ln/>
        </p:spPr>
        <p:txBody>
          <a:bodyPr wrap="square" lIns="0" tIns="0" rIns="0" bIns="0" rtlCol="0" anchor="t"/>
          <a:lstStyle/>
          <a:p>
            <a:pPr algn="ctr" indent="0" marL="0">
              <a:lnSpc>
                <a:spcPct val="100000"/>
              </a:lnSpc>
              <a:buNone/>
            </a:pPr>
            <a:r>
              <a:rPr lang="en-US" sz="1400" dirty="0">
                <a:solidFill>
                  <a:srgbClr val="5B6472"/>
                </a:solidFill>
                <a:latin typeface="Calibri" pitchFamily="34" charset="0"/>
                <a:ea typeface="Calibri" pitchFamily="34" charset="-122"/>
                <a:cs typeface="Calibri" pitchFamily="34" charset="-120"/>
              </a:rPr>
              <a:t>Initial design: ground far from the patch (L</a:t>
            </a:r>
            <a:pPr algn="ctr" indent="0" marL="0">
              <a:lnSpc>
                <a:spcPct val="100000"/>
              </a:lnSpc>
              <a:buNone/>
            </a:pPr>
            <a:r>
              <a:rPr lang="en-US" sz="1400" baseline="-40000" dirty="0">
                <a:solidFill>
                  <a:srgbClr val="5B6472"/>
                </a:solidFill>
                <a:latin typeface="Calibri" pitchFamily="34" charset="0"/>
                <a:ea typeface="Calibri" pitchFamily="34" charset="-122"/>
                <a:cs typeface="Calibri" pitchFamily="34" charset="-120"/>
              </a:rPr>
              <a:t>g</a:t>
            </a:r>
            <a:pPr algn="ctr" indent="0" marL="0">
              <a:lnSpc>
                <a:spcPct val="100000"/>
              </a:lnSpc>
              <a:buNone/>
            </a:pPr>
            <a:r>
              <a:rPr lang="en-US" sz="1400" dirty="0">
                <a:solidFill>
                  <a:srgbClr val="5B6472"/>
                </a:solidFill>
                <a:latin typeface="Calibri" pitchFamily="34" charset="0"/>
                <a:ea typeface="Calibri" pitchFamily="34" charset="-122"/>
                <a:cs typeface="Calibri" pitchFamily="34" charset="-120"/>
              </a:rPr>
              <a:t> = −20 mm)</a:t>
            </a:r>
            <a:endParaRPr lang="en-US" sz="1400" dirty="0"/>
          </a:p>
        </p:txBody>
      </p:sp>
      <p:sp>
        <p:nvSpPr>
          <p:cNvPr id="7" name="Text 3"/>
          <p:cNvSpPr txBox="1"/>
          <p:nvPr/>
        </p:nvSpPr>
        <p:spPr>
          <a:xfrm>
            <a:off x="4251960" y="1417320"/>
            <a:ext cx="7391095" cy="320040"/>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S</a:t>
            </a:r>
            <a:pPr algn="l" indent="0" marL="0">
              <a:lnSpc>
                <a:spcPct val="100000"/>
              </a:lnSpc>
              <a:buNone/>
            </a:pPr>
            <a:r>
              <a:rPr lang="en-US" sz="1600" b="1" baseline="-40000" dirty="0">
                <a:solidFill>
                  <a:srgbClr val="17324D"/>
                </a:solidFill>
                <a:latin typeface="Calibri" pitchFamily="34" charset="0"/>
                <a:ea typeface="Calibri" pitchFamily="34" charset="-122"/>
                <a:cs typeface="Calibri" pitchFamily="34" charset="-120"/>
              </a:rPr>
              <a:t>11</a:t>
            </a:r>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 of the initial antenna</a:t>
            </a:r>
            <a:endParaRPr lang="en-US" sz="1600" dirty="0"/>
          </a:p>
        </p:txBody>
      </p:sp>
      <p:pic>
        <p:nvPicPr>
          <p:cNvPr id="8" name="cst_initial_ground_s11.png" descr="/home/user/fyp-mimo-antenna-metasurface/presentation/deck/.cache/cst_initial_ground_s11_0_64_2263_959.png">    </p:cNvPr>
          <p:cNvPicPr>
            <a:picLocks noChangeAspect="1"/>
          </p:cNvPicPr>
          <p:nvPr/>
        </p:nvPicPr>
        <p:blipFill>
          <a:blip r:embed="rId2"/>
          <a:stretch>
            <a:fillRect/>
          </a:stretch>
        </p:blipFill>
        <p:spPr>
          <a:xfrm>
            <a:off x="4251960" y="1783080"/>
            <a:ext cx="7391095" cy="2923124"/>
          </a:xfrm>
          <a:prstGeom prst="rect">
            <a:avLst/>
          </a:prstGeom>
        </p:spPr>
      </p:pic>
      <p:sp>
        <p:nvSpPr>
          <p:cNvPr id="9" name="Shape 4"/>
          <p:cNvSpPr/>
          <p:nvPr/>
        </p:nvSpPr>
        <p:spPr>
          <a:xfrm>
            <a:off x="5275689" y="1887594"/>
            <a:ext cx="2256739" cy="2589986"/>
          </a:xfrm>
          <a:prstGeom prst="rect">
            <a:avLst/>
          </a:prstGeom>
          <a:solidFill>
            <a:srgbClr val="C0392B">
              <a:alpha val="16000"/>
            </a:srgbClr>
          </a:solidFill>
          <a:ln/>
        </p:spPr>
      </p:sp>
      <p:sp>
        <p:nvSpPr>
          <p:cNvPr id="10" name="Text 5"/>
          <p:cNvSpPr txBox="1"/>
          <p:nvPr/>
        </p:nvSpPr>
        <p:spPr>
          <a:xfrm>
            <a:off x="5275689" y="3810263"/>
            <a:ext cx="2256739" cy="320040"/>
          </a:xfrm>
          <a:prstGeom prst="rect">
            <a:avLst/>
          </a:prstGeom>
          <a:noFill/>
          <a:ln/>
        </p:spPr>
        <p:txBody>
          <a:bodyPr wrap="square" lIns="0" tIns="0" rIns="0" bIns="0" rtlCol="0" anchor="t"/>
          <a:lstStyle/>
          <a:p>
            <a:pPr algn="ctr" indent="0" marL="0">
              <a:lnSpc>
                <a:spcPct val="100000"/>
              </a:lnSpc>
              <a:buNone/>
            </a:pPr>
            <a:r>
              <a:rPr lang="en-US" sz="1400" b="1" dirty="0">
                <a:solidFill>
                  <a:srgbClr val="C0392B"/>
                </a:solidFill>
                <a:latin typeface="Calibri" pitchFamily="34" charset="0"/>
                <a:ea typeface="Calibri" pitchFamily="34" charset="-122"/>
                <a:cs typeface="Calibri" pitchFamily="34" charset="-120"/>
              </a:rPr>
              <a:t>poor match: 2 – 7.7 GHz</a:t>
            </a:r>
            <a:endParaRPr lang="en-US" sz="1400" dirty="0"/>
          </a:p>
        </p:txBody>
      </p:sp>
      <p:sp>
        <p:nvSpPr>
          <p:cNvPr id="11" name="Shape 6"/>
          <p:cNvSpPr/>
          <p:nvPr/>
        </p:nvSpPr>
        <p:spPr>
          <a:xfrm>
            <a:off x="548640" y="5623560"/>
            <a:ext cx="11094415" cy="640080"/>
          </a:xfrm>
          <a:prstGeom prst="roundRect">
            <a:avLst>
              <a:gd name="adj" fmla="val 14286"/>
            </a:avLst>
          </a:prstGeom>
          <a:solidFill>
            <a:srgbClr val="F9E7E5"/>
          </a:solidFill>
          <a:ln/>
        </p:spPr>
      </p:sp>
      <p:sp>
        <p:nvSpPr>
          <p:cNvPr id="12" name="Text 7"/>
          <p:cNvSpPr txBox="1"/>
          <p:nvPr/>
        </p:nvSpPr>
        <p:spPr>
          <a:xfrm>
            <a:off x="685800" y="5623560"/>
            <a:ext cx="10820095" cy="640080"/>
          </a:xfrm>
          <a:prstGeom prst="rect">
            <a:avLst/>
          </a:prstGeom>
          <a:noFill/>
          <a:ln/>
        </p:spPr>
        <p:txBody>
          <a:bodyPr wrap="square" lIns="0" tIns="0" rIns="0" bIns="0" rtlCol="0" anchor="ctr"/>
          <a:lstStyle/>
          <a:p>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S</a:t>
            </a:r>
            <a:pPr algn="l" indent="0" marL="0">
              <a:lnSpc>
                <a:spcPct val="100000"/>
              </a:lnSpc>
              <a:buNone/>
            </a:pPr>
            <a:r>
              <a:rPr lang="en-US" sz="1600" baseline="-40000" dirty="0">
                <a:solidFill>
                  <a:srgbClr val="1F2328"/>
                </a:solidFill>
                <a:latin typeface="Calibri" pitchFamily="34" charset="0"/>
                <a:ea typeface="Calibri" pitchFamily="34" charset="-122"/>
                <a:cs typeface="Calibri" pitchFamily="34" charset="-120"/>
              </a:rPr>
              <a:t>11</a:t>
            </a:r>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 stays </a:t>
            </a:r>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above −10 dB from 2 to 7.7 GHz</a:t>
            </a:r>
            <a:pPr algn="l" indent="0" marL="0">
              <a:lnSpc>
                <a:spcPct val="100000"/>
              </a:lnSpc>
              <a:buNone/>
            </a:pPr>
            <a:r>
              <a:rPr lang="en-US" sz="1600" dirty="0">
                <a:solidFill>
                  <a:srgbClr val="1F2328"/>
                </a:solidFill>
                <a:latin typeface="Calibri" pitchFamily="34" charset="0"/>
                <a:ea typeface="Calibri" pitchFamily="34" charset="-122"/>
                <a:cs typeface="Calibri" pitchFamily="34" charset="-120"/>
              </a:rPr>
              <a:t>; only a few narrow dips below it higher up → </a:t>
            </a:r>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not usable yet</a:t>
            </a:r>
            <a:endParaRPr lang="en-US" sz="1600" dirty="0"/>
          </a:p>
        </p:txBody>
      </p:sp>
      <p:sp>
        <p:nvSpPr>
          <p:cNvPr id="13"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Optimisation: ground position first, then patch size</a:t>
            </a:r>
            <a:endParaRPr lang="en-US" sz="3400" dirty="0"/>
          </a:p>
        </p:txBody>
      </p:sp>
      <p:sp>
        <p:nvSpPr>
          <p:cNvPr id="4" name="Shape 1"/>
          <p:cNvSpPr/>
          <p:nvPr/>
        </p:nvSpPr>
        <p:spPr>
          <a:xfrm>
            <a:off x="548640" y="1463040"/>
            <a:ext cx="5387188" cy="4754880"/>
          </a:xfrm>
          <a:prstGeom prst="roundRect">
            <a:avLst>
              <a:gd name="adj" fmla="val 2308"/>
            </a:avLst>
          </a:prstGeom>
          <a:solidFill>
            <a:srgbClr val="F2F4F7"/>
          </a:solidFill>
          <a:ln/>
        </p:spPr>
      </p:sp>
      <p:sp>
        <p:nvSpPr>
          <p:cNvPr id="5" name="Shape 2"/>
          <p:cNvSpPr/>
          <p:nvPr/>
        </p:nvSpPr>
        <p:spPr>
          <a:xfrm>
            <a:off x="777240" y="1645920"/>
            <a:ext cx="548640" cy="548640"/>
          </a:xfrm>
          <a:prstGeom prst="ellipse">
            <a:avLst/>
          </a:prstGeom>
          <a:solidFill>
            <a:srgbClr val="17324D"/>
          </a:solidFill>
          <a:ln/>
        </p:spPr>
      </p:sp>
      <p:pic>
        <p:nvPicPr>
          <p:cNvPr id="6" name="Image 0"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7" name="Text 3"/>
          <p:cNvSpPr txBox="1"/>
          <p:nvPr/>
        </p:nvSpPr>
        <p:spPr>
          <a:xfrm>
            <a:off x="1463040" y="1645920"/>
            <a:ext cx="4289908" cy="548640"/>
          </a:xfrm>
          <a:prstGeom prst="rect">
            <a:avLst/>
          </a:prstGeom>
          <a:noFill/>
          <a:ln/>
        </p:spPr>
        <p:txBody>
          <a:bodyPr wrap="square" lIns="0" tIns="0" rIns="0" bIns="0" rtlCol="0" anchor="ctr"/>
          <a:lstStyle/>
          <a:p>
            <a:pPr algn="l" indent="0" marL="0">
              <a:lnSpc>
                <a:spcPct val="100000"/>
              </a:lnSpc>
              <a:buNone/>
            </a:pPr>
            <a:r>
              <a:rPr lang="en-US" sz="1900" b="1" dirty="0">
                <a:solidFill>
                  <a:srgbClr val="17324D"/>
                </a:solidFill>
                <a:latin typeface="Calibri" pitchFamily="34" charset="0"/>
                <a:ea typeface="Calibri" pitchFamily="34" charset="-122"/>
                <a:cs typeface="Calibri" pitchFamily="34" charset="-120"/>
              </a:rPr>
              <a:t>Step 1 · Ground position</a:t>
            </a:r>
            <a:endParaRPr lang="en-US" sz="1900" dirty="0"/>
          </a:p>
        </p:txBody>
      </p:sp>
      <p:pic>
        <p:nvPicPr>
          <p:cNvPr id="8" name="cst_single_Lg_best.png" descr="/home/user/fyp-mimo-antenna-metasurface/presentation/deck/.cache/cst_single_Lg_best_0_64_2077_959.png">    </p:cNvPr>
          <p:cNvPicPr>
            <a:picLocks noChangeAspect="1"/>
          </p:cNvPicPr>
          <p:nvPr/>
        </p:nvPicPr>
        <p:blipFill>
          <a:blip r:embed="rId2"/>
          <a:stretch>
            <a:fillRect/>
          </a:stretch>
        </p:blipFill>
        <p:spPr>
          <a:xfrm>
            <a:off x="685800" y="2441707"/>
            <a:ext cx="5112868" cy="2203186"/>
          </a:xfrm>
          <a:prstGeom prst="rect">
            <a:avLst/>
          </a:prstGeom>
        </p:spPr>
      </p:pic>
      <p:sp>
        <p:nvSpPr>
          <p:cNvPr id="9" name="Shape 4"/>
          <p:cNvSpPr/>
          <p:nvPr/>
        </p:nvSpPr>
        <p:spPr>
          <a:xfrm>
            <a:off x="868680" y="5047488"/>
            <a:ext cx="457200" cy="91"/>
          </a:xfrm>
          <a:prstGeom prst="line">
            <a:avLst/>
          </a:prstGeom>
          <a:noFill/>
          <a:ln w="44450">
            <a:solidFill>
              <a:srgbClr val="3B6EA5"/>
            </a:solidFill>
            <a:prstDash val="solid"/>
          </a:ln>
        </p:spPr>
      </p:sp>
      <p:sp>
        <p:nvSpPr>
          <p:cNvPr id="10" name="Text 5"/>
          <p:cNvSpPr txBox="1"/>
          <p:nvPr/>
        </p:nvSpPr>
        <p:spPr>
          <a:xfrm>
            <a:off x="1417320" y="4892040"/>
            <a:ext cx="2194560" cy="329184"/>
          </a:xfrm>
          <a:prstGeom prst="rect">
            <a:avLst/>
          </a:prstGeom>
          <a:noFill/>
          <a:ln/>
        </p:spPr>
        <p:txBody>
          <a:bodyPr wrap="square" lIns="0" tIns="0" rIns="0" bIns="0" rtlCol="0" anchor="ctr"/>
          <a:lstStyle/>
          <a:p>
            <a:pPr algn="l" indent="0" marL="0">
              <a:lnSpc>
                <a:spcPct val="100000"/>
              </a:lnSpc>
              <a:buNone/>
            </a:pPr>
            <a:r>
              <a:rPr lang="en-US" sz="1500" b="1" dirty="0">
                <a:solidFill>
                  <a:srgbClr val="3B6EA5"/>
                </a:solidFill>
                <a:latin typeface="Calibri" pitchFamily="34" charset="0"/>
                <a:ea typeface="Calibri" pitchFamily="34" charset="-122"/>
                <a:cs typeface="Calibri" pitchFamily="34" charset="-120"/>
              </a:rPr>
              <a:t>Best: L</a:t>
            </a:r>
            <a:pPr algn="l" indent="0" marL="0">
              <a:lnSpc>
                <a:spcPct val="100000"/>
              </a:lnSpc>
              <a:buNone/>
            </a:pPr>
            <a:r>
              <a:rPr lang="en-US" sz="1500" b="1" baseline="-40000" dirty="0">
                <a:solidFill>
                  <a:srgbClr val="3B6EA5"/>
                </a:solidFill>
                <a:latin typeface="Calibri" pitchFamily="34" charset="0"/>
                <a:ea typeface="Calibri" pitchFamily="34" charset="-122"/>
                <a:cs typeface="Calibri" pitchFamily="34" charset="-120"/>
              </a:rPr>
              <a:t>g</a:t>
            </a:r>
            <a:pPr algn="l" indent="0" marL="0">
              <a:lnSpc>
                <a:spcPct val="100000"/>
              </a:lnSpc>
              <a:buNone/>
            </a:pPr>
            <a:r>
              <a:rPr lang="en-US" sz="1500" b="1" dirty="0">
                <a:solidFill>
                  <a:srgbClr val="3B6EA5"/>
                </a:solidFill>
                <a:latin typeface="Calibri" pitchFamily="34" charset="0"/>
                <a:ea typeface="Calibri" pitchFamily="34" charset="-122"/>
                <a:cs typeface="Calibri" pitchFamily="34" charset="-120"/>
              </a:rPr>
              <a:t> = −7 mm</a:t>
            </a:r>
            <a:endParaRPr lang="en-US" sz="1500" dirty="0"/>
          </a:p>
        </p:txBody>
      </p:sp>
      <p:sp>
        <p:nvSpPr>
          <p:cNvPr id="11" name="Shape 6"/>
          <p:cNvSpPr/>
          <p:nvPr/>
        </p:nvSpPr>
        <p:spPr>
          <a:xfrm>
            <a:off x="3611880" y="5047488"/>
            <a:ext cx="457200" cy="91"/>
          </a:xfrm>
          <a:prstGeom prst="line">
            <a:avLst/>
          </a:prstGeom>
          <a:noFill/>
          <a:ln w="25400">
            <a:solidFill>
              <a:srgbClr val="B0B6C0"/>
            </a:solidFill>
            <a:prstDash val="solid"/>
          </a:ln>
        </p:spPr>
      </p:sp>
      <p:sp>
        <p:nvSpPr>
          <p:cNvPr id="12" name="Text 7"/>
          <p:cNvSpPr txBox="1"/>
          <p:nvPr/>
        </p:nvSpPr>
        <p:spPr>
          <a:xfrm>
            <a:off x="4160520" y="4892040"/>
            <a:ext cx="1554480" cy="329184"/>
          </a:xfrm>
          <a:prstGeom prst="rect">
            <a:avLst/>
          </a:prstGeom>
          <a:noFill/>
          <a:ln/>
        </p:spPr>
        <p:txBody>
          <a:bodyPr wrap="square" lIns="0" tIns="0" rIns="0" bIns="0" rtlCol="0" anchor="ctr"/>
          <a:lstStyle/>
          <a:p>
            <a:pPr algn="l" indent="0" marL="0">
              <a:lnSpc>
                <a:spcPct val="100000"/>
              </a:lnSpc>
              <a:buNone/>
            </a:pPr>
            <a:r>
              <a:rPr lang="en-US" sz="1500" dirty="0">
                <a:solidFill>
                  <a:srgbClr val="5B6472"/>
                </a:solidFill>
                <a:latin typeface="Calibri" pitchFamily="34" charset="0"/>
                <a:ea typeface="Calibri" pitchFamily="34" charset="-122"/>
                <a:cs typeface="Calibri" pitchFamily="34" charset="-120"/>
              </a:rPr>
              <a:t>other values</a:t>
            </a:r>
            <a:endParaRPr lang="en-US" sz="1500" dirty="0"/>
          </a:p>
        </p:txBody>
      </p:sp>
      <p:sp>
        <p:nvSpPr>
          <p:cNvPr id="13" name="Text 8"/>
          <p:cNvSpPr txBox="1"/>
          <p:nvPr/>
        </p:nvSpPr>
        <p:spPr>
          <a:xfrm>
            <a:off x="868680" y="5349240"/>
            <a:ext cx="4747108" cy="329184"/>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10 positions: L</a:t>
            </a:r>
            <a:pPr algn="l" indent="0" marL="0">
              <a:lnSpc>
                <a:spcPct val="100000"/>
              </a:lnSpc>
              <a:buNone/>
            </a:pPr>
            <a:r>
              <a:rPr lang="en-US" sz="1500" baseline="-40000" dirty="0">
                <a:solidFill>
                  <a:srgbClr val="1F2328"/>
                </a:solidFill>
                <a:latin typeface="Calibri" pitchFamily="34" charset="0"/>
                <a:ea typeface="Calibri" pitchFamily="34" charset="-122"/>
                <a:cs typeface="Calibri" pitchFamily="34" charset="-120"/>
              </a:rPr>
              <a:t>g</a:t>
            </a:r>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 −20 → −7 mm</a:t>
            </a:r>
            <a:endParaRPr lang="en-US" sz="1500" dirty="0"/>
          </a:p>
        </p:txBody>
      </p:sp>
      <p:sp>
        <p:nvSpPr>
          <p:cNvPr id="14" name="Text 9"/>
          <p:cNvSpPr txBox="1"/>
          <p:nvPr/>
        </p:nvSpPr>
        <p:spPr>
          <a:xfrm>
            <a:off x="868680" y="5696712"/>
            <a:ext cx="4747108" cy="329184"/>
          </a:xfrm>
          <a:prstGeom prst="rect">
            <a:avLst/>
          </a:prstGeom>
          <a:noFill/>
          <a:ln/>
        </p:spPr>
        <p:txBody>
          <a:bodyPr wrap="square" lIns="0" tIns="0" rIns="0" bIns="0" rtlCol="0" anchor="t"/>
          <a:lstStyle/>
          <a:p>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Closer ground → stronger coupling → better low-band match</a:t>
            </a:r>
            <a:endParaRPr lang="en-US" sz="1500" dirty="0"/>
          </a:p>
        </p:txBody>
      </p:sp>
      <p:sp>
        <p:nvSpPr>
          <p:cNvPr id="15" name="Shape 10"/>
          <p:cNvSpPr/>
          <p:nvPr/>
        </p:nvSpPr>
        <p:spPr>
          <a:xfrm>
            <a:off x="6255868" y="1463040"/>
            <a:ext cx="5387188" cy="4754880"/>
          </a:xfrm>
          <a:prstGeom prst="roundRect">
            <a:avLst>
              <a:gd name="adj" fmla="val 2308"/>
            </a:avLst>
          </a:prstGeom>
          <a:solidFill>
            <a:srgbClr val="F2F4F7"/>
          </a:solidFill>
          <a:ln/>
        </p:spPr>
      </p:sp>
      <p:sp>
        <p:nvSpPr>
          <p:cNvPr id="16" name="Shape 11"/>
          <p:cNvSpPr/>
          <p:nvPr/>
        </p:nvSpPr>
        <p:spPr>
          <a:xfrm>
            <a:off x="6484468" y="1645920"/>
            <a:ext cx="548640" cy="548640"/>
          </a:xfrm>
          <a:prstGeom prst="ellipse">
            <a:avLst/>
          </a:prstGeom>
          <a:solidFill>
            <a:srgbClr val="17324D"/>
          </a:solidFill>
          <a:ln/>
        </p:spPr>
      </p:sp>
      <p:pic>
        <p:nvPicPr>
          <p:cNvPr id="17" name="Image 2" descr="preencoded.png">    </p:cNvPr>
          <p:cNvPicPr>
            <a:picLocks noChangeAspect="1"/>
          </p:cNvPicPr>
          <p:nvPr/>
        </p:nvPicPr>
        <p:blipFill>
          <a:blip r:embed="rId3"/>
          <a:stretch>
            <a:fillRect/>
          </a:stretch>
        </p:blipFill>
        <p:spPr>
          <a:xfrm>
            <a:off x="6605168" y="1766621"/>
            <a:ext cx="307238" cy="307238"/>
          </a:xfrm>
          <a:prstGeom prst="rect">
            <a:avLst/>
          </a:prstGeom>
        </p:spPr>
      </p:pic>
      <p:sp>
        <p:nvSpPr>
          <p:cNvPr id="18" name="Text 12"/>
          <p:cNvSpPr txBox="1"/>
          <p:nvPr/>
        </p:nvSpPr>
        <p:spPr>
          <a:xfrm>
            <a:off x="7170268" y="1645920"/>
            <a:ext cx="4289908" cy="548640"/>
          </a:xfrm>
          <a:prstGeom prst="rect">
            <a:avLst/>
          </a:prstGeom>
          <a:noFill/>
          <a:ln/>
        </p:spPr>
        <p:txBody>
          <a:bodyPr wrap="square" lIns="0" tIns="0" rIns="0" bIns="0" rtlCol="0" anchor="ctr"/>
          <a:lstStyle/>
          <a:p>
            <a:pPr algn="l" indent="0" marL="0">
              <a:lnSpc>
                <a:spcPct val="100000"/>
              </a:lnSpc>
              <a:buNone/>
            </a:pPr>
            <a:r>
              <a:rPr lang="en-US" sz="1900" b="1" dirty="0">
                <a:solidFill>
                  <a:srgbClr val="17324D"/>
                </a:solidFill>
                <a:latin typeface="Calibri" pitchFamily="34" charset="0"/>
                <a:ea typeface="Calibri" pitchFamily="34" charset="-122"/>
                <a:cs typeface="Calibri" pitchFamily="34" charset="-120"/>
              </a:rPr>
              <a:t>Step 2 · Patch size</a:t>
            </a:r>
            <a:endParaRPr lang="en-US" sz="1900" dirty="0"/>
          </a:p>
        </p:txBody>
      </p:sp>
      <p:pic>
        <p:nvPicPr>
          <p:cNvPr id="19" name="cst_single_R_best.png" descr="/home/user/fyp-mimo-antenna-metasurface/presentation/deck/.cache/cst_single_R_best_0_64_2088_959.png">    </p:cNvPr>
          <p:cNvPicPr>
            <a:picLocks noChangeAspect="1"/>
          </p:cNvPicPr>
          <p:nvPr/>
        </p:nvPicPr>
        <p:blipFill>
          <a:blip r:embed="rId4"/>
          <a:stretch>
            <a:fillRect/>
          </a:stretch>
        </p:blipFill>
        <p:spPr>
          <a:xfrm>
            <a:off x="6393028" y="2447511"/>
            <a:ext cx="5112868" cy="2191579"/>
          </a:xfrm>
          <a:prstGeom prst="rect">
            <a:avLst/>
          </a:prstGeom>
        </p:spPr>
      </p:pic>
      <p:sp>
        <p:nvSpPr>
          <p:cNvPr id="20" name="Shape 13"/>
          <p:cNvSpPr/>
          <p:nvPr/>
        </p:nvSpPr>
        <p:spPr>
          <a:xfrm>
            <a:off x="6575908" y="5047488"/>
            <a:ext cx="457200" cy="91"/>
          </a:xfrm>
          <a:prstGeom prst="line">
            <a:avLst/>
          </a:prstGeom>
          <a:noFill/>
          <a:ln w="44450">
            <a:solidFill>
              <a:srgbClr val="A0522D"/>
            </a:solidFill>
            <a:prstDash val="solid"/>
          </a:ln>
        </p:spPr>
      </p:sp>
      <p:sp>
        <p:nvSpPr>
          <p:cNvPr id="21" name="Text 14"/>
          <p:cNvSpPr txBox="1"/>
          <p:nvPr/>
        </p:nvSpPr>
        <p:spPr>
          <a:xfrm>
            <a:off x="7124548" y="4892040"/>
            <a:ext cx="2194560" cy="329184"/>
          </a:xfrm>
          <a:prstGeom prst="rect">
            <a:avLst/>
          </a:prstGeom>
          <a:noFill/>
          <a:ln/>
        </p:spPr>
        <p:txBody>
          <a:bodyPr wrap="square" lIns="0" tIns="0" rIns="0" bIns="0" rtlCol="0" anchor="ctr"/>
          <a:lstStyle/>
          <a:p>
            <a:pPr algn="l" indent="0" marL="0">
              <a:lnSpc>
                <a:spcPct val="100000"/>
              </a:lnSpc>
              <a:buNone/>
            </a:pPr>
            <a:r>
              <a:rPr lang="en-US" sz="1500" b="1" dirty="0">
                <a:solidFill>
                  <a:srgbClr val="8B4513"/>
                </a:solidFill>
                <a:latin typeface="Calibri" pitchFamily="34" charset="0"/>
                <a:ea typeface="Calibri" pitchFamily="34" charset="-122"/>
                <a:cs typeface="Calibri" pitchFamily="34" charset="-120"/>
              </a:rPr>
              <a:t>Best: R = 15 mm</a:t>
            </a:r>
            <a:endParaRPr lang="en-US" sz="1500" dirty="0"/>
          </a:p>
        </p:txBody>
      </p:sp>
      <p:sp>
        <p:nvSpPr>
          <p:cNvPr id="22" name="Shape 15"/>
          <p:cNvSpPr/>
          <p:nvPr/>
        </p:nvSpPr>
        <p:spPr>
          <a:xfrm>
            <a:off x="9319108" y="5047488"/>
            <a:ext cx="457200" cy="91"/>
          </a:xfrm>
          <a:prstGeom prst="line">
            <a:avLst/>
          </a:prstGeom>
          <a:noFill/>
          <a:ln w="25400">
            <a:solidFill>
              <a:srgbClr val="B0B6C0"/>
            </a:solidFill>
            <a:prstDash val="solid"/>
          </a:ln>
        </p:spPr>
      </p:sp>
      <p:sp>
        <p:nvSpPr>
          <p:cNvPr id="23" name="Text 16"/>
          <p:cNvSpPr txBox="1"/>
          <p:nvPr/>
        </p:nvSpPr>
        <p:spPr>
          <a:xfrm>
            <a:off x="9867748" y="4892040"/>
            <a:ext cx="1554480" cy="329184"/>
          </a:xfrm>
          <a:prstGeom prst="rect">
            <a:avLst/>
          </a:prstGeom>
          <a:noFill/>
          <a:ln/>
        </p:spPr>
        <p:txBody>
          <a:bodyPr wrap="square" lIns="0" tIns="0" rIns="0" bIns="0" rtlCol="0" anchor="ctr"/>
          <a:lstStyle/>
          <a:p>
            <a:pPr algn="l" indent="0" marL="0">
              <a:lnSpc>
                <a:spcPct val="100000"/>
              </a:lnSpc>
              <a:buNone/>
            </a:pPr>
            <a:r>
              <a:rPr lang="en-US" sz="1500" dirty="0">
                <a:solidFill>
                  <a:srgbClr val="5B6472"/>
                </a:solidFill>
                <a:latin typeface="Calibri" pitchFamily="34" charset="0"/>
                <a:ea typeface="Calibri" pitchFamily="34" charset="-122"/>
                <a:cs typeface="Calibri" pitchFamily="34" charset="-120"/>
              </a:rPr>
              <a:t>other values</a:t>
            </a:r>
            <a:endParaRPr lang="en-US" sz="1500" dirty="0"/>
          </a:p>
        </p:txBody>
      </p:sp>
      <p:sp>
        <p:nvSpPr>
          <p:cNvPr id="24" name="Text 17"/>
          <p:cNvSpPr txBox="1"/>
          <p:nvPr/>
        </p:nvSpPr>
        <p:spPr>
          <a:xfrm>
            <a:off x="6575908" y="5349240"/>
            <a:ext cx="4747108" cy="329184"/>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13 sizes: R = 4 → 15 mm</a:t>
            </a:r>
            <a:endParaRPr lang="en-US" sz="1500" dirty="0"/>
          </a:p>
        </p:txBody>
      </p:sp>
      <p:sp>
        <p:nvSpPr>
          <p:cNvPr id="25" name="Text 18"/>
          <p:cNvSpPr txBox="1"/>
          <p:nvPr/>
        </p:nvSpPr>
        <p:spPr>
          <a:xfrm>
            <a:off x="6575908" y="5696712"/>
            <a:ext cx="4747108" cy="329184"/>
          </a:xfrm>
          <a:prstGeom prst="rect">
            <a:avLst/>
          </a:prstGeom>
          <a:noFill/>
          <a:ln/>
        </p:spPr>
        <p:txBody>
          <a:bodyPr wrap="square" lIns="0" tIns="0" rIns="0" bIns="0" rtlCol="0" anchor="t"/>
          <a:lstStyle/>
          <a:p>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Bigger patch → resonances join into one band</a:t>
            </a:r>
            <a:endParaRPr lang="en-US" sz="1500" dirty="0"/>
          </a:p>
        </p:txBody>
      </p:sp>
      <p:sp>
        <p:nvSpPr>
          <p:cNvPr id="26"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Optimised antenna: matched from 2.16 to 15.73 GHz</a:t>
            </a:r>
            <a:endParaRPr lang="en-US" sz="3400" dirty="0"/>
          </a:p>
        </p:txBody>
      </p:sp>
      <p:sp>
        <p:nvSpPr>
          <p:cNvPr id="4" name="Shape 1"/>
          <p:cNvSpPr/>
          <p:nvPr/>
        </p:nvSpPr>
        <p:spPr>
          <a:xfrm>
            <a:off x="548640" y="1463040"/>
            <a:ext cx="3429000" cy="4754880"/>
          </a:xfrm>
          <a:prstGeom prst="roundRect">
            <a:avLst>
              <a:gd name="adj" fmla="val 3200"/>
            </a:avLst>
          </a:prstGeom>
          <a:solidFill>
            <a:srgbClr val="F2F4F7"/>
          </a:solidFill>
          <a:ln/>
        </p:spPr>
      </p:sp>
      <p:pic>
        <p:nvPicPr>
          <p:cNvPr id="5" name="cst_final_antenna.png" descr="/home/user/fyp-mimo-antenna-metasurface/figures/cst_final_antenna.png">    </p:cNvPr>
          <p:cNvPicPr>
            <a:picLocks noChangeAspect="1"/>
          </p:cNvPicPr>
          <p:nvPr/>
        </p:nvPicPr>
        <p:blipFill>
          <a:blip r:embed="rId1"/>
          <a:stretch>
            <a:fillRect/>
          </a:stretch>
        </p:blipFill>
        <p:spPr>
          <a:xfrm>
            <a:off x="822960" y="1691640"/>
            <a:ext cx="2880360" cy="2880360"/>
          </a:xfrm>
          <a:prstGeom prst="rect">
            <a:avLst/>
          </a:prstGeom>
        </p:spPr>
      </p:pic>
      <p:sp>
        <p:nvSpPr>
          <p:cNvPr id="6" name="Text 2"/>
          <p:cNvSpPr txBox="1"/>
          <p:nvPr/>
        </p:nvSpPr>
        <p:spPr>
          <a:xfrm>
            <a:off x="822960" y="4754880"/>
            <a:ext cx="1143000" cy="365760"/>
          </a:xfrm>
          <a:prstGeom prst="rect">
            <a:avLst/>
          </a:prstGeom>
          <a:noFill/>
          <a:ln/>
        </p:spPr>
        <p:txBody>
          <a:bodyPr wrap="square" lIns="0" tIns="0" rIns="0" bIns="0" rtlCol="0" anchor="ctr"/>
          <a:lstStyle/>
          <a:p>
            <a:pPr algn="l" indent="0" marL="0">
              <a:lnSpc>
                <a:spcPct val="100000"/>
              </a:lnSpc>
              <a:buNone/>
            </a:pPr>
            <a:r>
              <a:rPr lang="en-US" sz="1400" b="1" dirty="0">
                <a:solidFill>
                  <a:srgbClr val="17324D"/>
                </a:solidFill>
                <a:latin typeface="Calibri" pitchFamily="34" charset="0"/>
                <a:ea typeface="Calibri" pitchFamily="34" charset="-122"/>
                <a:cs typeface="Calibri" pitchFamily="34" charset="-120"/>
              </a:rPr>
              <a:t>Board</a:t>
            </a:r>
            <a:endParaRPr lang="en-US" sz="1400" dirty="0"/>
          </a:p>
        </p:txBody>
      </p:sp>
      <p:sp>
        <p:nvSpPr>
          <p:cNvPr id="7" name="Text 3"/>
          <p:cNvSpPr txBox="1"/>
          <p:nvPr/>
        </p:nvSpPr>
        <p:spPr>
          <a:xfrm>
            <a:off x="1920240" y="4754880"/>
            <a:ext cx="2011680" cy="365760"/>
          </a:xfrm>
          <a:prstGeom prst="rect">
            <a:avLst/>
          </a:prstGeom>
          <a:noFill/>
          <a:ln/>
        </p:spPr>
        <p:txBody>
          <a:bodyPr wrap="square" lIns="0" tIns="0" rIns="0" bIns="0" rtlCol="0" anchor="ctr"/>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FR-4, 50 × 50 × 1.6 mm</a:t>
            </a:r>
            <a:endParaRPr lang="en-US" sz="1400" dirty="0"/>
          </a:p>
        </p:txBody>
      </p:sp>
      <p:sp>
        <p:nvSpPr>
          <p:cNvPr id="8" name="Text 4"/>
          <p:cNvSpPr txBox="1"/>
          <p:nvPr/>
        </p:nvSpPr>
        <p:spPr>
          <a:xfrm>
            <a:off x="822960" y="5193792"/>
            <a:ext cx="1143000" cy="365760"/>
          </a:xfrm>
          <a:prstGeom prst="rect">
            <a:avLst/>
          </a:prstGeom>
          <a:noFill/>
          <a:ln/>
        </p:spPr>
        <p:txBody>
          <a:bodyPr wrap="square" lIns="0" tIns="0" rIns="0" bIns="0" rtlCol="0" anchor="ctr"/>
          <a:lstStyle/>
          <a:p>
            <a:pPr algn="l" indent="0" marL="0">
              <a:lnSpc>
                <a:spcPct val="100000"/>
              </a:lnSpc>
              <a:buNone/>
            </a:pPr>
            <a:r>
              <a:rPr lang="en-US" sz="1400" b="1" dirty="0">
                <a:solidFill>
                  <a:srgbClr val="17324D"/>
                </a:solidFill>
                <a:latin typeface="Calibri" pitchFamily="34" charset="0"/>
                <a:ea typeface="Calibri" pitchFamily="34" charset="-122"/>
                <a:cs typeface="Calibri" pitchFamily="34" charset="-120"/>
              </a:rPr>
              <a:t>Patch</a:t>
            </a:r>
            <a:endParaRPr lang="en-US" sz="1400" dirty="0"/>
          </a:p>
        </p:txBody>
      </p:sp>
      <p:sp>
        <p:nvSpPr>
          <p:cNvPr id="9" name="Text 5"/>
          <p:cNvSpPr txBox="1"/>
          <p:nvPr/>
        </p:nvSpPr>
        <p:spPr>
          <a:xfrm>
            <a:off x="1920240" y="5193792"/>
            <a:ext cx="2011680" cy="365760"/>
          </a:xfrm>
          <a:prstGeom prst="rect">
            <a:avLst/>
          </a:prstGeom>
          <a:noFill/>
          <a:ln/>
        </p:spPr>
        <p:txBody>
          <a:bodyPr wrap="square" lIns="0" tIns="0" rIns="0" bIns="0" rtlCol="0" anchor="ctr"/>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decagon, R = 15 mm</a:t>
            </a:r>
            <a:endParaRPr lang="en-US" sz="1400" dirty="0"/>
          </a:p>
        </p:txBody>
      </p:sp>
      <p:sp>
        <p:nvSpPr>
          <p:cNvPr id="10" name="Text 6"/>
          <p:cNvSpPr txBox="1"/>
          <p:nvPr/>
        </p:nvSpPr>
        <p:spPr>
          <a:xfrm>
            <a:off x="822960" y="5632704"/>
            <a:ext cx="1143000" cy="365760"/>
          </a:xfrm>
          <a:prstGeom prst="rect">
            <a:avLst/>
          </a:prstGeom>
          <a:noFill/>
          <a:ln/>
        </p:spPr>
        <p:txBody>
          <a:bodyPr wrap="square" lIns="0" tIns="0" rIns="0" bIns="0" rtlCol="0" anchor="ctr"/>
          <a:lstStyle/>
          <a:p>
            <a:pPr algn="l" indent="0" marL="0">
              <a:lnSpc>
                <a:spcPct val="100000"/>
              </a:lnSpc>
              <a:buNone/>
            </a:pPr>
            <a:r>
              <a:rPr lang="en-US" sz="1400" b="1" dirty="0">
                <a:solidFill>
                  <a:srgbClr val="17324D"/>
                </a:solidFill>
                <a:latin typeface="Calibri" pitchFamily="34" charset="0"/>
                <a:ea typeface="Calibri" pitchFamily="34" charset="-122"/>
                <a:cs typeface="Calibri" pitchFamily="34" charset="-120"/>
              </a:rPr>
              <a:t>Ground edge</a:t>
            </a:r>
            <a:endParaRPr lang="en-US" sz="1400" dirty="0"/>
          </a:p>
        </p:txBody>
      </p:sp>
      <p:sp>
        <p:nvSpPr>
          <p:cNvPr id="11" name="Text 7"/>
          <p:cNvSpPr txBox="1"/>
          <p:nvPr/>
        </p:nvSpPr>
        <p:spPr>
          <a:xfrm>
            <a:off x="1920240" y="5632704"/>
            <a:ext cx="2011680" cy="365760"/>
          </a:xfrm>
          <a:prstGeom prst="rect">
            <a:avLst/>
          </a:prstGeom>
          <a:noFill/>
          <a:ln/>
        </p:spPr>
        <p:txBody>
          <a:bodyPr wrap="square" lIns="0" tIns="0" rIns="0" bIns="0" rtlCol="0" anchor="ctr"/>
          <a:lstStyle/>
          <a:p>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L</a:t>
            </a:r>
            <a:pPr algn="l" indent="0" marL="0">
              <a:lnSpc>
                <a:spcPct val="100000"/>
              </a:lnSpc>
              <a:buNone/>
            </a:pPr>
            <a:r>
              <a:rPr lang="en-US" sz="1400" baseline="-40000" dirty="0">
                <a:solidFill>
                  <a:srgbClr val="1F2328"/>
                </a:solidFill>
                <a:latin typeface="Calibri" pitchFamily="34" charset="0"/>
                <a:ea typeface="Calibri" pitchFamily="34" charset="-122"/>
                <a:cs typeface="Calibri" pitchFamily="34" charset="-120"/>
              </a:rPr>
              <a:t>g</a:t>
            </a:r>
            <a:pPr algn="l" indent="0" marL="0">
              <a:lnSpc>
                <a:spcPct val="100000"/>
              </a:lnSpc>
              <a:buNone/>
            </a:pPr>
            <a:r>
              <a:rPr lang="en-US" sz="1400" dirty="0">
                <a:solidFill>
                  <a:srgbClr val="1F2328"/>
                </a:solidFill>
                <a:latin typeface="Calibri" pitchFamily="34" charset="0"/>
                <a:ea typeface="Calibri" pitchFamily="34" charset="-122"/>
                <a:cs typeface="Calibri" pitchFamily="34" charset="-120"/>
              </a:rPr>
              <a:t> = −7 mm</a:t>
            </a:r>
            <a:endParaRPr lang="en-US" sz="1400" dirty="0"/>
          </a:p>
        </p:txBody>
      </p:sp>
      <p:pic>
        <p:nvPicPr>
          <p:cNvPr id="12" name="cst_single_final_s11_bandwidth.png" descr="/home/user/fyp-mimo-antenna-metasurface/presentation/deck/.cache/cst_single_final_s11_bandwidth_0_64_2178_959.png">    </p:cNvPr>
          <p:cNvPicPr>
            <a:picLocks noChangeAspect="1"/>
          </p:cNvPicPr>
          <p:nvPr/>
        </p:nvPicPr>
        <p:blipFill>
          <a:blip r:embed="rId2"/>
          <a:stretch>
            <a:fillRect/>
          </a:stretch>
        </p:blipFill>
        <p:spPr>
          <a:xfrm>
            <a:off x="4251960" y="1463040"/>
            <a:ext cx="7391095" cy="3037204"/>
          </a:xfrm>
          <a:prstGeom prst="rect">
            <a:avLst/>
          </a:prstGeom>
        </p:spPr>
      </p:pic>
      <p:sp>
        <p:nvSpPr>
          <p:cNvPr id="13" name="Shape 8"/>
          <p:cNvSpPr/>
          <p:nvPr/>
        </p:nvSpPr>
        <p:spPr>
          <a:xfrm>
            <a:off x="5434034" y="1571633"/>
            <a:ext cx="5291622" cy="2691065"/>
          </a:xfrm>
          <a:prstGeom prst="rect">
            <a:avLst/>
          </a:prstGeom>
          <a:solidFill>
            <a:srgbClr val="2E7D5B">
              <a:alpha val="15000"/>
            </a:srgbClr>
          </a:solidFill>
          <a:ln/>
        </p:spPr>
      </p:sp>
      <p:sp>
        <p:nvSpPr>
          <p:cNvPr id="14" name="Text 9"/>
          <p:cNvSpPr txBox="1"/>
          <p:nvPr/>
        </p:nvSpPr>
        <p:spPr>
          <a:xfrm>
            <a:off x="4251960" y="4754880"/>
            <a:ext cx="4206240" cy="777240"/>
          </a:xfrm>
          <a:prstGeom prst="rect">
            <a:avLst/>
          </a:prstGeom>
          <a:noFill/>
          <a:ln/>
        </p:spPr>
        <p:txBody>
          <a:bodyPr wrap="square" lIns="0" tIns="0" rIns="0" bIns="0" rtlCol="0" anchor="ctr"/>
          <a:lstStyle/>
          <a:p>
            <a:pPr algn="l" indent="0" marL="0">
              <a:lnSpc>
                <a:spcPct val="100000"/>
              </a:lnSpc>
              <a:buNone/>
            </a:pPr>
            <a:r>
              <a:rPr lang="en-US" sz="4000" b="1" dirty="0">
                <a:solidFill>
                  <a:srgbClr val="B8651B"/>
                </a:solidFill>
                <a:latin typeface="Cambria" pitchFamily="34" charset="0"/>
                <a:ea typeface="Cambria" pitchFamily="34" charset="-122"/>
                <a:cs typeface="Cambria" pitchFamily="34" charset="-120"/>
              </a:rPr>
              <a:t>2.16 – 15.73 GHz</a:t>
            </a:r>
            <a:endParaRPr lang="en-US" sz="4000" dirty="0"/>
          </a:p>
        </p:txBody>
      </p:sp>
      <p:sp>
        <p:nvSpPr>
          <p:cNvPr id="15" name="Text 10"/>
          <p:cNvSpPr txBox="1"/>
          <p:nvPr/>
        </p:nvSpPr>
        <p:spPr>
          <a:xfrm>
            <a:off x="4251960" y="5532120"/>
            <a:ext cx="4206240" cy="365760"/>
          </a:xfrm>
          <a:prstGeom prst="rect">
            <a:avLst/>
          </a:prstGeom>
          <a:noFill/>
          <a:ln/>
        </p:spPr>
        <p:txBody>
          <a:bodyPr wrap="square" lIns="0" tIns="0" rIns="0" bIns="0" rtlCol="0" anchor="t"/>
          <a:lstStyle/>
          <a:p>
            <a:pPr algn="l" indent="0" marL="0">
              <a:lnSpc>
                <a:spcPct val="100000"/>
              </a:lnSpc>
              <a:buNone/>
            </a:pPr>
            <a:r>
              <a:rPr lang="en-US" sz="1600" dirty="0">
                <a:solidFill>
                  <a:srgbClr val="5B6472"/>
                </a:solidFill>
                <a:latin typeface="Calibri" pitchFamily="34" charset="0"/>
                <a:ea typeface="Calibri" pitchFamily="34" charset="-122"/>
                <a:cs typeface="Calibri" pitchFamily="34" charset="-120"/>
              </a:rPr>
              <a:t>S</a:t>
            </a:r>
            <a:pPr algn="l" indent="0" marL="0">
              <a:lnSpc>
                <a:spcPct val="100000"/>
              </a:lnSpc>
              <a:buNone/>
            </a:pPr>
            <a:r>
              <a:rPr lang="en-US" sz="1600" baseline="-40000" dirty="0">
                <a:solidFill>
                  <a:srgbClr val="5B6472"/>
                </a:solidFill>
                <a:latin typeface="Calibri" pitchFamily="34" charset="0"/>
                <a:ea typeface="Calibri" pitchFamily="34" charset="-122"/>
                <a:cs typeface="Calibri" pitchFamily="34" charset="-120"/>
              </a:rPr>
              <a:t>11</a:t>
            </a:r>
            <a:pPr algn="l" indent="0" marL="0">
              <a:lnSpc>
                <a:spcPct val="100000"/>
              </a:lnSpc>
              <a:buNone/>
            </a:pPr>
            <a:r>
              <a:rPr lang="en-US" sz="1600" dirty="0">
                <a:solidFill>
                  <a:srgbClr val="5B6472"/>
                </a:solidFill>
                <a:latin typeface="Calibri" pitchFamily="34" charset="0"/>
                <a:ea typeface="Calibri" pitchFamily="34" charset="-122"/>
                <a:cs typeface="Calibri" pitchFamily="34" charset="-120"/>
              </a:rPr>
              <a:t> below −10 dB (green band)</a:t>
            </a:r>
            <a:endParaRPr lang="en-US" sz="1600" dirty="0"/>
          </a:p>
        </p:txBody>
      </p:sp>
      <p:sp>
        <p:nvSpPr>
          <p:cNvPr id="16" name="Shape 11"/>
          <p:cNvSpPr/>
          <p:nvPr/>
        </p:nvSpPr>
        <p:spPr>
          <a:xfrm>
            <a:off x="8549640" y="4800600"/>
            <a:ext cx="384048" cy="384048"/>
          </a:xfrm>
          <a:prstGeom prst="ellipse">
            <a:avLst/>
          </a:prstGeom>
          <a:solidFill>
            <a:srgbClr val="17324D"/>
          </a:solidFill>
          <a:ln/>
        </p:spPr>
      </p:sp>
      <p:pic>
        <p:nvPicPr>
          <p:cNvPr id="17" name="Image 2" descr="preencoded.png">    </p:cNvPr>
          <p:cNvPicPr>
            <a:picLocks noChangeAspect="1"/>
          </p:cNvPicPr>
          <p:nvPr/>
        </p:nvPicPr>
        <p:blipFill>
          <a:blip r:embed="rId3"/>
          <a:stretch>
            <a:fillRect/>
          </a:stretch>
        </p:blipFill>
        <p:spPr>
          <a:xfrm>
            <a:off x="8634131" y="4885091"/>
            <a:ext cx="215067" cy="215067"/>
          </a:xfrm>
          <a:prstGeom prst="rect">
            <a:avLst/>
          </a:prstGeom>
        </p:spPr>
      </p:pic>
      <p:sp>
        <p:nvSpPr>
          <p:cNvPr id="18" name="Text 12"/>
          <p:cNvSpPr txBox="1"/>
          <p:nvPr/>
        </p:nvSpPr>
        <p:spPr>
          <a:xfrm>
            <a:off x="9052560" y="4782312"/>
            <a:ext cx="2590495" cy="420624"/>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about 13.6 GHz wide</a:t>
            </a:r>
            <a:endParaRPr lang="en-US" sz="1500" dirty="0"/>
          </a:p>
        </p:txBody>
      </p:sp>
      <p:sp>
        <p:nvSpPr>
          <p:cNvPr id="19" name="Shape 13"/>
          <p:cNvSpPr/>
          <p:nvPr/>
        </p:nvSpPr>
        <p:spPr>
          <a:xfrm>
            <a:off x="8549640" y="5285232"/>
            <a:ext cx="384048" cy="384048"/>
          </a:xfrm>
          <a:prstGeom prst="ellipse">
            <a:avLst/>
          </a:prstGeom>
          <a:solidFill>
            <a:srgbClr val="17324D"/>
          </a:solidFill>
          <a:ln/>
        </p:spPr>
      </p:sp>
      <p:pic>
        <p:nvPicPr>
          <p:cNvPr id="20" name="Image 3" descr="preencoded.png">    </p:cNvPr>
          <p:cNvPicPr>
            <a:picLocks noChangeAspect="1"/>
          </p:cNvPicPr>
          <p:nvPr/>
        </p:nvPicPr>
        <p:blipFill>
          <a:blip r:embed="rId4"/>
          <a:stretch>
            <a:fillRect/>
          </a:stretch>
        </p:blipFill>
        <p:spPr>
          <a:xfrm>
            <a:off x="8634131" y="5369723"/>
            <a:ext cx="215067" cy="215067"/>
          </a:xfrm>
          <a:prstGeom prst="rect">
            <a:avLst/>
          </a:prstGeom>
        </p:spPr>
      </p:pic>
      <p:sp>
        <p:nvSpPr>
          <p:cNvPr id="21" name="Text 14"/>
          <p:cNvSpPr txBox="1"/>
          <p:nvPr/>
        </p:nvSpPr>
        <p:spPr>
          <a:xfrm>
            <a:off x="9052560" y="5266944"/>
            <a:ext cx="2590495" cy="420624"/>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resonances: 2.7 · 4.8 · 9.2 · 14.3 GHz</a:t>
            </a:r>
            <a:endParaRPr lang="en-US" sz="1500" dirty="0"/>
          </a:p>
        </p:txBody>
      </p:sp>
      <p:sp>
        <p:nvSpPr>
          <p:cNvPr id="22" name="Shape 15"/>
          <p:cNvSpPr/>
          <p:nvPr/>
        </p:nvSpPr>
        <p:spPr>
          <a:xfrm>
            <a:off x="8549640" y="5769864"/>
            <a:ext cx="384048" cy="384048"/>
          </a:xfrm>
          <a:prstGeom prst="ellipse">
            <a:avLst/>
          </a:prstGeom>
          <a:solidFill>
            <a:srgbClr val="17324D"/>
          </a:solidFill>
          <a:ln/>
        </p:spPr>
      </p:sp>
      <p:pic>
        <p:nvPicPr>
          <p:cNvPr id="23" name="Image 4" descr="preencoded.png">    </p:cNvPr>
          <p:cNvPicPr>
            <a:picLocks noChangeAspect="1"/>
          </p:cNvPicPr>
          <p:nvPr/>
        </p:nvPicPr>
        <p:blipFill>
          <a:blip r:embed="rId5"/>
          <a:stretch>
            <a:fillRect/>
          </a:stretch>
        </p:blipFill>
        <p:spPr>
          <a:xfrm>
            <a:off x="8634131" y="5854355"/>
            <a:ext cx="215067" cy="215067"/>
          </a:xfrm>
          <a:prstGeom prst="rect">
            <a:avLst/>
          </a:prstGeom>
        </p:spPr>
      </p:pic>
      <p:sp>
        <p:nvSpPr>
          <p:cNvPr id="24" name="Text 16"/>
          <p:cNvSpPr txBox="1"/>
          <p:nvPr/>
        </p:nvSpPr>
        <p:spPr>
          <a:xfrm>
            <a:off x="9052560" y="5751576"/>
            <a:ext cx="2590495" cy="420624"/>
          </a:xfrm>
          <a:prstGeom prst="rect">
            <a:avLst/>
          </a:prstGeom>
          <a:noFill/>
          <a:ln/>
        </p:spPr>
        <p:txBody>
          <a:bodyPr wrap="square" lIns="0" tIns="0" rIns="0" bIns="0" rtlCol="0" anchor="ctr"/>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covers the 2–15 GHz target</a:t>
            </a:r>
            <a:endParaRPr lang="en-US" sz="1500" dirty="0"/>
          </a:p>
        </p:txBody>
      </p:sp>
      <p:sp>
        <p:nvSpPr>
          <p:cNvPr id="25"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Metasurface added: wider band, three small gaps</a:t>
            </a:r>
            <a:endParaRPr lang="en-US" sz="3400" dirty="0"/>
          </a:p>
        </p:txBody>
      </p:sp>
      <p:sp>
        <p:nvSpPr>
          <p:cNvPr id="4" name="Text 1"/>
          <p:cNvSpPr txBox="1"/>
          <p:nvPr/>
        </p:nvSpPr>
        <p:spPr>
          <a:xfrm>
            <a:off x="548640" y="1371600"/>
            <a:ext cx="6172200" cy="292608"/>
          </a:xfrm>
          <a:prstGeom prst="rect">
            <a:avLst/>
          </a:prstGeom>
          <a:noFill/>
          <a:ln/>
        </p:spPr>
        <p:txBody>
          <a:bodyPr wrap="square" lIns="0" tIns="0" rIns="0" bIns="0" rtlCol="0" anchor="t"/>
          <a:lstStyle/>
          <a:p>
            <a:pPr algn="l" indent="0" marL="0">
              <a:lnSpc>
                <a:spcPct val="100000"/>
              </a:lnSpc>
              <a:buNone/>
            </a:pPr>
            <a:r>
              <a:rPr lang="en-US" sz="1500" b="1" dirty="0">
                <a:solidFill>
                  <a:srgbClr val="17324D"/>
                </a:solidFill>
                <a:latin typeface="Calibri" pitchFamily="34" charset="0"/>
                <a:ea typeface="Calibri" pitchFamily="34" charset="-122"/>
                <a:cs typeface="Calibri" pitchFamily="34" charset="-120"/>
              </a:rPr>
              <a:t>Antenna alone</a:t>
            </a:r>
            <a:endParaRPr lang="en-US" sz="1500" dirty="0"/>
          </a:p>
        </p:txBody>
      </p:sp>
      <p:pic>
        <p:nvPicPr>
          <p:cNvPr id="5" name="cst_single_final_s11.png" descr="/home/user/fyp-mimo-antenna-metasurface/presentation/deck/.cache/cst_single_final_s11_0_64_2178_959.png">    </p:cNvPr>
          <p:cNvPicPr>
            <a:picLocks noChangeAspect="1"/>
          </p:cNvPicPr>
          <p:nvPr/>
        </p:nvPicPr>
        <p:blipFill>
          <a:blip r:embed="rId1"/>
          <a:stretch>
            <a:fillRect/>
          </a:stretch>
        </p:blipFill>
        <p:spPr>
          <a:xfrm>
            <a:off x="548640" y="1664208"/>
            <a:ext cx="5006723" cy="2057400"/>
          </a:xfrm>
          <a:prstGeom prst="rect">
            <a:avLst/>
          </a:prstGeom>
        </p:spPr>
      </p:pic>
      <p:sp>
        <p:nvSpPr>
          <p:cNvPr id="6" name="Shape 2"/>
          <p:cNvSpPr/>
          <p:nvPr/>
        </p:nvSpPr>
        <p:spPr>
          <a:xfrm>
            <a:off x="1290717" y="1737769"/>
            <a:ext cx="3634808" cy="1822925"/>
          </a:xfrm>
          <a:prstGeom prst="rect">
            <a:avLst/>
          </a:prstGeom>
          <a:solidFill>
            <a:srgbClr val="2E7D5B">
              <a:alpha val="15000"/>
            </a:srgbClr>
          </a:solidFill>
          <a:ln/>
        </p:spPr>
      </p:sp>
      <p:sp>
        <p:nvSpPr>
          <p:cNvPr id="7" name="Text 3"/>
          <p:cNvSpPr txBox="1"/>
          <p:nvPr/>
        </p:nvSpPr>
        <p:spPr>
          <a:xfrm>
            <a:off x="548640" y="3858768"/>
            <a:ext cx="6172200" cy="292608"/>
          </a:xfrm>
          <a:prstGeom prst="rect">
            <a:avLst/>
          </a:prstGeom>
          <a:noFill/>
          <a:ln/>
        </p:spPr>
        <p:txBody>
          <a:bodyPr wrap="square" lIns="0" tIns="0" rIns="0" bIns="0" rtlCol="0" anchor="t"/>
          <a:lstStyle/>
          <a:p>
            <a:pPr algn="l" indent="0" marL="0">
              <a:lnSpc>
                <a:spcPct val="100000"/>
              </a:lnSpc>
              <a:buNone/>
            </a:pPr>
            <a:r>
              <a:rPr lang="en-US" sz="1500" b="1" dirty="0">
                <a:solidFill>
                  <a:srgbClr val="17324D"/>
                </a:solidFill>
                <a:latin typeface="Calibri" pitchFamily="34" charset="0"/>
                <a:ea typeface="Calibri" pitchFamily="34" charset="-122"/>
                <a:cs typeface="Calibri" pitchFamily="34" charset="-120"/>
              </a:rPr>
              <a:t>Antenna + metasurface (2 mm gap)</a:t>
            </a:r>
            <a:endParaRPr lang="en-US" sz="1500" dirty="0"/>
          </a:p>
        </p:txBody>
      </p:sp>
      <p:pic>
        <p:nvPicPr>
          <p:cNvPr id="8" name="cst_single_ms_s11.png" descr="/home/user/fyp-mimo-antenna-metasurface/presentation/deck/.cache/cst_single_ms_s11_0_64_2178_959.png">    </p:cNvPr>
          <p:cNvPicPr>
            <a:picLocks noChangeAspect="1"/>
          </p:cNvPicPr>
          <p:nvPr/>
        </p:nvPicPr>
        <p:blipFill>
          <a:blip r:embed="rId2"/>
          <a:stretch>
            <a:fillRect/>
          </a:stretch>
        </p:blipFill>
        <p:spPr>
          <a:xfrm>
            <a:off x="548640" y="4151376"/>
            <a:ext cx="5006723" cy="2057400"/>
          </a:xfrm>
          <a:prstGeom prst="rect">
            <a:avLst/>
          </a:prstGeom>
        </p:spPr>
      </p:pic>
      <p:sp>
        <p:nvSpPr>
          <p:cNvPr id="9" name="Shape 4"/>
          <p:cNvSpPr/>
          <p:nvPr/>
        </p:nvSpPr>
        <p:spPr>
          <a:xfrm>
            <a:off x="1247466" y="4224937"/>
            <a:ext cx="4284909" cy="1822925"/>
          </a:xfrm>
          <a:prstGeom prst="rect">
            <a:avLst/>
          </a:prstGeom>
          <a:solidFill>
            <a:srgbClr val="2E7D5B">
              <a:alpha val="12000"/>
            </a:srgbClr>
          </a:solidFill>
          <a:ln/>
        </p:spPr>
      </p:sp>
      <p:sp>
        <p:nvSpPr>
          <p:cNvPr id="10" name="Shape 5"/>
          <p:cNvSpPr/>
          <p:nvPr/>
        </p:nvSpPr>
        <p:spPr>
          <a:xfrm>
            <a:off x="1515273" y="4224937"/>
            <a:ext cx="107123" cy="1822925"/>
          </a:xfrm>
          <a:prstGeom prst="rect">
            <a:avLst/>
          </a:prstGeom>
          <a:solidFill>
            <a:srgbClr val="C0392B">
              <a:alpha val="45000"/>
            </a:srgbClr>
          </a:solidFill>
          <a:ln/>
        </p:spPr>
      </p:sp>
      <p:sp>
        <p:nvSpPr>
          <p:cNvPr id="11" name="Shape 6"/>
          <p:cNvSpPr/>
          <p:nvPr/>
        </p:nvSpPr>
        <p:spPr>
          <a:xfrm>
            <a:off x="1916983" y="4224937"/>
            <a:ext cx="53561" cy="1822925"/>
          </a:xfrm>
          <a:prstGeom prst="rect">
            <a:avLst/>
          </a:prstGeom>
          <a:solidFill>
            <a:srgbClr val="C0392B">
              <a:alpha val="45000"/>
            </a:srgbClr>
          </a:solidFill>
          <a:ln/>
        </p:spPr>
      </p:sp>
      <p:sp>
        <p:nvSpPr>
          <p:cNvPr id="12" name="Shape 7"/>
          <p:cNvSpPr/>
          <p:nvPr/>
        </p:nvSpPr>
        <p:spPr>
          <a:xfrm>
            <a:off x="2077667" y="4224937"/>
            <a:ext cx="133903" cy="1822925"/>
          </a:xfrm>
          <a:prstGeom prst="rect">
            <a:avLst/>
          </a:prstGeom>
          <a:solidFill>
            <a:srgbClr val="C0392B">
              <a:alpha val="45000"/>
            </a:srgbClr>
          </a:solidFill>
          <a:ln/>
        </p:spPr>
      </p:sp>
      <p:sp>
        <p:nvSpPr>
          <p:cNvPr id="13" name="Shape 8"/>
          <p:cNvSpPr/>
          <p:nvPr/>
        </p:nvSpPr>
        <p:spPr>
          <a:xfrm>
            <a:off x="5966843" y="1463040"/>
            <a:ext cx="5676212" cy="1371600"/>
          </a:xfrm>
          <a:prstGeom prst="roundRect">
            <a:avLst>
              <a:gd name="adj" fmla="val 8000"/>
            </a:avLst>
          </a:prstGeom>
          <a:solidFill>
            <a:srgbClr val="E6F2EC"/>
          </a:solidFill>
          <a:ln/>
        </p:spPr>
      </p:sp>
      <p:sp>
        <p:nvSpPr>
          <p:cNvPr id="14" name="Shape 9"/>
          <p:cNvSpPr/>
          <p:nvPr/>
        </p:nvSpPr>
        <p:spPr>
          <a:xfrm>
            <a:off x="6195443" y="1691640"/>
            <a:ext cx="566928" cy="566928"/>
          </a:xfrm>
          <a:prstGeom prst="ellipse">
            <a:avLst/>
          </a:prstGeom>
          <a:solidFill>
            <a:srgbClr val="2E7D5B"/>
          </a:solidFill>
          <a:ln/>
        </p:spPr>
      </p:sp>
      <p:pic>
        <p:nvPicPr>
          <p:cNvPr id="15" name="Image 2" descr="preencoded.png">    </p:cNvPr>
          <p:cNvPicPr>
            <a:picLocks noChangeAspect="1"/>
          </p:cNvPicPr>
          <p:nvPr/>
        </p:nvPicPr>
        <p:blipFill>
          <a:blip r:embed="rId3"/>
          <a:stretch>
            <a:fillRect/>
          </a:stretch>
        </p:blipFill>
        <p:spPr>
          <a:xfrm>
            <a:off x="6320167" y="1816364"/>
            <a:ext cx="317480" cy="317480"/>
          </a:xfrm>
          <a:prstGeom prst="rect">
            <a:avLst/>
          </a:prstGeom>
        </p:spPr>
      </p:pic>
      <p:sp>
        <p:nvSpPr>
          <p:cNvPr id="16" name="Text 10"/>
          <p:cNvSpPr txBox="1"/>
          <p:nvPr/>
        </p:nvSpPr>
        <p:spPr>
          <a:xfrm>
            <a:off x="6926963" y="1645920"/>
            <a:ext cx="4578932" cy="411480"/>
          </a:xfrm>
          <a:prstGeom prst="rect">
            <a:avLst/>
          </a:prstGeom>
          <a:noFill/>
          <a:ln/>
        </p:spPr>
        <p:txBody>
          <a:bodyPr wrap="square" lIns="0" tIns="0" rIns="0" bIns="0" rtlCol="0" anchor="t"/>
          <a:lstStyle/>
          <a:p>
            <a:pPr algn="l" indent="0" marL="0">
              <a:lnSpc>
                <a:spcPct val="100000"/>
              </a:lnSpc>
              <a:buNone/>
            </a:pPr>
            <a:r>
              <a:rPr lang="en-US" sz="1900" b="1" dirty="0">
                <a:solidFill>
                  <a:srgbClr val="2E7D5B"/>
                </a:solidFill>
                <a:latin typeface="Calibri" pitchFamily="34" charset="0"/>
                <a:ea typeface="Calibri" pitchFamily="34" charset="-122"/>
                <a:cs typeface="Calibri" pitchFamily="34" charset="-120"/>
              </a:rPr>
              <a:t>Wider band</a:t>
            </a:r>
            <a:endParaRPr lang="en-US" sz="1900" dirty="0"/>
          </a:p>
        </p:txBody>
      </p:sp>
      <p:sp>
        <p:nvSpPr>
          <p:cNvPr id="17" name="Text 11"/>
          <p:cNvSpPr txBox="1"/>
          <p:nvPr/>
        </p:nvSpPr>
        <p:spPr>
          <a:xfrm>
            <a:off x="6926963" y="2057400"/>
            <a:ext cx="4578932"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about 2.0 → 18 GHz</a:t>
            </a:r>
            <a:endParaRPr lang="en-US" sz="1500" dirty="0"/>
          </a:p>
        </p:txBody>
      </p:sp>
      <p:sp>
        <p:nvSpPr>
          <p:cNvPr id="18" name="Shape 12"/>
          <p:cNvSpPr/>
          <p:nvPr/>
        </p:nvSpPr>
        <p:spPr>
          <a:xfrm>
            <a:off x="5966843" y="2971800"/>
            <a:ext cx="5676212" cy="1371600"/>
          </a:xfrm>
          <a:prstGeom prst="roundRect">
            <a:avLst>
              <a:gd name="adj" fmla="val 8000"/>
            </a:avLst>
          </a:prstGeom>
          <a:solidFill>
            <a:srgbClr val="F9E7E5"/>
          </a:solidFill>
          <a:ln/>
        </p:spPr>
      </p:sp>
      <p:sp>
        <p:nvSpPr>
          <p:cNvPr id="19" name="Shape 13"/>
          <p:cNvSpPr/>
          <p:nvPr/>
        </p:nvSpPr>
        <p:spPr>
          <a:xfrm>
            <a:off x="6195443" y="3200400"/>
            <a:ext cx="566928" cy="566928"/>
          </a:xfrm>
          <a:prstGeom prst="ellipse">
            <a:avLst/>
          </a:prstGeom>
          <a:solidFill>
            <a:srgbClr val="C0392B"/>
          </a:solidFill>
          <a:ln/>
        </p:spPr>
      </p:sp>
      <p:pic>
        <p:nvPicPr>
          <p:cNvPr id="20" name="Image 3" descr="preencoded.png">    </p:cNvPr>
          <p:cNvPicPr>
            <a:picLocks noChangeAspect="1"/>
          </p:cNvPicPr>
          <p:nvPr/>
        </p:nvPicPr>
        <p:blipFill>
          <a:blip r:embed="rId4"/>
          <a:stretch>
            <a:fillRect/>
          </a:stretch>
        </p:blipFill>
        <p:spPr>
          <a:xfrm>
            <a:off x="6320167" y="3325124"/>
            <a:ext cx="317480" cy="317480"/>
          </a:xfrm>
          <a:prstGeom prst="rect">
            <a:avLst/>
          </a:prstGeom>
        </p:spPr>
      </p:pic>
      <p:sp>
        <p:nvSpPr>
          <p:cNvPr id="21" name="Text 14"/>
          <p:cNvSpPr txBox="1"/>
          <p:nvPr/>
        </p:nvSpPr>
        <p:spPr>
          <a:xfrm>
            <a:off x="6926963" y="3154680"/>
            <a:ext cx="4578932" cy="411480"/>
          </a:xfrm>
          <a:prstGeom prst="rect">
            <a:avLst/>
          </a:prstGeom>
          <a:noFill/>
          <a:ln/>
        </p:spPr>
        <p:txBody>
          <a:bodyPr wrap="square" lIns="0" tIns="0" rIns="0" bIns="0" rtlCol="0" anchor="t"/>
          <a:lstStyle/>
          <a:p>
            <a:pPr algn="l" indent="0" marL="0">
              <a:lnSpc>
                <a:spcPct val="100000"/>
              </a:lnSpc>
              <a:buNone/>
            </a:pPr>
            <a:r>
              <a:rPr lang="en-US" sz="1900" b="1" dirty="0">
                <a:solidFill>
                  <a:srgbClr val="C0392B"/>
                </a:solidFill>
                <a:latin typeface="Calibri" pitchFamily="34" charset="0"/>
                <a:ea typeface="Calibri" pitchFamily="34" charset="-122"/>
                <a:cs typeface="Calibri" pitchFamily="34" charset="-120"/>
              </a:rPr>
              <a:t>3 narrow gaps</a:t>
            </a:r>
            <a:endParaRPr lang="en-US" sz="1900" dirty="0"/>
          </a:p>
        </p:txBody>
      </p:sp>
      <p:sp>
        <p:nvSpPr>
          <p:cNvPr id="22" name="Text 15"/>
          <p:cNvSpPr txBox="1"/>
          <p:nvPr/>
        </p:nvSpPr>
        <p:spPr>
          <a:xfrm>
            <a:off x="6926963" y="3566160"/>
            <a:ext cx="4578932"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3.0–3.4 · 4.5–4.7 · 5.1–5.6 GHz</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(worst −6.6 dB near 3.1 GHz)</a:t>
            </a:r>
            <a:endParaRPr lang="en-US" sz="1500" dirty="0"/>
          </a:p>
        </p:txBody>
      </p:sp>
      <p:sp>
        <p:nvSpPr>
          <p:cNvPr id="23" name="Shape 16"/>
          <p:cNvSpPr/>
          <p:nvPr/>
        </p:nvSpPr>
        <p:spPr>
          <a:xfrm>
            <a:off x="5966843" y="4480560"/>
            <a:ext cx="5676212" cy="1371600"/>
          </a:xfrm>
          <a:prstGeom prst="roundRect">
            <a:avLst>
              <a:gd name="adj" fmla="val 8000"/>
            </a:avLst>
          </a:prstGeom>
          <a:solidFill>
            <a:srgbClr val="F7EDE3"/>
          </a:solidFill>
          <a:ln/>
        </p:spPr>
      </p:sp>
      <p:sp>
        <p:nvSpPr>
          <p:cNvPr id="24" name="Shape 17"/>
          <p:cNvSpPr/>
          <p:nvPr/>
        </p:nvSpPr>
        <p:spPr>
          <a:xfrm>
            <a:off x="6195443" y="4709160"/>
            <a:ext cx="566928" cy="566928"/>
          </a:xfrm>
          <a:prstGeom prst="ellipse">
            <a:avLst/>
          </a:prstGeom>
          <a:solidFill>
            <a:srgbClr val="B8651B"/>
          </a:solidFill>
          <a:ln/>
        </p:spPr>
      </p:sp>
      <p:pic>
        <p:nvPicPr>
          <p:cNvPr id="25" name="Image 4" descr="preencoded.png">    </p:cNvPr>
          <p:cNvPicPr>
            <a:picLocks noChangeAspect="1"/>
          </p:cNvPicPr>
          <p:nvPr/>
        </p:nvPicPr>
        <p:blipFill>
          <a:blip r:embed="rId5"/>
          <a:stretch>
            <a:fillRect/>
          </a:stretch>
        </p:blipFill>
        <p:spPr>
          <a:xfrm>
            <a:off x="6320167" y="4833884"/>
            <a:ext cx="317480" cy="317480"/>
          </a:xfrm>
          <a:prstGeom prst="rect">
            <a:avLst/>
          </a:prstGeom>
        </p:spPr>
      </p:pic>
      <p:sp>
        <p:nvSpPr>
          <p:cNvPr id="26" name="Text 18"/>
          <p:cNvSpPr txBox="1"/>
          <p:nvPr/>
        </p:nvSpPr>
        <p:spPr>
          <a:xfrm>
            <a:off x="6926963" y="4663440"/>
            <a:ext cx="4578932" cy="411480"/>
          </a:xfrm>
          <a:prstGeom prst="rect">
            <a:avLst/>
          </a:prstGeom>
          <a:noFill/>
          <a:ln/>
        </p:spPr>
        <p:txBody>
          <a:bodyPr wrap="square" lIns="0" tIns="0" rIns="0" bIns="0" rtlCol="0" anchor="t"/>
          <a:lstStyle/>
          <a:p>
            <a:pPr algn="l" indent="0" marL="0">
              <a:lnSpc>
                <a:spcPct val="100000"/>
              </a:lnSpc>
              <a:buNone/>
            </a:pPr>
            <a:r>
              <a:rPr lang="en-US" sz="1900" b="1" dirty="0">
                <a:solidFill>
                  <a:srgbClr val="B8651B"/>
                </a:solidFill>
                <a:latin typeface="Calibri" pitchFamily="34" charset="0"/>
                <a:ea typeface="Calibri" pitchFamily="34" charset="-122"/>
                <a:cs typeface="Calibri" pitchFamily="34" charset="-120"/>
              </a:rPr>
              <a:t>Next: tune</a:t>
            </a:r>
            <a:endParaRPr lang="en-US" sz="1900" dirty="0"/>
          </a:p>
        </p:txBody>
      </p:sp>
      <p:sp>
        <p:nvSpPr>
          <p:cNvPr id="27" name="Text 19"/>
          <p:cNvSpPr txBox="1"/>
          <p:nvPr/>
        </p:nvSpPr>
        <p:spPr>
          <a:xfrm>
            <a:off x="6926963" y="5074920"/>
            <a:ext cx="4578932"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air gap, ring size and ground position</a:t>
            </a:r>
            <a:endParaRPr lang="en-US" sz="1500" dirty="0"/>
          </a:p>
        </p:txBody>
      </p:sp>
      <p:sp>
        <p:nvSpPr>
          <p:cNvPr id="28" name="Text 20"/>
          <p:cNvSpPr txBox="1"/>
          <p:nvPr/>
        </p:nvSpPr>
        <p:spPr>
          <a:xfrm>
            <a:off x="5966843" y="6007608"/>
            <a:ext cx="5676212" cy="274320"/>
          </a:xfrm>
          <a:prstGeom prst="rect">
            <a:avLst/>
          </a:prstGeom>
          <a:noFill/>
          <a:ln/>
        </p:spPr>
        <p:txBody>
          <a:bodyPr wrap="square" lIns="0" tIns="0" rIns="0" bIns="0" rtlCol="0" anchor="t"/>
          <a:lstStyle/>
          <a:p>
            <a:pPr algn="l" indent="0" marL="0">
              <a:lnSpc>
                <a:spcPct val="100000"/>
              </a:lnSpc>
              <a:buNone/>
            </a:pPr>
            <a:r>
              <a:rPr lang="en-US" sz="1200" dirty="0">
                <a:solidFill>
                  <a:srgbClr val="8A94A6"/>
                </a:solidFill>
                <a:latin typeface="Calibri" pitchFamily="34" charset="0"/>
                <a:ea typeface="Calibri" pitchFamily="34" charset="-122"/>
                <a:cs typeface="Calibri" pitchFamily="34" charset="-120"/>
              </a:rPr>
              <a:t>18 GHz is the end of the simulated range · gain: next slide</a:t>
            </a:r>
            <a:endParaRPr lang="en-US" sz="1200" dirty="0"/>
          </a:p>
        </p:txBody>
      </p:sp>
      <p:sp>
        <p:nvSpPr>
          <p:cNvPr id="29"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GAIN COMPARISON</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Metasurface raises the directivity: 3.7 </a:t>
            </a:r>
            <a:pPr algn="l" indent="0" marL="0">
              <a:buNone/>
            </a:pPr>
            <a:r>
              <a:rPr lang="en-US" sz="3400" b="1" dirty="0">
                <a:solidFill>
                  <a:srgbClr val="17324D"/>
                </a:solidFill>
                <a:latin typeface="Calibri" pitchFamily="34" charset="0"/>
                <a:ea typeface="Calibri" pitchFamily="34" charset="-122"/>
                <a:cs typeface="Calibri" pitchFamily="34" charset="-120"/>
              </a:rPr>
              <a:t>→</a:t>
            </a:r>
            <a:pPr algn="l" indent="0" marL="0">
              <a:buNone/>
            </a:pPr>
            <a:r>
              <a:rPr lang="en-US" sz="3400" b="1" dirty="0">
                <a:solidFill>
                  <a:srgbClr val="17324D"/>
                </a:solidFill>
                <a:latin typeface="Cambria" pitchFamily="34" charset="0"/>
                <a:ea typeface="Cambria" pitchFamily="34" charset="-122"/>
                <a:cs typeface="Cambria" pitchFamily="34" charset="-120"/>
              </a:rPr>
              <a:t> 8.8 dBi</a:t>
            </a:r>
            <a:endParaRPr lang="en-US" sz="3400" dirty="0"/>
          </a:p>
        </p:txBody>
      </p:sp>
      <p:pic>
        <p:nvPicPr>
          <p:cNvPr id="5" name="fig_directivity_compare_deck.png" descr="/home/user/fyp-mimo-antenna-metasurface/figures/fig_directivity_compare_deck.png">    </p:cNvPr>
          <p:cNvPicPr>
            <a:picLocks noChangeAspect="1"/>
          </p:cNvPicPr>
          <p:nvPr/>
        </p:nvPicPr>
        <p:blipFill>
          <a:blip r:embed="rId1"/>
          <a:stretch>
            <a:fillRect/>
          </a:stretch>
        </p:blipFill>
        <p:spPr>
          <a:xfrm>
            <a:off x="548640" y="1417320"/>
            <a:ext cx="7233109" cy="4754880"/>
          </a:xfrm>
          <a:prstGeom prst="rect">
            <a:avLst/>
          </a:prstGeom>
        </p:spPr>
      </p:pic>
      <p:sp>
        <p:nvSpPr>
          <p:cNvPr id="6" name="Shape 2"/>
          <p:cNvSpPr/>
          <p:nvPr/>
        </p:nvSpPr>
        <p:spPr>
          <a:xfrm>
            <a:off x="8101789" y="1463040"/>
            <a:ext cx="3541266" cy="1298448"/>
          </a:xfrm>
          <a:prstGeom prst="roundRect">
            <a:avLst>
              <a:gd name="adj" fmla="val 8451"/>
            </a:avLst>
          </a:prstGeom>
          <a:solidFill>
            <a:srgbClr val="E6F2EC"/>
          </a:solidFill>
          <a:ln/>
        </p:spPr>
      </p:sp>
      <p:sp>
        <p:nvSpPr>
          <p:cNvPr id="7" name="Shape 3"/>
          <p:cNvSpPr/>
          <p:nvPr/>
        </p:nvSpPr>
        <p:spPr>
          <a:xfrm>
            <a:off x="8302957" y="1645920"/>
            <a:ext cx="512064" cy="512064"/>
          </a:xfrm>
          <a:prstGeom prst="ellipse">
            <a:avLst/>
          </a:prstGeom>
          <a:solidFill>
            <a:srgbClr val="2E7D5B"/>
          </a:solidFill>
          <a:ln/>
        </p:spPr>
      </p:sp>
      <p:pic>
        <p:nvPicPr>
          <p:cNvPr id="8" name="Image 1" descr="preencoded.png">    </p:cNvPr>
          <p:cNvPicPr>
            <a:picLocks noChangeAspect="1"/>
          </p:cNvPicPr>
          <p:nvPr/>
        </p:nvPicPr>
        <p:blipFill>
          <a:blip r:embed="rId2"/>
          <a:stretch>
            <a:fillRect/>
          </a:stretch>
        </p:blipFill>
        <p:spPr>
          <a:xfrm>
            <a:off x="8415611" y="1758574"/>
            <a:ext cx="286756" cy="286756"/>
          </a:xfrm>
          <a:prstGeom prst="rect">
            <a:avLst/>
          </a:prstGeom>
        </p:spPr>
      </p:pic>
      <p:sp>
        <p:nvSpPr>
          <p:cNvPr id="9" name="Text 4"/>
          <p:cNvSpPr txBox="1"/>
          <p:nvPr/>
        </p:nvSpPr>
        <p:spPr>
          <a:xfrm>
            <a:off x="8943037" y="1627632"/>
            <a:ext cx="2654298" cy="548640"/>
          </a:xfrm>
          <a:prstGeom prst="rect">
            <a:avLst/>
          </a:prstGeom>
          <a:noFill/>
          <a:ln/>
        </p:spPr>
        <p:txBody>
          <a:bodyPr wrap="square" lIns="0" tIns="0" rIns="0" bIns="0" rtlCol="0" anchor="ctr"/>
          <a:lstStyle/>
          <a:p>
            <a:pPr algn="l" indent="0" marL="0">
              <a:lnSpc>
                <a:spcPct val="100000"/>
              </a:lnSpc>
              <a:buNone/>
            </a:pPr>
            <a:r>
              <a:rPr lang="en-US" sz="1800" b="1" dirty="0">
                <a:solidFill>
                  <a:srgbClr val="2E7D5B"/>
                </a:solidFill>
                <a:latin typeface="Calibri" pitchFamily="34" charset="0"/>
                <a:ea typeface="Calibri" pitchFamily="34" charset="-122"/>
                <a:cs typeface="Calibri" pitchFamily="34" charset="-120"/>
              </a:rPr>
              <a:t>Peak 3.7 → 8.8 dBi</a:t>
            </a:r>
            <a:endParaRPr lang="en-US" sz="1800" dirty="0"/>
          </a:p>
        </p:txBody>
      </p:sp>
      <p:sp>
        <p:nvSpPr>
          <p:cNvPr id="10" name="Text 5"/>
          <p:cNvSpPr txBox="1"/>
          <p:nvPr/>
        </p:nvSpPr>
        <p:spPr>
          <a:xfrm>
            <a:off x="8943037" y="2194560"/>
            <a:ext cx="2654298" cy="5029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+5.1 dB with the metasurface</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(peak now at 5.9 GHz)</a:t>
            </a:r>
            <a:endParaRPr lang="en-US" sz="1500" dirty="0"/>
          </a:p>
        </p:txBody>
      </p:sp>
      <p:sp>
        <p:nvSpPr>
          <p:cNvPr id="11" name="Shape 6"/>
          <p:cNvSpPr/>
          <p:nvPr/>
        </p:nvSpPr>
        <p:spPr>
          <a:xfrm>
            <a:off x="8101789" y="2880360"/>
            <a:ext cx="3541266" cy="1298448"/>
          </a:xfrm>
          <a:prstGeom prst="roundRect">
            <a:avLst>
              <a:gd name="adj" fmla="val 8451"/>
            </a:avLst>
          </a:prstGeom>
          <a:solidFill>
            <a:srgbClr val="F7EDE3"/>
          </a:solidFill>
          <a:ln/>
        </p:spPr>
      </p:sp>
      <p:sp>
        <p:nvSpPr>
          <p:cNvPr id="12" name="Shape 7"/>
          <p:cNvSpPr/>
          <p:nvPr/>
        </p:nvSpPr>
        <p:spPr>
          <a:xfrm>
            <a:off x="8302957" y="3063240"/>
            <a:ext cx="512064" cy="512064"/>
          </a:xfrm>
          <a:prstGeom prst="ellipse">
            <a:avLst/>
          </a:prstGeom>
          <a:solidFill>
            <a:srgbClr val="B8651B"/>
          </a:solidFill>
          <a:ln/>
        </p:spPr>
      </p:sp>
      <p:pic>
        <p:nvPicPr>
          <p:cNvPr id="13" name="Image 2" descr="preencoded.png">    </p:cNvPr>
          <p:cNvPicPr>
            <a:picLocks noChangeAspect="1"/>
          </p:cNvPicPr>
          <p:nvPr/>
        </p:nvPicPr>
        <p:blipFill>
          <a:blip r:embed="rId3"/>
          <a:stretch>
            <a:fillRect/>
          </a:stretch>
        </p:blipFill>
        <p:spPr>
          <a:xfrm>
            <a:off x="8415611" y="3175894"/>
            <a:ext cx="286756" cy="286756"/>
          </a:xfrm>
          <a:prstGeom prst="rect">
            <a:avLst/>
          </a:prstGeom>
        </p:spPr>
      </p:pic>
      <p:sp>
        <p:nvSpPr>
          <p:cNvPr id="14" name="Text 8"/>
          <p:cNvSpPr txBox="1"/>
          <p:nvPr/>
        </p:nvSpPr>
        <p:spPr>
          <a:xfrm>
            <a:off x="8943037" y="3044952"/>
            <a:ext cx="2654298" cy="548640"/>
          </a:xfrm>
          <a:prstGeom prst="rect">
            <a:avLst/>
          </a:prstGeom>
          <a:noFill/>
          <a:ln/>
        </p:spPr>
        <p:txBody>
          <a:bodyPr wrap="square" lIns="0" tIns="0" rIns="0" bIns="0" rtlCol="0" anchor="ctr"/>
          <a:lstStyle/>
          <a:p>
            <a:pPr algn="l" indent="0" marL="0">
              <a:lnSpc>
                <a:spcPct val="100000"/>
              </a:lnSpc>
              <a:buNone/>
            </a:pPr>
            <a:r>
              <a:rPr lang="en-US" sz="1800" b="1" dirty="0">
                <a:solidFill>
                  <a:srgbClr val="B8651B"/>
                </a:solidFill>
                <a:latin typeface="Calibri" pitchFamily="34" charset="0"/>
                <a:ea typeface="Calibri" pitchFamily="34" charset="-122"/>
                <a:cs typeface="Calibri" pitchFamily="34" charset="-120"/>
              </a:rPr>
              <a:t>Higher on 78 % of 2–6 GHz</a:t>
            </a:r>
            <a:endParaRPr lang="en-US" sz="1800" dirty="0"/>
          </a:p>
        </p:txBody>
      </p:sp>
      <p:sp>
        <p:nvSpPr>
          <p:cNvPr id="15" name="Text 9"/>
          <p:cNvSpPr txBox="1"/>
          <p:nvPr/>
        </p:nvSpPr>
        <p:spPr>
          <a:xfrm>
            <a:off x="8943037" y="3611880"/>
            <a:ext cx="2654298" cy="5029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average 2.3 → 3.9 dBi (+1.6 dB)</a:t>
            </a:r>
            <a:endParaRPr lang="en-US" sz="1500" dirty="0"/>
          </a:p>
        </p:txBody>
      </p:sp>
      <p:sp>
        <p:nvSpPr>
          <p:cNvPr id="16" name="Shape 10"/>
          <p:cNvSpPr/>
          <p:nvPr/>
        </p:nvSpPr>
        <p:spPr>
          <a:xfrm>
            <a:off x="8101789" y="4297680"/>
            <a:ext cx="3541266" cy="1298448"/>
          </a:xfrm>
          <a:prstGeom prst="roundRect">
            <a:avLst>
              <a:gd name="adj" fmla="val 8451"/>
            </a:avLst>
          </a:prstGeom>
          <a:solidFill>
            <a:srgbClr val="F9E7E5"/>
          </a:solidFill>
          <a:ln/>
        </p:spPr>
      </p:sp>
      <p:sp>
        <p:nvSpPr>
          <p:cNvPr id="17" name="Shape 11"/>
          <p:cNvSpPr/>
          <p:nvPr/>
        </p:nvSpPr>
        <p:spPr>
          <a:xfrm>
            <a:off x="8302957" y="4480560"/>
            <a:ext cx="512064" cy="512064"/>
          </a:xfrm>
          <a:prstGeom prst="ellipse">
            <a:avLst/>
          </a:prstGeom>
          <a:solidFill>
            <a:srgbClr val="C0392B"/>
          </a:solidFill>
          <a:ln/>
        </p:spPr>
      </p:sp>
      <p:pic>
        <p:nvPicPr>
          <p:cNvPr id="18" name="Image 3" descr="preencoded.png">    </p:cNvPr>
          <p:cNvPicPr>
            <a:picLocks noChangeAspect="1"/>
          </p:cNvPicPr>
          <p:nvPr/>
        </p:nvPicPr>
        <p:blipFill>
          <a:blip r:embed="rId4"/>
          <a:stretch>
            <a:fillRect/>
          </a:stretch>
        </p:blipFill>
        <p:spPr>
          <a:xfrm>
            <a:off x="8415611" y="4593214"/>
            <a:ext cx="286756" cy="286756"/>
          </a:xfrm>
          <a:prstGeom prst="rect">
            <a:avLst/>
          </a:prstGeom>
        </p:spPr>
      </p:pic>
      <p:sp>
        <p:nvSpPr>
          <p:cNvPr id="19" name="Text 12"/>
          <p:cNvSpPr txBox="1"/>
          <p:nvPr/>
        </p:nvSpPr>
        <p:spPr>
          <a:xfrm>
            <a:off x="8943037" y="4462272"/>
            <a:ext cx="2654298" cy="548640"/>
          </a:xfrm>
          <a:prstGeom prst="rect">
            <a:avLst/>
          </a:prstGeom>
          <a:noFill/>
          <a:ln/>
        </p:spPr>
        <p:txBody>
          <a:bodyPr wrap="square" lIns="0" tIns="0" rIns="0" bIns="0" rtlCol="0" anchor="ctr"/>
          <a:lstStyle/>
          <a:p>
            <a:pPr algn="l" indent="0" marL="0">
              <a:lnSpc>
                <a:spcPct val="100000"/>
              </a:lnSpc>
              <a:buNone/>
            </a:pPr>
            <a:r>
              <a:rPr lang="en-US" sz="1800" b="1" dirty="0">
                <a:solidFill>
                  <a:srgbClr val="C0392B"/>
                </a:solidFill>
                <a:latin typeface="Calibri" pitchFamily="34" charset="0"/>
                <a:ea typeface="Calibri" pitchFamily="34" charset="-122"/>
                <a:cs typeface="Calibri" pitchFamily="34" charset="-120"/>
              </a:rPr>
              <a:t>Two dips</a:t>
            </a:r>
            <a:endParaRPr lang="en-US" sz="1800" dirty="0"/>
          </a:p>
        </p:txBody>
      </p:sp>
      <p:sp>
        <p:nvSpPr>
          <p:cNvPr id="20" name="Text 13"/>
          <p:cNvSpPr txBox="1"/>
          <p:nvPr/>
        </p:nvSpPr>
        <p:spPr>
          <a:xfrm>
            <a:off x="8943037" y="5029200"/>
            <a:ext cx="2654298" cy="5029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2.9–3.1 and 3.3–4.0 GHz</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(worst −3.1 dB at 3.0 GHz)</a:t>
            </a:r>
            <a:endParaRPr lang="en-US" sz="1500" dirty="0"/>
          </a:p>
        </p:txBody>
      </p:sp>
      <p:sp>
        <p:nvSpPr>
          <p:cNvPr id="21" name="Text 14"/>
          <p:cNvSpPr txBox="1"/>
          <p:nvPr/>
        </p:nvSpPr>
        <p:spPr>
          <a:xfrm>
            <a:off x="8101789" y="5669280"/>
            <a:ext cx="3541266" cy="548640"/>
          </a:xfrm>
          <a:prstGeom prst="rect">
            <a:avLst/>
          </a:prstGeom>
          <a:noFill/>
          <a:ln/>
        </p:spPr>
        <p:txBody>
          <a:bodyPr wrap="square" lIns="0" tIns="0" rIns="0" bIns="0" rtlCol="0" anchor="t"/>
          <a:lstStyle/>
          <a:p>
            <a:pPr algn="l" indent="0" marL="0">
              <a:lnSpc>
                <a:spcPct val="100000"/>
              </a:lnSpc>
              <a:buNone/>
            </a:pPr>
            <a:r>
              <a:rPr lang="en-US" sz="1100" dirty="0">
                <a:solidFill>
                  <a:srgbClr val="8A94A6"/>
                </a:solidFill>
                <a:latin typeface="Calibri" pitchFamily="34" charset="0"/>
                <a:ea typeface="Calibri" pitchFamily="34" charset="-122"/>
                <a:cs typeface="Calibri" pitchFamily="34" charset="-120"/>
              </a:rPr>
              <a:t>CST directivity, maximum in the φ = 0° plane</a:t>
            </a:r>
            <a:endParaRPr lang="en-US" sz="1100" dirty="0"/>
          </a:p>
          <a:p>
            <a:pPr algn="l" indent="0" marL="0">
              <a:lnSpc>
                <a:spcPct val="100000"/>
              </a:lnSpc>
              <a:buNone/>
            </a:pPr>
            <a:r>
              <a:rPr lang="en-US" sz="1100" dirty="0">
                <a:solidFill>
                  <a:srgbClr val="8A94A6"/>
                </a:solidFill>
                <a:latin typeface="Calibri" pitchFamily="34" charset="0"/>
                <a:ea typeface="Calibri" pitchFamily="34" charset="-122"/>
                <a:cs typeface="Calibri" pitchFamily="34" charset="-120"/>
              </a:rPr>
              <a:t>Metasurface run covers 1–6 GHz</a:t>
            </a:r>
            <a:endParaRPr lang="en-US" sz="1100" dirty="0"/>
          </a:p>
          <a:p>
            <a:pPr algn="l" indent="0" marL="0">
              <a:lnSpc>
                <a:spcPct val="100000"/>
              </a:lnSpc>
              <a:buNone/>
            </a:pPr>
            <a:r>
              <a:rPr lang="en-US" sz="1100" dirty="0">
                <a:solidFill>
                  <a:srgbClr val="8A94A6"/>
                </a:solidFill>
                <a:latin typeface="Calibri" pitchFamily="34" charset="0"/>
                <a:ea typeface="Calibri" pitchFamily="34" charset="-122"/>
                <a:cs typeface="Calibri" pitchFamily="34" charset="-120"/>
              </a:rPr>
              <a:t>Directivity = gain without losses; realized gain is next</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CHALLENGES &amp; FUTURE WORK</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What were the challenges, and what comes next</a:t>
            </a:r>
            <a:endParaRPr lang="en-US" sz="3400" dirty="0"/>
          </a:p>
        </p:txBody>
      </p:sp>
      <p:sp>
        <p:nvSpPr>
          <p:cNvPr id="5" name="Text 2"/>
          <p:cNvSpPr txBox="1"/>
          <p:nvPr/>
        </p:nvSpPr>
        <p:spPr>
          <a:xfrm>
            <a:off x="548640" y="1417320"/>
            <a:ext cx="4846320" cy="365760"/>
          </a:xfrm>
          <a:prstGeom prst="rect">
            <a:avLst/>
          </a:prstGeom>
          <a:noFill/>
          <a:ln/>
        </p:spPr>
        <p:txBody>
          <a:bodyPr wrap="square" lIns="0" tIns="0" rIns="0" bIns="0" rtlCol="0" anchor="t"/>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Challenges</a:t>
            </a:r>
            <a:endParaRPr lang="en-US" sz="2000" dirty="0"/>
          </a:p>
        </p:txBody>
      </p:sp>
      <p:sp>
        <p:nvSpPr>
          <p:cNvPr id="6" name="Shape 3"/>
          <p:cNvSpPr/>
          <p:nvPr/>
        </p:nvSpPr>
        <p:spPr>
          <a:xfrm>
            <a:off x="548640" y="1920240"/>
            <a:ext cx="548640" cy="548640"/>
          </a:xfrm>
          <a:prstGeom prst="ellipse">
            <a:avLst/>
          </a:prstGeom>
          <a:solidFill>
            <a:srgbClr val="C0392B"/>
          </a:solidFill>
          <a:ln/>
        </p:spPr>
      </p:sp>
      <p:pic>
        <p:nvPicPr>
          <p:cNvPr id="7" name="Image 0" descr="preencoded.png">    </p:cNvPr>
          <p:cNvPicPr>
            <a:picLocks noChangeAspect="1"/>
          </p:cNvPicPr>
          <p:nvPr/>
        </p:nvPicPr>
        <p:blipFill>
          <a:blip r:embed="rId1"/>
          <a:stretch>
            <a:fillRect/>
          </a:stretch>
        </p:blipFill>
        <p:spPr>
          <a:xfrm>
            <a:off x="669341" y="2040941"/>
            <a:ext cx="307238" cy="307238"/>
          </a:xfrm>
          <a:prstGeom prst="rect">
            <a:avLst/>
          </a:prstGeom>
        </p:spPr>
      </p:pic>
      <p:sp>
        <p:nvSpPr>
          <p:cNvPr id="8" name="Text 4"/>
          <p:cNvSpPr txBox="1"/>
          <p:nvPr/>
        </p:nvSpPr>
        <p:spPr>
          <a:xfrm>
            <a:off x="1261872" y="1874520"/>
            <a:ext cx="4114800" cy="868680"/>
          </a:xfrm>
          <a:prstGeom prst="rect">
            <a:avLst/>
          </a:prstGeom>
          <a:noFill/>
          <a:ln/>
        </p:spPr>
        <p:txBody>
          <a:bodyPr wrap="square" lIns="0" tIns="0" rIns="0" bIns="0" rtlCol="0" anchor="t"/>
          <a:lstStyle/>
          <a:p>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Long run times</a:t>
            </a:r>
            <a:endParaRPr lang="en-US" sz="1600" dirty="0"/>
          </a:p>
          <a:p>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antenna + metasurface needs a large mesh</a:t>
            </a:r>
            <a:endParaRPr lang="en-US" sz="1600" dirty="0"/>
          </a:p>
        </p:txBody>
      </p:sp>
      <p:sp>
        <p:nvSpPr>
          <p:cNvPr id="9" name="Shape 5"/>
          <p:cNvSpPr/>
          <p:nvPr/>
        </p:nvSpPr>
        <p:spPr>
          <a:xfrm>
            <a:off x="548640" y="2944368"/>
            <a:ext cx="548640" cy="548640"/>
          </a:xfrm>
          <a:prstGeom prst="ellipse">
            <a:avLst/>
          </a:prstGeom>
          <a:solidFill>
            <a:srgbClr val="C0392B"/>
          </a:solidFill>
          <a:ln/>
        </p:spPr>
      </p:sp>
      <p:pic>
        <p:nvPicPr>
          <p:cNvPr id="10" name="Image 1" descr="preencoded.png">    </p:cNvPr>
          <p:cNvPicPr>
            <a:picLocks noChangeAspect="1"/>
          </p:cNvPicPr>
          <p:nvPr/>
        </p:nvPicPr>
        <p:blipFill>
          <a:blip r:embed="rId2"/>
          <a:stretch>
            <a:fillRect/>
          </a:stretch>
        </p:blipFill>
        <p:spPr>
          <a:xfrm>
            <a:off x="669341" y="3065069"/>
            <a:ext cx="307238" cy="307238"/>
          </a:xfrm>
          <a:prstGeom prst="rect">
            <a:avLst/>
          </a:prstGeom>
        </p:spPr>
      </p:pic>
      <p:sp>
        <p:nvSpPr>
          <p:cNvPr id="11" name="Text 6"/>
          <p:cNvSpPr txBox="1"/>
          <p:nvPr/>
        </p:nvSpPr>
        <p:spPr>
          <a:xfrm>
            <a:off x="1261872" y="2898648"/>
            <a:ext cx="4114800" cy="868680"/>
          </a:xfrm>
          <a:prstGeom prst="rect">
            <a:avLst/>
          </a:prstGeom>
          <a:noFill/>
          <a:ln/>
        </p:spPr>
        <p:txBody>
          <a:bodyPr wrap="square" lIns="0" tIns="0" rIns="0" bIns="0" rtlCol="0" anchor="t"/>
          <a:lstStyle/>
          <a:p>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Sweep glitches</a:t>
            </a:r>
            <a:endParaRPr lang="en-US" sz="1600" dirty="0"/>
          </a:p>
          <a:p>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jumps near 4 and 6 GHz from too few frequency points → re-run</a:t>
            </a:r>
            <a:endParaRPr lang="en-US" sz="1600" dirty="0"/>
          </a:p>
        </p:txBody>
      </p:sp>
      <p:sp>
        <p:nvSpPr>
          <p:cNvPr id="12" name="Shape 7"/>
          <p:cNvSpPr/>
          <p:nvPr/>
        </p:nvSpPr>
        <p:spPr>
          <a:xfrm>
            <a:off x="548640" y="3968496"/>
            <a:ext cx="548640" cy="548640"/>
          </a:xfrm>
          <a:prstGeom prst="ellipse">
            <a:avLst/>
          </a:prstGeom>
          <a:solidFill>
            <a:srgbClr val="C0392B"/>
          </a:solidFill>
          <a:ln/>
        </p:spPr>
      </p:sp>
      <p:pic>
        <p:nvPicPr>
          <p:cNvPr id="13" name="Image 2" descr="preencoded.png">    </p:cNvPr>
          <p:cNvPicPr>
            <a:picLocks noChangeAspect="1"/>
          </p:cNvPicPr>
          <p:nvPr/>
        </p:nvPicPr>
        <p:blipFill>
          <a:blip r:embed="rId3"/>
          <a:stretch>
            <a:fillRect/>
          </a:stretch>
        </p:blipFill>
        <p:spPr>
          <a:xfrm>
            <a:off x="669341" y="4089197"/>
            <a:ext cx="307238" cy="307238"/>
          </a:xfrm>
          <a:prstGeom prst="rect">
            <a:avLst/>
          </a:prstGeom>
        </p:spPr>
      </p:pic>
      <p:sp>
        <p:nvSpPr>
          <p:cNvPr id="14" name="Text 8"/>
          <p:cNvSpPr txBox="1"/>
          <p:nvPr/>
        </p:nvSpPr>
        <p:spPr>
          <a:xfrm>
            <a:off x="1261872" y="3922776"/>
            <a:ext cx="4114800" cy="868680"/>
          </a:xfrm>
          <a:prstGeom prst="rect">
            <a:avLst/>
          </a:prstGeom>
          <a:noFill/>
          <a:ln/>
        </p:spPr>
        <p:txBody>
          <a:bodyPr wrap="square" lIns="0" tIns="0" rIns="0" bIns="0" rtlCol="0" anchor="t"/>
          <a:lstStyle/>
          <a:p>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Thin margin</a:t>
            </a:r>
            <a:endParaRPr lang="en-US" sz="1600" dirty="0"/>
          </a:p>
          <a:p>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only just below −10 dB near 6.5 and 12.2 GHz</a:t>
            </a:r>
            <a:endParaRPr lang="en-US" sz="1600" dirty="0"/>
          </a:p>
        </p:txBody>
      </p:sp>
      <p:sp>
        <p:nvSpPr>
          <p:cNvPr id="15" name="Shape 9"/>
          <p:cNvSpPr/>
          <p:nvPr/>
        </p:nvSpPr>
        <p:spPr>
          <a:xfrm>
            <a:off x="548640" y="4992624"/>
            <a:ext cx="548640" cy="548640"/>
          </a:xfrm>
          <a:prstGeom prst="ellipse">
            <a:avLst/>
          </a:prstGeom>
          <a:solidFill>
            <a:srgbClr val="C0392B"/>
          </a:solidFill>
          <a:ln/>
        </p:spPr>
      </p:sp>
      <p:pic>
        <p:nvPicPr>
          <p:cNvPr id="16" name="Image 3" descr="preencoded.png">    </p:cNvPr>
          <p:cNvPicPr>
            <a:picLocks noChangeAspect="1"/>
          </p:cNvPicPr>
          <p:nvPr/>
        </p:nvPicPr>
        <p:blipFill>
          <a:blip r:embed="rId4"/>
          <a:stretch>
            <a:fillRect/>
          </a:stretch>
        </p:blipFill>
        <p:spPr>
          <a:xfrm>
            <a:off x="669341" y="5113325"/>
            <a:ext cx="307238" cy="307238"/>
          </a:xfrm>
          <a:prstGeom prst="rect">
            <a:avLst/>
          </a:prstGeom>
        </p:spPr>
      </p:pic>
      <p:sp>
        <p:nvSpPr>
          <p:cNvPr id="17" name="Text 10"/>
          <p:cNvSpPr txBox="1"/>
          <p:nvPr/>
        </p:nvSpPr>
        <p:spPr>
          <a:xfrm>
            <a:off x="1261872" y="4946904"/>
            <a:ext cx="4114800" cy="868680"/>
          </a:xfrm>
          <a:prstGeom prst="rect">
            <a:avLst/>
          </a:prstGeom>
          <a:noFill/>
          <a:ln/>
        </p:spPr>
        <p:txBody>
          <a:bodyPr wrap="square" lIns="0" tIns="0" rIns="0" bIns="0" rtlCol="0" anchor="t"/>
          <a:lstStyle/>
          <a:p>
            <a:pPr algn="l" indent="0" marL="0">
              <a:lnSpc>
                <a:spcPct val="100000"/>
              </a:lnSpc>
              <a:buNone/>
            </a:pPr>
            <a:r>
              <a:rPr lang="en-US" sz="1600" b="1" dirty="0">
                <a:solidFill>
                  <a:srgbClr val="1F2328"/>
                </a:solidFill>
                <a:latin typeface="Calibri" pitchFamily="34" charset="0"/>
                <a:ea typeface="Calibri" pitchFamily="34" charset="-122"/>
                <a:cs typeface="Calibri" pitchFamily="34" charset="-120"/>
              </a:rPr>
              <a:t>Metasurface detuning</a:t>
            </a:r>
            <a:endParaRPr lang="en-US" sz="1600" dirty="0"/>
          </a:p>
          <a:p>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three narrow S</a:t>
            </a:r>
            <a:pPr algn="l" indent="0" marL="0">
              <a:lnSpc>
                <a:spcPct val="100000"/>
              </a:lnSpc>
              <a:buNone/>
            </a:pPr>
            <a:r>
              <a:rPr lang="en-US" sz="1400" baseline="-40000" dirty="0">
                <a:solidFill>
                  <a:srgbClr val="5B6472"/>
                </a:solidFill>
                <a:latin typeface="Calibri" pitchFamily="34" charset="0"/>
                <a:ea typeface="Calibri" pitchFamily="34" charset="-122"/>
                <a:cs typeface="Calibri" pitchFamily="34" charset="-120"/>
              </a:rPr>
              <a:t>11</a:t>
            </a:r>
            <a:pPr algn="l" indent="0" marL="0">
              <a:lnSpc>
                <a:spcPct val="100000"/>
              </a:lnSpc>
              <a:buNone/>
            </a:pPr>
            <a:r>
              <a:rPr lang="en-US" sz="1400" dirty="0">
                <a:solidFill>
                  <a:srgbClr val="5B6472"/>
                </a:solidFill>
                <a:latin typeface="Calibri" pitchFamily="34" charset="0"/>
                <a:ea typeface="Calibri" pitchFamily="34" charset="-122"/>
                <a:cs typeface="Calibri" pitchFamily="34" charset="-120"/>
              </a:rPr>
              <a:t> gaps (3.0–5.6 GHz) and two directivity dips near 3–4 GHz</a:t>
            </a:r>
            <a:endParaRPr lang="en-US" sz="1600" dirty="0"/>
          </a:p>
        </p:txBody>
      </p:sp>
      <p:sp>
        <p:nvSpPr>
          <p:cNvPr id="18" name="Shape 11"/>
          <p:cNvSpPr/>
          <p:nvPr/>
        </p:nvSpPr>
        <p:spPr>
          <a:xfrm>
            <a:off x="5806440" y="1463040"/>
            <a:ext cx="2781148" cy="3429000"/>
          </a:xfrm>
          <a:prstGeom prst="roundRect">
            <a:avLst>
              <a:gd name="adj" fmla="val 3945"/>
            </a:avLst>
          </a:prstGeom>
          <a:solidFill>
            <a:srgbClr val="F7EDE3"/>
          </a:solidFill>
          <a:ln/>
        </p:spPr>
      </p:sp>
      <p:sp>
        <p:nvSpPr>
          <p:cNvPr id="19" name="Text 12"/>
          <p:cNvSpPr txBox="1"/>
          <p:nvPr/>
        </p:nvSpPr>
        <p:spPr>
          <a:xfrm>
            <a:off x="6035040" y="1627632"/>
            <a:ext cx="2323948" cy="365760"/>
          </a:xfrm>
          <a:prstGeom prst="rect">
            <a:avLst/>
          </a:prstGeom>
          <a:noFill/>
          <a:ln/>
        </p:spPr>
        <p:txBody>
          <a:bodyPr wrap="square" lIns="0" tIns="0" rIns="0" bIns="0" rtlCol="0" anchor="t"/>
          <a:lstStyle/>
          <a:p>
            <a:pPr algn="l" indent="0" marL="0">
              <a:lnSpc>
                <a:spcPct val="100000"/>
              </a:lnSpc>
              <a:buNone/>
            </a:pPr>
            <a:r>
              <a:rPr lang="en-US" sz="1800" b="1" dirty="0">
                <a:solidFill>
                  <a:srgbClr val="B8651B"/>
                </a:solidFill>
                <a:latin typeface="Calibri" pitchFamily="34" charset="0"/>
                <a:ea typeface="Calibri" pitchFamily="34" charset="-122"/>
                <a:cs typeface="Calibri" pitchFamily="34" charset="-120"/>
              </a:rPr>
              <a:t>Remaining in this phase</a:t>
            </a:r>
            <a:endParaRPr lang="en-US" sz="1800" dirty="0"/>
          </a:p>
        </p:txBody>
      </p:sp>
      <p:sp>
        <p:nvSpPr>
          <p:cNvPr id="20" name="Shape 13"/>
          <p:cNvSpPr/>
          <p:nvPr/>
        </p:nvSpPr>
        <p:spPr>
          <a:xfrm>
            <a:off x="6035040" y="2194560"/>
            <a:ext cx="384048" cy="384048"/>
          </a:xfrm>
          <a:prstGeom prst="ellipse">
            <a:avLst/>
          </a:prstGeom>
          <a:solidFill>
            <a:srgbClr val="B8651B"/>
          </a:solidFill>
          <a:ln/>
        </p:spPr>
      </p:sp>
      <p:sp>
        <p:nvSpPr>
          <p:cNvPr id="21" name="Text 14"/>
          <p:cNvSpPr txBox="1"/>
          <p:nvPr/>
        </p:nvSpPr>
        <p:spPr>
          <a:xfrm>
            <a:off x="6035040"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15"/>
          <p:cNvSpPr txBox="1"/>
          <p:nvPr/>
        </p:nvSpPr>
        <p:spPr>
          <a:xfrm>
            <a:off x="6537960" y="213969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Realized gain over the whole 2–15 GHz band</a:t>
            </a:r>
            <a:endParaRPr lang="en-US" sz="1500" dirty="0"/>
          </a:p>
        </p:txBody>
      </p:sp>
      <p:sp>
        <p:nvSpPr>
          <p:cNvPr id="23" name="Shape 16"/>
          <p:cNvSpPr/>
          <p:nvPr/>
        </p:nvSpPr>
        <p:spPr>
          <a:xfrm>
            <a:off x="6035040" y="3063240"/>
            <a:ext cx="384048" cy="384048"/>
          </a:xfrm>
          <a:prstGeom prst="ellipse">
            <a:avLst/>
          </a:prstGeom>
          <a:solidFill>
            <a:srgbClr val="B8651B"/>
          </a:solidFill>
          <a:ln/>
        </p:spPr>
      </p:sp>
      <p:sp>
        <p:nvSpPr>
          <p:cNvPr id="24" name="Text 17"/>
          <p:cNvSpPr txBox="1"/>
          <p:nvPr/>
        </p:nvSpPr>
        <p:spPr>
          <a:xfrm>
            <a:off x="603504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18"/>
          <p:cNvSpPr txBox="1"/>
          <p:nvPr/>
        </p:nvSpPr>
        <p:spPr>
          <a:xfrm>
            <a:off x="6537960" y="300837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Tune the metasurface: close the S</a:t>
            </a:r>
            <a:pPr algn="l" indent="0" marL="0">
              <a:lnSpc>
                <a:spcPct val="100000"/>
              </a:lnSpc>
              <a:buNone/>
            </a:pPr>
            <a:r>
              <a:rPr lang="en-US" sz="1500" baseline="-40000" dirty="0">
                <a:solidFill>
                  <a:srgbClr val="1F2328"/>
                </a:solidFill>
                <a:latin typeface="Calibri" pitchFamily="34" charset="0"/>
                <a:ea typeface="Calibri" pitchFamily="34" charset="-122"/>
                <a:cs typeface="Calibri" pitchFamily="34" charset="-120"/>
              </a:rPr>
              <a:t>11</a:t>
            </a:r>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gaps and the directivity dips</a:t>
            </a:r>
            <a:endParaRPr lang="en-US" sz="1500" dirty="0"/>
          </a:p>
        </p:txBody>
      </p:sp>
      <p:sp>
        <p:nvSpPr>
          <p:cNvPr id="26" name="Shape 19"/>
          <p:cNvSpPr/>
          <p:nvPr/>
        </p:nvSpPr>
        <p:spPr>
          <a:xfrm>
            <a:off x="6035040" y="3931920"/>
            <a:ext cx="384048" cy="384048"/>
          </a:xfrm>
          <a:prstGeom prst="ellipse">
            <a:avLst/>
          </a:prstGeom>
          <a:solidFill>
            <a:srgbClr val="B8651B"/>
          </a:solidFill>
          <a:ln/>
        </p:spPr>
      </p:sp>
      <p:sp>
        <p:nvSpPr>
          <p:cNvPr id="27" name="Text 20"/>
          <p:cNvSpPr txBox="1"/>
          <p:nvPr/>
        </p:nvSpPr>
        <p:spPr>
          <a:xfrm>
            <a:off x="603504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1"/>
          <p:cNvSpPr txBox="1"/>
          <p:nvPr/>
        </p:nvSpPr>
        <p:spPr>
          <a:xfrm>
            <a:off x="6537960" y="387705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Radiation patterns at a few frequencies</a:t>
            </a:r>
            <a:endParaRPr lang="en-US" sz="1500" dirty="0"/>
          </a:p>
        </p:txBody>
      </p:sp>
      <p:sp>
        <p:nvSpPr>
          <p:cNvPr id="29" name="Shape 22"/>
          <p:cNvSpPr/>
          <p:nvPr/>
        </p:nvSpPr>
        <p:spPr>
          <a:xfrm>
            <a:off x="8861908" y="1463040"/>
            <a:ext cx="2781148" cy="3429000"/>
          </a:xfrm>
          <a:prstGeom prst="roundRect">
            <a:avLst>
              <a:gd name="adj" fmla="val 3945"/>
            </a:avLst>
          </a:prstGeom>
          <a:solidFill>
            <a:srgbClr val="E7EDF4"/>
          </a:solidFill>
          <a:ln/>
        </p:spPr>
      </p:sp>
      <p:sp>
        <p:nvSpPr>
          <p:cNvPr id="30" name="Text 23"/>
          <p:cNvSpPr txBox="1"/>
          <p:nvPr/>
        </p:nvSpPr>
        <p:spPr>
          <a:xfrm>
            <a:off x="9090508" y="1627632"/>
            <a:ext cx="2323948" cy="365760"/>
          </a:xfrm>
          <a:prstGeom prst="rect">
            <a:avLst/>
          </a:prstGeom>
          <a:noFill/>
          <a:ln/>
        </p:spPr>
        <p:txBody>
          <a:bodyPr wrap="square" lIns="0" tIns="0" rIns="0" bIns="0" rtlCol="0" anchor="t"/>
          <a:lstStyle/>
          <a:p>
            <a:pPr algn="l" indent="0" marL="0">
              <a:lnSpc>
                <a:spcPct val="100000"/>
              </a:lnSpc>
              <a:buNone/>
            </a:pPr>
            <a:r>
              <a:rPr lang="en-US" sz="1800" b="1" dirty="0">
                <a:solidFill>
                  <a:srgbClr val="17324D"/>
                </a:solidFill>
                <a:latin typeface="Calibri" pitchFamily="34" charset="0"/>
                <a:ea typeface="Calibri" pitchFamily="34" charset="-122"/>
                <a:cs typeface="Calibri" pitchFamily="34" charset="-120"/>
              </a:rPr>
              <a:t>Phase II</a:t>
            </a:r>
            <a:endParaRPr lang="en-US" sz="1800" dirty="0"/>
          </a:p>
        </p:txBody>
      </p:sp>
      <p:sp>
        <p:nvSpPr>
          <p:cNvPr id="31" name="Shape 24"/>
          <p:cNvSpPr/>
          <p:nvPr/>
        </p:nvSpPr>
        <p:spPr>
          <a:xfrm>
            <a:off x="9090508" y="2194560"/>
            <a:ext cx="384048" cy="384048"/>
          </a:xfrm>
          <a:prstGeom prst="ellipse">
            <a:avLst/>
          </a:prstGeom>
          <a:solidFill>
            <a:srgbClr val="17324D"/>
          </a:solidFill>
          <a:ln/>
        </p:spPr>
      </p:sp>
      <p:sp>
        <p:nvSpPr>
          <p:cNvPr id="32" name="Text 25"/>
          <p:cNvSpPr txBox="1"/>
          <p:nvPr/>
        </p:nvSpPr>
        <p:spPr>
          <a:xfrm>
            <a:off x="9090508" y="2194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26"/>
          <p:cNvSpPr txBox="1"/>
          <p:nvPr/>
        </p:nvSpPr>
        <p:spPr>
          <a:xfrm>
            <a:off x="9593428" y="213969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4-port MIMO (elements turned 90°) + metasurface</a:t>
            </a:r>
            <a:endParaRPr lang="en-US" sz="1500" dirty="0"/>
          </a:p>
        </p:txBody>
      </p:sp>
      <p:sp>
        <p:nvSpPr>
          <p:cNvPr id="34" name="Shape 27"/>
          <p:cNvSpPr/>
          <p:nvPr/>
        </p:nvSpPr>
        <p:spPr>
          <a:xfrm>
            <a:off x="9090508" y="3063240"/>
            <a:ext cx="384048" cy="384048"/>
          </a:xfrm>
          <a:prstGeom prst="ellipse">
            <a:avLst/>
          </a:prstGeom>
          <a:solidFill>
            <a:srgbClr val="17324D"/>
          </a:solidFill>
          <a:ln/>
        </p:spPr>
      </p:sp>
      <p:sp>
        <p:nvSpPr>
          <p:cNvPr id="35" name="Text 28"/>
          <p:cNvSpPr txBox="1"/>
          <p:nvPr/>
        </p:nvSpPr>
        <p:spPr>
          <a:xfrm>
            <a:off x="9090508"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6" name="Text 29"/>
          <p:cNvSpPr txBox="1"/>
          <p:nvPr/>
        </p:nvSpPr>
        <p:spPr>
          <a:xfrm>
            <a:off x="9593428" y="300837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Isolation and correlation (ECC) between ports</a:t>
            </a:r>
            <a:endParaRPr lang="en-US" sz="1500" dirty="0"/>
          </a:p>
        </p:txBody>
      </p:sp>
      <p:sp>
        <p:nvSpPr>
          <p:cNvPr id="37" name="Shape 30"/>
          <p:cNvSpPr/>
          <p:nvPr/>
        </p:nvSpPr>
        <p:spPr>
          <a:xfrm>
            <a:off x="9090508" y="3931920"/>
            <a:ext cx="384048" cy="384048"/>
          </a:xfrm>
          <a:prstGeom prst="ellipse">
            <a:avLst/>
          </a:prstGeom>
          <a:solidFill>
            <a:srgbClr val="17324D"/>
          </a:solidFill>
          <a:ln/>
        </p:spPr>
      </p:sp>
      <p:sp>
        <p:nvSpPr>
          <p:cNvPr id="38" name="Text 31"/>
          <p:cNvSpPr txBox="1"/>
          <p:nvPr/>
        </p:nvSpPr>
        <p:spPr>
          <a:xfrm>
            <a:off x="9090508"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9" name="Text 32"/>
          <p:cNvSpPr txBox="1"/>
          <p:nvPr/>
        </p:nvSpPr>
        <p:spPr>
          <a:xfrm>
            <a:off x="9593428" y="3877056"/>
            <a:ext cx="1866748" cy="77724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Fabricate on FR-4 and measure</a:t>
            </a:r>
            <a:endParaRPr lang="en-US" sz="1500" dirty="0"/>
          </a:p>
        </p:txBody>
      </p:sp>
      <p:sp>
        <p:nvSpPr>
          <p:cNvPr id="40" name="Text 33"/>
          <p:cNvSpPr txBox="1"/>
          <p:nvPr/>
        </p:nvSpPr>
        <p:spPr>
          <a:xfrm>
            <a:off x="5806440" y="5074920"/>
            <a:ext cx="5836615" cy="329184"/>
          </a:xfrm>
          <a:prstGeom prst="rect">
            <a:avLst/>
          </a:prstGeom>
          <a:noFill/>
          <a:ln/>
        </p:spPr>
        <p:txBody>
          <a:bodyPr wrap="square" lIns="0" tIns="0" rIns="0" bIns="0" rtlCol="0" anchor="t"/>
          <a:lstStyle/>
          <a:p>
            <a:pPr algn="l" indent="0" marL="0">
              <a:lnSpc>
                <a:spcPct val="100000"/>
              </a:lnSpc>
              <a:buNone/>
            </a:pPr>
            <a:r>
              <a:rPr lang="en-US" sz="1700" b="1" dirty="0">
                <a:solidFill>
                  <a:srgbClr val="17324D"/>
                </a:solidFill>
                <a:latin typeface="Calibri" pitchFamily="34" charset="0"/>
                <a:ea typeface="Calibri" pitchFamily="34" charset="-122"/>
                <a:cs typeface="Calibri" pitchFamily="34" charset="-120"/>
              </a:rPr>
              <a:t>Expected outcomes</a:t>
            </a:r>
            <a:endParaRPr lang="en-US" sz="1700" dirty="0"/>
          </a:p>
        </p:txBody>
      </p:sp>
      <p:sp>
        <p:nvSpPr>
          <p:cNvPr id="41" name="Shape 34"/>
          <p:cNvSpPr/>
          <p:nvPr/>
        </p:nvSpPr>
        <p:spPr>
          <a:xfrm>
            <a:off x="5806440" y="5458968"/>
            <a:ext cx="1854098" cy="777240"/>
          </a:xfrm>
          <a:prstGeom prst="roundRect">
            <a:avLst>
              <a:gd name="adj" fmla="val 11765"/>
            </a:avLst>
          </a:prstGeom>
          <a:solidFill>
            <a:srgbClr val="F2F4F7"/>
          </a:solidFill>
          <a:ln/>
        </p:spPr>
      </p:sp>
      <p:sp>
        <p:nvSpPr>
          <p:cNvPr id="42" name="Text 35"/>
          <p:cNvSpPr txBox="1"/>
          <p:nvPr/>
        </p:nvSpPr>
        <p:spPr>
          <a:xfrm>
            <a:off x="5943600" y="5458968"/>
            <a:ext cx="1579778" cy="777240"/>
          </a:xfrm>
          <a:prstGeom prst="rect">
            <a:avLst/>
          </a:prstGeom>
          <a:noFill/>
          <a:ln/>
        </p:spPr>
        <p:txBody>
          <a:bodyPr wrap="square" lIns="0" tIns="0" rIns="0" bIns="0" rtlCol="0" anchor="ctr"/>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Thin wideband antenna with higher gain</a:t>
            </a:r>
            <a:endParaRPr lang="en-US" sz="1400" dirty="0"/>
          </a:p>
        </p:txBody>
      </p:sp>
      <p:sp>
        <p:nvSpPr>
          <p:cNvPr id="43" name="Shape 36"/>
          <p:cNvSpPr/>
          <p:nvPr/>
        </p:nvSpPr>
        <p:spPr>
          <a:xfrm>
            <a:off x="7797698" y="5458968"/>
            <a:ext cx="1854098" cy="777240"/>
          </a:xfrm>
          <a:prstGeom prst="roundRect">
            <a:avLst>
              <a:gd name="adj" fmla="val 11765"/>
            </a:avLst>
          </a:prstGeom>
          <a:solidFill>
            <a:srgbClr val="F2F4F7"/>
          </a:solidFill>
          <a:ln/>
        </p:spPr>
      </p:sp>
      <p:sp>
        <p:nvSpPr>
          <p:cNvPr id="44" name="Text 37"/>
          <p:cNvSpPr txBox="1"/>
          <p:nvPr/>
        </p:nvSpPr>
        <p:spPr>
          <a:xfrm>
            <a:off x="7934858" y="5458968"/>
            <a:ext cx="1579778" cy="777240"/>
          </a:xfrm>
          <a:prstGeom prst="rect">
            <a:avLst/>
          </a:prstGeom>
          <a:noFill/>
          <a:ln/>
        </p:spPr>
        <p:txBody>
          <a:bodyPr wrap="square" lIns="0" tIns="0" rIns="0" bIns="0" rtlCol="0" anchor="ctr"/>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Compact MIMO antenna, good isolation</a:t>
            </a:r>
            <a:endParaRPr lang="en-US" sz="1400" dirty="0"/>
          </a:p>
        </p:txBody>
      </p:sp>
      <p:sp>
        <p:nvSpPr>
          <p:cNvPr id="45" name="Shape 38"/>
          <p:cNvSpPr/>
          <p:nvPr/>
        </p:nvSpPr>
        <p:spPr>
          <a:xfrm>
            <a:off x="9788957" y="5458968"/>
            <a:ext cx="1854098" cy="777240"/>
          </a:xfrm>
          <a:prstGeom prst="roundRect">
            <a:avLst>
              <a:gd name="adj" fmla="val 11765"/>
            </a:avLst>
          </a:prstGeom>
          <a:solidFill>
            <a:srgbClr val="F2F4F7"/>
          </a:solidFill>
          <a:ln/>
        </p:spPr>
      </p:sp>
      <p:sp>
        <p:nvSpPr>
          <p:cNvPr id="46" name="Text 39"/>
          <p:cNvSpPr txBox="1"/>
          <p:nvPr/>
        </p:nvSpPr>
        <p:spPr>
          <a:xfrm>
            <a:off x="9926117" y="5458968"/>
            <a:ext cx="1579778" cy="777240"/>
          </a:xfrm>
          <a:prstGeom prst="rect">
            <a:avLst/>
          </a:prstGeom>
          <a:noFill/>
          <a:ln/>
        </p:spPr>
        <p:txBody>
          <a:bodyPr wrap="square" lIns="0" tIns="0" rIns="0" bIns="0" rtlCol="0" anchor="ctr"/>
          <a:lstStyle/>
          <a:p>
            <a:pPr algn="ctr" indent="0" marL="0">
              <a:lnSpc>
                <a:spcPct val="100000"/>
              </a:lnSpc>
              <a:buNone/>
            </a:pPr>
            <a:r>
              <a:rPr lang="en-US" sz="1400" dirty="0">
                <a:solidFill>
                  <a:srgbClr val="1F2328"/>
                </a:solidFill>
                <a:latin typeface="Calibri" pitchFamily="34" charset="0"/>
                <a:ea typeface="Calibri" pitchFamily="34" charset="-122"/>
                <a:cs typeface="Calibri" pitchFamily="34" charset="-120"/>
              </a:rPr>
              <a:t>Tested prototype vs simulation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rgbClr val="B8651B"/>
                </a:solidFill>
                <a:latin typeface="Calibri" pitchFamily="34" charset="0"/>
                <a:ea typeface="Calibri" pitchFamily="34" charset="-122"/>
                <a:cs typeface="Calibri" pitchFamily="34" charset="-120"/>
              </a:rPr>
              <a:t>CONCLUSION</a:t>
            </a:r>
            <a:endParaRPr lang="en-US" sz="13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ctr"/>
          <a:lstStyle/>
          <a:p>
            <a:pPr algn="l" indent="0" marL="0">
              <a:buNone/>
            </a:pPr>
            <a:r>
              <a:rPr lang="en-US" sz="3400" b="1" dirty="0">
                <a:solidFill>
                  <a:srgbClr val="17324D"/>
                </a:solidFill>
                <a:latin typeface="Cambria" pitchFamily="34" charset="0"/>
                <a:ea typeface="Cambria" pitchFamily="34" charset="-122"/>
                <a:cs typeface="Cambria" pitchFamily="34" charset="-120"/>
              </a:rPr>
              <a:t>Conclusion</a:t>
            </a:r>
            <a:endParaRPr lang="en-US" sz="3400" dirty="0"/>
          </a:p>
        </p:txBody>
      </p:sp>
      <p:sp>
        <p:nvSpPr>
          <p:cNvPr id="5" name="Shape 2"/>
          <p:cNvSpPr/>
          <p:nvPr/>
        </p:nvSpPr>
        <p:spPr>
          <a:xfrm>
            <a:off x="548640" y="1463040"/>
            <a:ext cx="3515258" cy="1783080"/>
          </a:xfrm>
          <a:prstGeom prst="roundRect">
            <a:avLst>
              <a:gd name="adj" fmla="val 6154"/>
            </a:avLst>
          </a:prstGeom>
          <a:solidFill>
            <a:srgbClr val="F2F4F7"/>
          </a:solidFill>
          <a:ln/>
        </p:spPr>
      </p:sp>
      <p:sp>
        <p:nvSpPr>
          <p:cNvPr id="6" name="Shape 3"/>
          <p:cNvSpPr/>
          <p:nvPr/>
        </p:nvSpPr>
        <p:spPr>
          <a:xfrm>
            <a:off x="822960" y="1737360"/>
            <a:ext cx="640080" cy="64008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963778" y="1878178"/>
            <a:ext cx="358445" cy="358445"/>
          </a:xfrm>
          <a:prstGeom prst="rect">
            <a:avLst/>
          </a:prstGeom>
        </p:spPr>
      </p:pic>
      <p:sp>
        <p:nvSpPr>
          <p:cNvPr id="8" name="Text 4"/>
          <p:cNvSpPr txBox="1"/>
          <p:nvPr/>
        </p:nvSpPr>
        <p:spPr>
          <a:xfrm>
            <a:off x="1645920" y="1737360"/>
            <a:ext cx="2235098" cy="64008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Antenna done</a:t>
            </a:r>
            <a:endParaRPr lang="en-US" sz="2000" dirty="0"/>
          </a:p>
        </p:txBody>
      </p:sp>
      <p:sp>
        <p:nvSpPr>
          <p:cNvPr id="9" name="Text 5"/>
          <p:cNvSpPr txBox="1"/>
          <p:nvPr/>
        </p:nvSpPr>
        <p:spPr>
          <a:xfrm>
            <a:off x="822960" y="2468880"/>
            <a:ext cx="2966618"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CPW-fed decagon matched from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2.16–15.73 GHz</a:t>
            </a:r>
            <a:endParaRPr lang="en-US" sz="1500" dirty="0"/>
          </a:p>
        </p:txBody>
      </p:sp>
      <p:sp>
        <p:nvSpPr>
          <p:cNvPr id="10" name="Shape 6"/>
          <p:cNvSpPr/>
          <p:nvPr/>
        </p:nvSpPr>
        <p:spPr>
          <a:xfrm>
            <a:off x="4338218" y="1463040"/>
            <a:ext cx="3515258" cy="1783080"/>
          </a:xfrm>
          <a:prstGeom prst="roundRect">
            <a:avLst>
              <a:gd name="adj" fmla="val 6154"/>
            </a:avLst>
          </a:prstGeom>
          <a:solidFill>
            <a:srgbClr val="F2F4F7"/>
          </a:solidFill>
          <a:ln/>
        </p:spPr>
      </p:sp>
      <p:sp>
        <p:nvSpPr>
          <p:cNvPr id="11" name="Shape 7"/>
          <p:cNvSpPr/>
          <p:nvPr/>
        </p:nvSpPr>
        <p:spPr>
          <a:xfrm>
            <a:off x="4612538" y="1737360"/>
            <a:ext cx="640080" cy="640080"/>
          </a:xfrm>
          <a:prstGeom prst="ellipse">
            <a:avLst/>
          </a:prstGeom>
          <a:solidFill>
            <a:srgbClr val="B8651B"/>
          </a:solidFill>
          <a:ln/>
        </p:spPr>
      </p:sp>
      <p:pic>
        <p:nvPicPr>
          <p:cNvPr id="12" name="Image 1" descr="preencoded.png">    </p:cNvPr>
          <p:cNvPicPr>
            <a:picLocks noChangeAspect="1"/>
          </p:cNvPicPr>
          <p:nvPr/>
        </p:nvPicPr>
        <p:blipFill>
          <a:blip r:embed="rId2"/>
          <a:stretch>
            <a:fillRect/>
          </a:stretch>
        </p:blipFill>
        <p:spPr>
          <a:xfrm>
            <a:off x="4753356" y="1878178"/>
            <a:ext cx="358445" cy="358445"/>
          </a:xfrm>
          <a:prstGeom prst="rect">
            <a:avLst/>
          </a:prstGeom>
        </p:spPr>
      </p:pic>
      <p:sp>
        <p:nvSpPr>
          <p:cNvPr id="13" name="Text 8"/>
          <p:cNvSpPr txBox="1"/>
          <p:nvPr/>
        </p:nvSpPr>
        <p:spPr>
          <a:xfrm>
            <a:off x="5435498" y="1737360"/>
            <a:ext cx="2235098" cy="64008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Metasurface added</a:t>
            </a:r>
            <a:endParaRPr lang="en-US" sz="2000" dirty="0"/>
          </a:p>
        </p:txBody>
      </p:sp>
      <p:sp>
        <p:nvSpPr>
          <p:cNvPr id="14" name="Text 9"/>
          <p:cNvSpPr txBox="1"/>
          <p:nvPr/>
        </p:nvSpPr>
        <p:spPr>
          <a:xfrm>
            <a:off x="4612538" y="2468880"/>
            <a:ext cx="2966618"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6 × 5 split rings, 2 mm behind: wider band, </a:t>
            </a:r>
            <a:pPr algn="l" indent="0" marL="0">
              <a:lnSpc>
                <a:spcPct val="100000"/>
              </a:lnSpc>
              <a:buNone/>
            </a:pPr>
            <a:r>
              <a:rPr lang="en-US" sz="1500" b="1" dirty="0">
                <a:solidFill>
                  <a:srgbClr val="1F2328"/>
                </a:solidFill>
                <a:latin typeface="Calibri" pitchFamily="34" charset="0"/>
                <a:ea typeface="Calibri" pitchFamily="34" charset="-122"/>
                <a:cs typeface="Calibri" pitchFamily="34" charset="-120"/>
              </a:rPr>
              <a:t>peak directivity 3.7 → 8.8 dBi</a:t>
            </a:r>
            <a:endParaRPr lang="en-US" sz="1500" dirty="0"/>
          </a:p>
        </p:txBody>
      </p:sp>
      <p:sp>
        <p:nvSpPr>
          <p:cNvPr id="15" name="Shape 10"/>
          <p:cNvSpPr/>
          <p:nvPr/>
        </p:nvSpPr>
        <p:spPr>
          <a:xfrm>
            <a:off x="8127797" y="1463040"/>
            <a:ext cx="3515258" cy="1783080"/>
          </a:xfrm>
          <a:prstGeom prst="roundRect">
            <a:avLst>
              <a:gd name="adj" fmla="val 6154"/>
            </a:avLst>
          </a:prstGeom>
          <a:solidFill>
            <a:srgbClr val="F2F4F7"/>
          </a:solidFill>
          <a:ln/>
        </p:spPr>
      </p:sp>
      <p:sp>
        <p:nvSpPr>
          <p:cNvPr id="16" name="Shape 11"/>
          <p:cNvSpPr/>
          <p:nvPr/>
        </p:nvSpPr>
        <p:spPr>
          <a:xfrm>
            <a:off x="8402117" y="1737360"/>
            <a:ext cx="640080" cy="640080"/>
          </a:xfrm>
          <a:prstGeom prst="ellipse">
            <a:avLst/>
          </a:prstGeom>
          <a:solidFill>
            <a:srgbClr val="17324D"/>
          </a:solidFill>
          <a:ln/>
        </p:spPr>
      </p:sp>
      <p:pic>
        <p:nvPicPr>
          <p:cNvPr id="17" name="Image 2" descr="preencoded.png">    </p:cNvPr>
          <p:cNvPicPr>
            <a:picLocks noChangeAspect="1"/>
          </p:cNvPicPr>
          <p:nvPr/>
        </p:nvPicPr>
        <p:blipFill>
          <a:blip r:embed="rId3"/>
          <a:stretch>
            <a:fillRect/>
          </a:stretch>
        </p:blipFill>
        <p:spPr>
          <a:xfrm>
            <a:off x="8542934" y="1878178"/>
            <a:ext cx="358445" cy="358445"/>
          </a:xfrm>
          <a:prstGeom prst="rect">
            <a:avLst/>
          </a:prstGeom>
        </p:spPr>
      </p:pic>
      <p:sp>
        <p:nvSpPr>
          <p:cNvPr id="18" name="Text 12"/>
          <p:cNvSpPr txBox="1"/>
          <p:nvPr/>
        </p:nvSpPr>
        <p:spPr>
          <a:xfrm>
            <a:off x="9225077" y="1737360"/>
            <a:ext cx="2235098" cy="640080"/>
          </a:xfrm>
          <a:prstGeom prst="rect">
            <a:avLst/>
          </a:prstGeom>
          <a:noFill/>
          <a:ln/>
        </p:spPr>
        <p:txBody>
          <a:bodyPr wrap="square" lIns="0" tIns="0" rIns="0" bIns="0" rtlCol="0" anchor="ctr"/>
          <a:lstStyle/>
          <a:p>
            <a:pPr algn="l" indent="0" marL="0">
              <a:lnSpc>
                <a:spcPct val="100000"/>
              </a:lnSpc>
              <a:buNone/>
            </a:pPr>
            <a:r>
              <a:rPr lang="en-US" sz="2000" b="1" dirty="0">
                <a:solidFill>
                  <a:srgbClr val="17324D"/>
                </a:solidFill>
                <a:latin typeface="Calibri" pitchFamily="34" charset="0"/>
                <a:ea typeface="Calibri" pitchFamily="34" charset="-122"/>
                <a:cs typeface="Calibri" pitchFamily="34" charset="-120"/>
              </a:rPr>
              <a:t>Next</a:t>
            </a:r>
            <a:endParaRPr lang="en-US" sz="2000" dirty="0"/>
          </a:p>
        </p:txBody>
      </p:sp>
      <p:sp>
        <p:nvSpPr>
          <p:cNvPr id="19" name="Text 13"/>
          <p:cNvSpPr txBox="1"/>
          <p:nvPr/>
        </p:nvSpPr>
        <p:spPr>
          <a:xfrm>
            <a:off x="8402117" y="2468880"/>
            <a:ext cx="2966618" cy="731520"/>
          </a:xfrm>
          <a:prstGeom prst="rect">
            <a:avLst/>
          </a:prstGeom>
          <a:noFill/>
          <a:ln/>
        </p:spPr>
        <p:txBody>
          <a:bodyPr wrap="square" lIns="0" tIns="0" rIns="0" bIns="0" rtlCol="0" anchor="t"/>
          <a:lstStyle/>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Realized gain and tuning</a:t>
            </a:r>
            <a:endParaRPr lang="en-US" sz="1500" dirty="0"/>
          </a:p>
          <a:p>
            <a:pPr algn="l" indent="0" marL="0">
              <a:lnSpc>
                <a:spcPct val="100000"/>
              </a:lnSpc>
              <a:buNone/>
            </a:pPr>
            <a:r>
              <a:rPr lang="en-US" sz="1500" dirty="0">
                <a:solidFill>
                  <a:srgbClr val="1F2328"/>
                </a:solidFill>
                <a:latin typeface="Calibri" pitchFamily="34" charset="0"/>
                <a:ea typeface="Calibri" pitchFamily="34" charset="-122"/>
                <a:cs typeface="Calibri" pitchFamily="34" charset="-120"/>
              </a:rPr>
              <a:t>→ MIMO antenna</a:t>
            </a:r>
            <a:endParaRPr lang="en-US" sz="1500" dirty="0"/>
          </a:p>
        </p:txBody>
      </p:sp>
      <p:sp>
        <p:nvSpPr>
          <p:cNvPr id="20" name="Text 14"/>
          <p:cNvSpPr txBox="1"/>
          <p:nvPr/>
        </p:nvSpPr>
        <p:spPr>
          <a:xfrm>
            <a:off x="548640" y="3474720"/>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7324D"/>
                </a:solidFill>
                <a:latin typeface="Calibri" pitchFamily="34" charset="0"/>
                <a:ea typeface="Calibri" pitchFamily="34" charset="-122"/>
                <a:cs typeface="Calibri" pitchFamily="34" charset="-120"/>
              </a:rPr>
              <a:t>References</a:t>
            </a:r>
            <a:endParaRPr lang="en-US" sz="1600" dirty="0"/>
          </a:p>
        </p:txBody>
      </p:sp>
      <p:sp>
        <p:nvSpPr>
          <p:cNvPr id="21" name="Text 15"/>
          <p:cNvSpPr txBox="1"/>
          <p:nvPr/>
        </p:nvSpPr>
        <p:spPr>
          <a:xfrm>
            <a:off x="548640" y="3840480"/>
            <a:ext cx="5364328" cy="2423160"/>
          </a:xfrm>
          <a:prstGeom prst="rect">
            <a:avLst/>
          </a:prstGeom>
          <a:noFill/>
          <a:ln/>
        </p:spPr>
        <p:txBody>
          <a:bodyPr wrap="square" lIns="0" tIns="0" rIns="0" bIns="0" rtlCol="0" anchor="t"/>
          <a:lstStyle/>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[1] N. P. Agrawall, G. Kumar, and K. P. Ray, “Wide-band planar monopole antennas,” IEEE Trans. Antennas Propag., vol. 46, no. 2, pp. 294–295, Feb. 1998.</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[2] M. S. Sharawi, “Printed multi-band MIMO antenna systems and their performance metrics,” IEEE Antennas Propag. Mag., vol. 55, no. 5, pp. 218–232, Oct. 2013.</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[3] C. A. Balanis, Antenna Theory: Analysis and Design, 4th ed. Hoboken, NJ, USA: Wiley, 2016.</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[4] R. N. Simons, Coplanar Waveguide Circuits, Components, and Systems. New York, NY, USA: Wiley, 2001.</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[5] C. L. Holloway et al., “An overview of the theory and applications of metasurfaces,” IEEE Antennas Propag. Mag., vol. 54, no. 2, pp. 10–35, Apr. 2012.</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[6] J. B. Pendry, A. J. Holden, D. J. Robbins, and W. J. Stewart, “Magnetism from conductors and enhanced nonlinear phenomena,” IEEE Trans. Microw. Theory Techn., vol. 47, no. 11, pp. 2075–2084, Nov. 1999.</a:t>
            </a:r>
            <a:endParaRPr lang="en-US" sz="1000" dirty="0"/>
          </a:p>
        </p:txBody>
      </p:sp>
      <p:sp>
        <p:nvSpPr>
          <p:cNvPr id="22" name="Text 16"/>
          <p:cNvSpPr txBox="1"/>
          <p:nvPr/>
        </p:nvSpPr>
        <p:spPr>
          <a:xfrm>
            <a:off x="6278728" y="3840480"/>
            <a:ext cx="5364328" cy="2423160"/>
          </a:xfrm>
          <a:prstGeom prst="rect">
            <a:avLst/>
          </a:prstGeom>
          <a:noFill/>
          <a:ln/>
        </p:spPr>
        <p:txBody>
          <a:bodyPr wrap="square" lIns="0" tIns="0" rIns="0" bIns="0" rtlCol="0" anchor="t"/>
          <a:lstStyle/>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[7] A. J. A. Al-Gburi et al., “High gain of UWB planar antenna utilising FSS reflector for UWB applications,” Comput. Mater. Contin., vol. 70, no. 1, pp. 1425–1436, 2022.</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[8] M. Hussain et al., “Bandwidth and gain enhancement of a CPW antenna using frequency selective surface for UWB applications,” Micromachines, vol. 14, no. 3, Art. no. 591, 2023.</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[9] B. Hammache et al., “Gain enhancement of compact CPW-fed ultra-wideband antenna using an FSS reflector,” Microw. Opt. Technol. Lett., vol. 66, no. 10, Art. no. e34344, 2024.</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[10] G. Sen, A. Banerjee, M. Kumar, and S. Das, “An ultra-wideband monopole antenna with a gain enhanced performance using a novel split-ring meta-surface reflector,” Microw. Opt. Technol. Lett., vol. 59, no. 6, pp. 1296–1300, 2017.</a:t>
            </a:r>
            <a:endParaRPr lang="en-US" sz="1000" dirty="0"/>
          </a:p>
          <a:p>
            <a:pPr algn="l" indent="0" marL="0">
              <a:lnSpc>
                <a:spcPct val="100000"/>
              </a:lnSpc>
              <a:spcAft>
                <a:spcPts val="300"/>
              </a:spcAft>
              <a:buNone/>
            </a:pPr>
            <a:r>
              <a:rPr lang="en-US" sz="1000" dirty="0">
                <a:solidFill>
                  <a:srgbClr val="5B6472"/>
                </a:solidFill>
                <a:latin typeface="Calibri" pitchFamily="34" charset="0"/>
                <a:ea typeface="Calibri" pitchFamily="34" charset="-122"/>
                <a:cs typeface="Calibri" pitchFamily="34" charset="-120"/>
              </a:rPr>
              <a:t>[11] M. M. Hasan et al., “Gain and isolation enhancement of a wideband MIMO antenna using metasurface for 5G sub-6 GHz communication systems,” Sci. Rep., vol. 12, Art. no. 9433, 2022.</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4A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Copper and Navy">
      <a:dk1>
        <a:srgbClr val="1F2328"/>
      </a:dk1>
      <a:lt1>
        <a:srgbClr val="FFFFFF"/>
      </a:lt1>
      <a:dk2>
        <a:srgbClr val="17324D"/>
      </a:dk2>
      <a:lt2>
        <a:srgbClr val="F2F4F7"/>
      </a:lt2>
      <a:accent1>
        <a:srgbClr val="B8651B"/>
      </a:accent1>
      <a:accent2>
        <a:srgbClr val="2E7D5B"/>
      </a:accent2>
      <a:accent3>
        <a:srgbClr val="C0392B"/>
      </a:accent3>
      <a:accent4>
        <a:srgbClr val="3B6EA5"/>
      </a:accent4>
      <a:accent5>
        <a:srgbClr val="E9D8C4"/>
      </a:accent5>
      <a:accent6>
        <a:srgbClr val="8A94A6"/>
      </a:accent6>
      <a:hlink>
        <a:srgbClr val="3B6EA5"/>
      </a:hlink>
      <a:folHlink>
        <a:srgbClr val="6B4E9B"/>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Wideband MIMO Antenna with Metasurface — Mid-Semester Evaluation</dc:title>
  <dc:subject>B.Tech project, Dept. of ECE, NIT Silchar</dc:subject>
  <dc:creator>Chanswarang Boro, Nishit Baishya, Anushka Dam, Sanjana</dc:creator>
  <cp:lastModifiedBy>Chanswarang Boro, Nishit Baishya, Anushka Dam, Sanjana</cp:lastModifiedBy>
  <cp:revision>1</cp:revision>
  <dcterms:created xsi:type="dcterms:W3CDTF">2026-10-06T12:32:06Z</dcterms:created>
  <dcterms:modified xsi:type="dcterms:W3CDTF">2026-10-06T12:32:06Z</dcterms:modified>
</cp:coreProperties>
</file>