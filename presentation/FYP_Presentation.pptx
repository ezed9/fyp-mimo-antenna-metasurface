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15"/>
    <p:sldId id="267" r:id="rId16"/>
    <p:sldId id="261" r:id="rId7"/>
    <p:sldId id="268" r:id="rId17"/>
    <p:sldId id="269" r:id="rId18"/>
    <p:sldId id="270" r:id="rId19"/>
    <p:sldId id="271" r:id="rId20"/>
    <p:sldId id="272" r:id="rId21"/>
    <p:sldId id="273" r:id="rId22"/>
    <p:sldId id="262" r:id="rId8"/>
    <p:sldId id="264" r:id="rId9"/>
    <p:sldId id="265" r:id="rId10"/>
    <p:sldId id="274" r:id="rId23"/>
    <p:sldId id="275" r:id="rId24"/>
    <p:sldId id="276" r:id="rId25"/>
    <p:sldId id="277" r:id="rId26"/>
    <p:sldId id="278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68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Good morning. We are presenting our B.Tech project, "Wideband MIMO Antenna with Metasurface", under Dr. Ujjal</a:t>
            </a:r>
          </a:p>
          <a:p>
            <a:r>
              <a:t>Chakraborty with Mr. Sovan Bhattacharya as co-guide. In one line: we design a four-port ultra-wideband MIMO</a:t>
            </a:r>
          </a:p>
          <a:p>
            <a:r>
              <a:t>antenna and place a metasurface reflector behind it to raise the gain without losing bandwidth or isolation.</a:t>
            </a:r>
          </a:p>
          <a:p>
            <a:r>
              <a:t>Introduce the four team members. (≈ 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Ultra-wideband is the 3.1 to 10.6 GHz band the FCC opened in 2002 for very low-power, high-data-rate links</a:t>
            </a:r>
          </a:p>
          <a:p>
            <a:r>
              <a:t>[1]. MIMO puts several antennas on one device, so capacity grows without more spectrum or power</a:t>
            </a:r>
          </a:p>
          <a:p>
            <a:r>
              <a:t>[2]. Putting four wideband antennas on a small board causes two problems. First, they couple to each</a:t>
            </a:r>
          </a:p>
          <a:p>
            <a:r>
              <a:t>other, which correlates their signals and cancels the MIMO benefit. Second, a printed monopole radiates equally</a:t>
            </a:r>
          </a:p>
          <a:p>
            <a:r>
              <a:t>forwards and backwards (top sketch), so its gain is low: roughly 1 to 7 dBi, about 4 dBi on average, in recent</a:t>
            </a:r>
          </a:p>
          <a:p>
            <a:r>
              <a:t>four-port designs [3]–[6]. The bottom sketch is our idea: a metasurface behind the antenna reflects the backward wave</a:t>
            </a:r>
          </a:p>
          <a:p>
            <a:r>
              <a:t>in phase, so it adds to the forward beam. Our problem is to do that across the whole UWB band without losing</a:t>
            </a:r>
          </a:p>
          <a:p>
            <a:r>
              <a:t>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We have four objectives. First, a single CPW-fed octagonal monopole covering the whole UWB band. Second, optimise</a:t>
            </a:r>
          </a:p>
          <a:p>
            <a:r>
              <a:t>it systematically: ground length first, then patch radius. Third, the metasurface: an artificial magnetic</a:t>
            </a:r>
          </a:p>
          <a:p>
            <a:r>
              <a:t>conductor reflector that should add 2 to 4 dB of gain, and we compare it fairly against no reflector and a plain</a:t>
            </a:r>
          </a:p>
          <a:p>
            <a:r>
              <a:t>metal (PEC) plate at the same gap. Fourth, the four-port MIMO with orthogonal elements on a shared ground, judged by</a:t>
            </a:r>
          </a:p>
          <a:p>
            <a:r>
              <a:t>the standard diversity metrics. The targets on the right are typical values from recent four-port UWB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We reviewed ten recent papers in three groups. The four-port UWB designs without a reflector</a:t>
            </a:r>
          </a:p>
          <a:p>
            <a:r>
              <a:t>[3]–[6] show that orthogonal placement alone gives 17 to 22 dB isolation and very</a:t>
            </a:r>
          </a:p>
          <a:p>
            <a:r>
              <a:t>low ECC, so isolation is a solved problem. Their gain is only about 4 dBi on average, because a printed monopole</a:t>
            </a:r>
          </a:p>
          <a:p>
            <a:r>
              <a:t>radiates equally forwards and backwards. Reflectors, FSS and AMC layers fix that [7][8][9][11][12], reaching 7 to 14 dBi. However, the gap to the reflector is often not stated, and no</a:t>
            </a:r>
          </a:p>
          <a:p>
            <a:r>
              <a:t>four-port paper we could read compares the AMC with a plain metal plate. That is our gap: CPW-fed octagons with a</a:t>
            </a:r>
          </a:p>
          <a:p>
            <a:r>
              <a:t>dual-resonant AMC, reported fairly against no reflector and a PEC plate. (Several of these papers were readable only</a:t>
            </a:r>
          </a:p>
          <a:p>
            <a:r>
              <a:t>as abstracts; LITERATURE.md marks which.)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This is the whole flow. We start from one CPW-fed octagonal monopole and optimise it in two sweeps: ground length,</a:t>
            </a:r>
          </a:p>
          <a:p>
            <a:r>
              <a:t>then radius. "Best" has a precise meaning: the largest fraction of 3.1–10.6 GHz with S11 below −10 dB, with the</a:t>
            </a:r>
          </a:p>
          <a:p>
            <a:r>
              <a:t>worst in-band S11 as the tie-break. In parallel we design the AMC unit cell with a Floquet port. Then we put the</a:t>
            </a:r>
          </a:p>
          <a:p>
            <a:r>
              <a:t>reflector behind the single antenna and compare no reflector, a PEC plate and the AMC at the same gap h. Finally we</a:t>
            </a:r>
          </a:p>
          <a:p>
            <a:r>
              <a:t>build the four-port orthogonal MIMO, with and without the AMC, and evaluate the diversity metrics. All simulations</a:t>
            </a:r>
          </a:p>
          <a:p>
            <a:r>
              <a:t>are in CST. Post-processing is our own Python code, so every figure in this talk comes from the same exported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Three standard results drive the design. Top: a planar monopole behaves like a thick cylindrical monopole, which is</a:t>
            </a:r>
          </a:p>
          <a:p>
            <a:r>
              <a:t>why it covers a wide band. Its lower band edge is roughly 7.2 over (L + r + p) GHz, with lengths in centimetres</a:t>
            </a:r>
          </a:p>
          <a:p>
            <a:r>
              <a:t>[13][14]. Applied to our octagon, that gives a starting radius of about 11 mm. The CST sweeps then</a:t>
            </a:r>
          </a:p>
          <a:p>
            <a:r>
              <a:t>refine it, because the FR-4 substrate lowers the frequency further. Middle: an AMC behaves like a parallel LC</a:t>
            </a:r>
          </a:p>
          <a:p>
            <a:r>
              <a:t>resonator [15]. At resonance its surface impedance is very high and it reflects in phase, while a</a:t>
            </a:r>
          </a:p>
          <a:p>
            <a:r>
              <a:t>metal plate reflects at 180° and would need a quarter-wavelength gap, 24 mm at 3.1 GHz. We define the AMC band</a:t>
            </a:r>
          </a:p>
          <a:p>
            <a:r>
              <a:t>where the phase stays within ±90°. Bottom: the MIMO metrics we compute. ECC from S-parameters assumes a lossless</a:t>
            </a:r>
          </a:p>
          <a:p>
            <a:r>
              <a:t>antenna, and FR-4 is lossy, so we also compute it from the far-field patterns [2].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The radiator is a regular octagon, drawn as an eight-segment cylinder, so its size is controlled by a single</a:t>
            </a:r>
          </a:p>
          <a:p>
            <a:r>
              <a:t>parameter, the circumradius R. It is fed by a coplanar waveguide. Signal and ground sit on the same face, which</a:t>
            </a:r>
          </a:p>
          <a:p>
            <a:r>
              <a:t>makes the feed easy to fabricate and later lets four elements share one ground. Feed width and slot gap were set so</a:t>
            </a:r>
          </a:p>
          <a:p>
            <a:r>
              <a:t>the port line impedance reads about 50 ohms; we checked that before running any sweep. Substrate: 1.6 mm FR-4.</a:t>
            </a:r>
          </a:p>
          <a:p>
            <a:r>
              <a:t>(Values marked TBD come from the final CST parameter list.)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This slide summarises progress. The green ticks update automatically from our result files. The literature survey,</a:t>
            </a:r>
          </a:p>
          <a:p>
            <a:r>
              <a:t>the design targets and the Python post-processing are complete, and the post-processing has unit tests for every</a:t>
            </a:r>
          </a:p>
          <a:p>
            <a:r>
              <a:t>metric formula. The simulation stages are ticked as their CST results come in. The main practical challenge is</a:t>
            </a:r>
          </a:p>
          <a:p>
            <a:r>
              <a:t>simulation time: one run takes more than ten minutes on our PC. So sweeps run with field monitors off and a coarser</a:t>
            </a:r>
          </a:p>
          <a:p>
            <a:r>
              <a:t>mesh, and the MIMO sweeps use the four-fold symmetry: exciting only port 1 gives every S-parameter. Two CST-specific</a:t>
            </a:r>
          </a:p>
          <a:p>
            <a:r>
              <a:t>issues are the CPW port size and the port extension cutting into the AMC; for both we re-check the port</a:t>
            </a:r>
          </a:p>
          <a:p>
            <a:r>
              <a:t>impedance against 50 ohms.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Two sweeps, one parameter at a time. Left: ground length. It mostly controls the coupling between the ground edge</a:t>
            </a:r>
          </a:p>
          <a:p>
            <a:r>
              <a:t>and the octagon, so it moves the lower band edge and the impedance match in the low band. We picked the value</a:t>
            </a:r>
          </a:p>
          <a:p>
            <a:r>
              <a:t>that covers the largest share of 3.1–10.6 GHz; our script ranks every curve by that coverage and then by the worst</a:t>
            </a:r>
          </a:p>
          <a:p>
            <a:r>
              <a:t>in-band S11. Right: with Lg fixed, the octagon radius. A larger radius lowers the first resonance, and the right</a:t>
            </a:r>
          </a:p>
          <a:p>
            <a:r>
              <a:t>value keeps all the resonances overlapping across the band. The optimised element's −10 dB band is in the box.</a:t>
            </a:r>
          </a:p>
          <a:p>
            <a:r>
              <a:t>(Gain and efficiency of the optimised element are on backup slide B1.)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This is the metasurface building block: a square ring with a square patch inside, on grounded 1.6 mm FR-4. We</a:t>
            </a:r>
          </a:p>
          <a:p>
            <a:r>
              <a:t>simulate one cell with periodic (unit-cell) boundaries and a Floquet port de-embedded to the surface. A metal plate</a:t>
            </a:r>
          </a:p>
          <a:p>
            <a:r>
              <a:t>reflects with a 180° phase. The AMC reflects in phase near resonance, and we use the usual ±90° window as its</a:t>
            </a:r>
          </a:p>
          <a:p>
            <a:r>
              <a:t>bandwidth. Ring and patch resonate at two nearby frequencies, which widens that window. As a sanity check, removing</a:t>
            </a:r>
          </a:p>
          <a:p>
            <a:r>
              <a:t>the top metal gives ±180°, exactly like a PEC. Honest limitation: no single passive AMC is in phase over the whole</a:t>
            </a:r>
          </a:p>
          <a:p>
            <a:r>
              <a:t>3.1–10.6 GHz band. The air gap h compensates for part of that, as the next slide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This is the key comparison and the answer to "why a metasurface and not a metal plate?". All three cases use</a:t>
            </a:r>
          </a:p>
          <a:p>
            <a:r>
              <a:t>identical mesh and monitors. First the gap sweep at the top right: h trades matching against gain. At the chosen</a:t>
            </a:r>
          </a:p>
          <a:p>
            <a:r>
              <a:t>gap, a PEC plate reflects with 180° phase, so the reflected wave partly cancels the direct one in parts of the band.</a:t>
            </a:r>
          </a:p>
          <a:p>
            <a:r>
              <a:t>The AMC reflects in phase, so the two add up and the back lobe goes forward. We quote the gain increase over the</a:t>
            </a:r>
          </a:p>
          <a:p>
            <a:r>
              <a:t>band where it is at least 2 dB rather than a single best frequency, and we say openly where it drops.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The four-port MIMO is made by rotate-copying the optimised element in 90° steps, one element per board edge.</a:t>
            </a:r>
          </a:p>
          <a:p>
            <a:r>
              <a:t>Neighbouring elements are orthogonally polarised, which is what keeps the coupling low on a compact board. All four</a:t>
            </a:r>
          </a:p>
          <a:p>
            <a:r>
              <a:t>CPW grounds are joined through a central plus-shaped strip. A real device has one ground, and keeping the grounds</a:t>
            </a:r>
          </a:p>
          <a:p>
            <a:r>
              <a:t>separate would give unrealistically good isolation. Top right: S11 to S44 against the −10 dB line. Bottom right: all six couplings; the</a:t>
            </a:r>
          </a:p>
          <a:p>
            <a:r>
              <a:t>worst of them is the isolation figure in the title. (Check the title claim against figures/summary.txt.)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Now the full MIMO with the AMC reflector behind it. Top left: matching and coupling with and without the AMC on the</a:t>
            </a:r>
          </a:p>
          <a:p>
            <a:r>
              <a:t>same axes. The reflector must not cost us bandwidth or isolation, and these curves show whether it does. Bottom</a:t>
            </a:r>
          </a:p>
          <a:p>
            <a:r>
              <a:t>left: realized gain and efficiency for port 1. Right: radiation patterns at 4, 7 and 10 GHz, two principal planes</a:t>
            </a:r>
          </a:p>
          <a:p>
            <a:r>
              <a:t>each. The AMC should lower the back lobe and push the main beam forward. At 10 GHz the pattern is expected to be</a:t>
            </a:r>
          </a:p>
          <a:p>
            <a:r>
              <a:t>less regular because the antenna is electrically larger there. (Describe what the real plots show.) (Port 1 vs port 2 patterns are on backup slide B3.)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These are the standard MIMO diversity metrics, all computed from the four-port S-parameters with our own script.</a:t>
            </a:r>
          </a:p>
          <a:p>
            <a:r>
              <a:t>Envelope correlation coefficient: below 0.01 means the ports see nearly independent channels. FR-4 is lossy, and the</a:t>
            </a:r>
          </a:p>
          <a:p>
            <a:r>
              <a:t>S-parameter formula assumes a lossless antenna, so we also compute ECC from the far-field patterns; both are in the</a:t>
            </a:r>
          </a:p>
          <a:p>
            <a:r>
              <a:t>table. Diversity gain follows from ECC and should approach 10 dB. TARC accounts for all four ports excited at once</a:t>
            </a:r>
          </a:p>
          <a:p>
            <a:r>
              <a:t>with random phases. Channel capacity loss should stay below 0.4 bit/s/Hz. Mean effective gain should be similar for</a:t>
            </a:r>
          </a:p>
          <a:p>
            <a:r>
              <a:t>all ports, which shows the ports are balanced. Lead with the isolation and gain story: ECC and DG are good in</a:t>
            </a:r>
          </a:p>
          <a:p>
            <a:r>
              <a:t>every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Next semester we turn the simulation into hardware. We fabricate the FR-4 antenna and the AMC board, add SMA</a:t>
            </a:r>
          </a:p>
          <a:p>
            <a:r>
              <a:t>connectors and hold the gap with non-metallic spacers. Then we measure S-parameters on a VNA, pair by pair with the</a:t>
            </a:r>
          </a:p>
          <a:p>
            <a:r>
              <a:t>unused ports terminated, and measure patterns and gain in the anechoic chamber. Last, we compare measurement with</a:t>
            </a:r>
          </a:p>
          <a:p>
            <a:r>
              <a:t>simulation and write it up. The main risks are on the slide. FR-4 permittivity varies, so we will re-simulate with</a:t>
            </a:r>
          </a:p>
          <a:p>
            <a:r>
              <a:t>the measured value, and the connector is not in our model, so small differences are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The deliverables are on top: verified CST models, the full metric set, and next semester a fabricated, measured</a:t>
            </a:r>
          </a:p>
          <a:p>
            <a:r>
              <a:t>prototype. The table puts our target row next to the literature. Isolation and ECC should match the orthogonal</a:t>
            </a:r>
          </a:p>
          <a:p>
            <a:r>
              <a:t>designs [3]–[6]. The gain should be clearly above their ≈ 4 dBi average because of</a:t>
            </a:r>
          </a:p>
          <a:p>
            <a:r>
              <a:t>the AMC, and we report the gap and the PEC baseline that most reflector papers leave out. Dashes mean we could only</a:t>
            </a:r>
          </a:p>
          <a:p>
            <a:r>
              <a:t>read the abstract, so we did not fill numbers we could not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To conclude: the four numbers at the top are our headline results, covering bandwidth, isolation, correlation and</a:t>
            </a:r>
          </a:p>
          <a:p>
            <a:r>
              <a:t>the gain added by the metasurface. We optimised a CPW-fed octagonal monopole, designed a dual-resonant AMC that</a:t>
            </a:r>
          </a:p>
          <a:p>
            <a:r>
              <a:t>beats a metal plate at the same gap, and built a four-port orthogonal MIMO on a shared ground that meets the</a:t>
            </a:r>
          </a:p>
          <a:p>
            <a:r>
              <a:t>diversity targets. Next comes fabrication and measurement. Thank you, we welcome your questions.</a:t>
            </a:r>
          </a:p>
          <a:p>
            <a:r>
              <a:t>(Before presenting: confirm every number and claim on this slide against figures/summary.txt.)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Reference list in IEEE style, numbered in order of first citation. Not presented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Reference list in IEEE style, numbered in order of first citation. Not presented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Backup for questions about the single element and mesh convergence.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Backup for coupling questions. With only port 1 excited, the current concentrates on element 1 and its feed. Weak</a:t>
            </a:r>
          </a:p>
          <a:p>
            <a:r>
              <a:t>current on the other elements is direct evidence of low coupling. The central ground strip carries part of the</a:t>
            </a:r>
          </a:p>
          <a:p>
            <a:r>
              <a:t>current, which is how it helps the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TBD</a:t>
            </a:r>
          </a:p>
          <a:p/>
          <a:p>
            <a:r>
              <a:t>Backup for pattern-diversity questions: port 2 is the 90°-rotated copy of port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20040"/>
            <a:ext cx="8229600" cy="548640"/>
          </a:xfrm>
        </p:spPr>
        <p:txBody>
          <a:bodyPr wrap="square"/>
          <a:lstStyle/>
          <a:p>
            <a:pPr marL="0" indent="0" algn="ctr">
              <a:spcAft>
                <a:spcPts val="400"/>
              </a:spcAft>
              <a:buNone/>
            </a:pPr>
            <a:r>
              <a:rPr sz="2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B. Tech. Project Mid-Semester 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5074920"/>
            <a:ext cx="8229600" cy="1234440"/>
          </a:xfrm>
        </p:spPr>
        <p:txBody>
          <a:bodyPr wrap="square"/>
          <a:lstStyle/>
          <a:p>
            <a:pPr marL="0" indent="0" algn="ctr">
              <a:spcAft>
                <a:spcPts val="200"/>
              </a:spcAft>
              <a:buNone/>
            </a:pPr>
            <a:r>
              <a:rPr sz="16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Department of Electronics and Communication Engineering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6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National Institute of Technology Silchar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6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B.Tech 7th Semester, Session 2026–27  |  October 2026</a:t>
            </a:r>
          </a:p>
        </p:txBody>
      </p:sp>
      <p:sp>
        <p:nvSpPr>
          <p:cNvPr id="4" name="Project title"/>
          <p:cNvSpPr txBox="1"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34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Wideband MIMO Antenna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34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with Metasurface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457200" y="2057400"/>
            <a:ext cx="8229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7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A 4-port CPW-fed UWB (3.1–10.6 GHz) MIMO antenna with an AMC reflector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9748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6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Presented by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Chanswarang Boro  (2314143)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Nishit Baishya  (2314088)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Anushka Dam  (2314115)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Sanjana  (2314060)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69748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6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Under the guidance of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5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Dr. Ujjal Chakraborty</a:t>
            </a:r>
          </a:p>
          <a:p>
            <a:pPr marL="0" indent="0" algn="ctr">
              <a:spcAft>
                <a:spcPts val="10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Associate Professor, ECE</a:t>
            </a:r>
          </a:p>
          <a:p>
            <a:pPr marL="0" indent="0" algn="ctr">
              <a:spcAft>
                <a:spcPts val="4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Co-guide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5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Mr. Sovan Bhattacharya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PhD Scholar, ECE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Compact UWB MIMO boards face two problems: port coupling and low monopole gain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25880"/>
            <a:ext cx="4754880" cy="4937759"/>
          </a:xfrm>
        </p:spPr>
        <p:txBody>
          <a:bodyPr wrap="square"/>
          <a:lstStyle/>
          <a:p>
            <a:pPr marL="0" indent="0">
              <a:spcAft>
                <a:spcPts val="200"/>
              </a:spcAft>
              <a:buNone/>
            </a:pPr>
            <a:r>
              <a:rPr sz="15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Background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UWB uses 3.1–10.6 GHz at very low power (−41.3 dBm/MHz) [1]: high data rate over short range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MIMO: several antennas on one device raise capacity without extra bandwidth or power [2]</a:t>
            </a:r>
          </a:p>
          <a:p>
            <a:pPr marL="0" indent="0">
              <a:spcAft>
                <a:spcPts val="200"/>
              </a:spcAft>
              <a:buNone/>
            </a:pPr>
            <a:r>
              <a:rPr sz="15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Problem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Four antennas on a small board couple to each other, which correlates their signals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 printed monopole radiates both ways: reported 4-port UWB designs reach only ≈ 1–7 dBi [3]–[6]</a:t>
            </a:r>
          </a:p>
          <a:p>
            <a:pPr marL="0" indent="0">
              <a:spcAft>
                <a:spcPts val="200"/>
              </a:spcAft>
              <a:buNone/>
            </a:pPr>
            <a:r>
              <a:rPr sz="15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Problem definition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Design a compact 4-port UWB MIMO antenna with high isolation, and use a metasurface reflector to raise its gain without losing bandwidth or isolation</a:t>
            </a:r>
          </a:p>
        </p:txBody>
      </p:sp>
      <p:sp>
        <p:nvSpPr>
          <p:cNvPr id="4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INTRODUCTION &amp;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49240" y="1325880"/>
            <a:ext cx="33832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3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Printed monopole alone</a:t>
            </a:r>
          </a:p>
        </p:txBody>
      </p:sp>
      <p:sp>
        <p:nvSpPr>
          <p:cNvPr id="6" name="Antenna board"/>
          <p:cNvSpPr/>
          <p:nvPr/>
        </p:nvSpPr>
        <p:spPr>
          <a:xfrm>
            <a:off x="5532120" y="2286000"/>
            <a:ext cx="3017520" cy="109728"/>
          </a:xfrm>
          <a:prstGeom prst="rect">
            <a:avLst/>
          </a:prstGeom>
          <a:solidFill>
            <a:srgbClr val="6B8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2240280"/>
            <a:ext cx="640080" cy="45720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7040879" y="1691640"/>
            <a:ext cx="0" cy="502920"/>
          </a:xfrm>
          <a:prstGeom prst="line">
            <a:avLst/>
          </a:prstGeom>
          <a:ln w="31750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040879" y="2468880"/>
            <a:ext cx="0" cy="502920"/>
          </a:xfrm>
          <a:prstGeom prst="line">
            <a:avLst/>
          </a:prstGeom>
          <a:ln w="31750">
            <a:solidFill>
              <a:srgbClr val="C050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349240" y="3017520"/>
            <a:ext cx="33832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Half the power goes backwards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657600"/>
            <a:ext cx="338327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3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With AMC reflector at gap h</a:t>
            </a:r>
          </a:p>
        </p:txBody>
      </p:sp>
      <p:sp>
        <p:nvSpPr>
          <p:cNvPr id="12" name="Antenna board"/>
          <p:cNvSpPr/>
          <p:nvPr/>
        </p:nvSpPr>
        <p:spPr>
          <a:xfrm>
            <a:off x="5532120" y="4617720"/>
            <a:ext cx="3017520" cy="109728"/>
          </a:xfrm>
          <a:prstGeom prst="rect">
            <a:avLst/>
          </a:prstGeom>
          <a:solidFill>
            <a:srgbClr val="6B8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20840" y="4572000"/>
            <a:ext cx="640080" cy="45720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AMC substrate"/>
          <p:cNvSpPr/>
          <p:nvPr/>
        </p:nvSpPr>
        <p:spPr>
          <a:xfrm>
            <a:off x="5532120" y="5532120"/>
            <a:ext cx="3017520" cy="91440"/>
          </a:xfrm>
          <a:prstGeom prst="rect">
            <a:avLst/>
          </a:prstGeom>
          <a:solidFill>
            <a:srgbClr val="6B8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32120" y="5623559"/>
            <a:ext cx="3017520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82412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17691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2972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8251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23532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8811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94092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29372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4651" y="5495544"/>
            <a:ext cx="234696" cy="36576"/>
          </a:xfrm>
          <a:prstGeom prst="rect">
            <a:avLst/>
          </a:prstGeom>
          <a:solidFill>
            <a:srgbClr val="C07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6720840" y="4023360"/>
            <a:ext cx="0" cy="502920"/>
          </a:xfrm>
          <a:prstGeom prst="line">
            <a:avLst/>
          </a:prstGeom>
          <a:ln w="31750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360919" y="4800600"/>
            <a:ext cx="0" cy="640080"/>
          </a:xfrm>
          <a:prstGeom prst="line">
            <a:avLst/>
          </a:prstGeom>
          <a:ln w="31750">
            <a:solidFill>
              <a:srgbClr val="C050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589519" y="4023360"/>
            <a:ext cx="0" cy="1417320"/>
          </a:xfrm>
          <a:prstGeom prst="line">
            <a:avLst/>
          </a:prstGeom>
          <a:ln w="31750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0" y="4754880"/>
            <a:ext cx="0" cy="731520"/>
          </a:xfrm>
          <a:prstGeom prst="line">
            <a:avLst/>
          </a:prstGeom>
          <a:ln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760720" y="4937760"/>
            <a:ext cx="365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5760720"/>
            <a:ext cx="3383279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In-phase reflection adds to the forward beam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32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Four objectives, each with a measurable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4480560" cy="4846320"/>
          </a:xfrm>
        </p:spPr>
        <p:txBody>
          <a:bodyPr wrap="square"/>
          <a:lstStyle/>
          <a:p>
            <a:pPr marL="228600" indent="-228600">
              <a:spcAft>
                <a:spcPts val="1200"/>
              </a:spcAft>
              <a:buFont typeface="Times New Roman"/>
              <a:buAutoNum type="arabicPeriod"/>
            </a:pPr>
            <a:r>
              <a:rPr sz="17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Design</a:t>
            </a:r>
            <a:r>
              <a:rPr sz="17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a CPW-fed octagonal monopole that covers the full 3.1–10.6 GHz UWB band</a:t>
            </a:r>
          </a:p>
          <a:p>
            <a:pPr marL="228600" indent="-228600">
              <a:spcAft>
                <a:spcPts val="1200"/>
              </a:spcAft>
              <a:buFont typeface="Times New Roman"/>
              <a:buAutoNum type="arabicPeriod"/>
            </a:pPr>
            <a:r>
              <a:rPr sz="17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Optimise</a:t>
            </a:r>
            <a:r>
              <a:rPr sz="17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it one parameter at a time (ground length L</a:t>
            </a:r>
            <a:r>
              <a:rPr sz="17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g</a:t>
            </a:r>
            <a:r>
              <a:rPr sz="17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then radius R)</a:t>
            </a:r>
          </a:p>
          <a:p>
            <a:pPr marL="228600" indent="-228600">
              <a:spcAft>
                <a:spcPts val="1200"/>
              </a:spcAft>
              <a:buFont typeface="Times New Roman"/>
              <a:buAutoNum type="arabicPeriod"/>
            </a:pPr>
            <a:r>
              <a:rPr sz="17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Add a metasurface</a:t>
            </a:r>
            <a:r>
              <a:rPr sz="17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: a dual-resonant AMC reflector behind the antenna, benchmarked against no reflector and a PEC plate</a:t>
            </a:r>
          </a:p>
          <a:p>
            <a:pPr marL="228600" indent="-228600">
              <a:spcAft>
                <a:spcPts val="1200"/>
              </a:spcAft>
              <a:buFont typeface="Times New Roman"/>
              <a:buAutoNum type="arabicPeriod"/>
            </a:pPr>
            <a:r>
              <a:rPr sz="17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Build a 4-port MIMO</a:t>
            </a:r>
            <a:r>
              <a:rPr sz="17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(orthogonal elements, common ground) and verify its diversity performance</a:t>
            </a:r>
          </a:p>
        </p:txBody>
      </p:sp>
      <p:sp>
        <p:nvSpPr>
          <p:cNvPr id="4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1371600"/>
            <a:ext cx="35661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Design targets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120640" y="1737360"/>
          <a:ext cx="3566160" cy="34564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0200"/>
                <a:gridCol w="1965960"/>
              </a:tblGrid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Metric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Target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|S</a:t>
                      </a:r>
                      <a:r>
                        <a:rPr sz="1300" b="0" i="0" lang="en-IN" baseline="-2500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11</a:t>
                      </a: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| (all ports)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≤ −10 dB, 3.1–10.6 GHz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Isolation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15 dB (aim 20 dB)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Gain increase (AMC)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+2 to +4 dB vs none &amp; PEC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ECC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0.01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Diversity gain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9.95 dB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TARC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−10 dB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CCL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0.4 bit/s/Hz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MEG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≈ −3 dB, ports within 3 dB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Orthogonal layouts already give good isolation; reflectors add gain but lack a fair baseline</a:t>
            </a:r>
          </a:p>
        </p:txBody>
      </p:sp>
      <p:sp>
        <p:nvSpPr>
          <p:cNvPr id="4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LITERATURE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621280" cy="2743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4-port + reflector [7]–[9]</a:t>
            </a:r>
          </a:p>
          <a:p>
            <a:pPr marL="228600" indent="-228600" algn="l">
              <a:spcAft>
                <a:spcPts val="8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Metal reflector with via probes: isolation &gt; 15 → &gt; 20 dB, gain 7–9.57 dBi at h ≈ 10 mm [7]</a:t>
            </a:r>
          </a:p>
          <a:p>
            <a:pPr marL="228600" indent="-228600" algn="l">
              <a:spcAft>
                <a:spcPts val="8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Ring FSS: gain 4.7 → 7 dBi [8]; split-ring AMC: up to 9.6 dBi [9]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1360" y="1371600"/>
            <a:ext cx="2621280" cy="2743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4-port, no reflector [3]–[6]</a:t>
            </a:r>
          </a:p>
          <a:p>
            <a:pPr marL="228600" indent="-228600" algn="l">
              <a:spcAft>
                <a:spcPts val="8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Orthogonal elements alone give isolation &gt; 15–22 dB and ECC &lt; 0.01–0.08</a:t>
            </a:r>
          </a:p>
          <a:p>
            <a:pPr marL="228600" indent="-228600" algn="l">
              <a:spcAft>
                <a:spcPts val="8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Peak gain only ≈ 1–7 dBi (≈ 4 dBi average): a monopole radiates on both sides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65520" y="1371600"/>
            <a:ext cx="2621280" cy="2743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2-port + AMC / FSS [10]–[12]</a:t>
            </a:r>
          </a:p>
          <a:p>
            <a:pPr marL="228600" indent="-228600" algn="l">
              <a:spcAft>
                <a:spcPts val="8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AMC or FSS backing raises gain to ≈ 10–14 dBi [11][12]</a:t>
            </a:r>
          </a:p>
          <a:p>
            <a:pPr marL="228600" indent="-228600" algn="l">
              <a:spcAft>
                <a:spcPts val="8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Dual-AMC reflector keeps gain within 4.2–6.5 dBi across the band [10]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343400"/>
            <a:ext cx="8229600" cy="1920239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Research gap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500" b="0" i="0" lang="en-IN">
                <a:solidFill>
                  <a:srgbClr val="FFFFFF"/>
                </a:solidFill>
                <a:latin typeface="Times New Roman"/>
                <a:cs typeface="Times New Roman"/>
              </a:rPr>
              <a:t>In the accessible text of the 4-port reflector papers, only [7] states the gap h, and none compares against a PEC plate. None of the ten papers uses CPW-fed octagonal monopoles with a dual-resonant AMC. </a:t>
            </a:r>
            <a:r>
              <a:rPr sz="15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We report gain with vs without the AMC across the band, a PEC baseline, h in mm and λ, and both S-parameter and far-field ECC.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The design is built and optimised in seven simulation steps</a:t>
            </a:r>
          </a:p>
        </p:txBody>
      </p:sp>
      <p:sp>
        <p:nvSpPr>
          <p:cNvPr id="4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PROPOSED METHODOLOGY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1  CPW-fed octagonal monopole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90800" y="141732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2  Sweep ground length L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4400" y="141732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3  Sweep patch radius 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41732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4  AMC unit cell (Floquet)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65176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5  Single + reflector: none / PEC / AMC, gap 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24400" y="265176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6  4-port orthogonal MIMO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90800" y="265176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7  MIMO + AMC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51760"/>
            <a:ext cx="1828800" cy="77724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0" i="0" lang="en-IN">
                <a:solidFill>
                  <a:srgbClr val="FFFFFF"/>
                </a:solidFill>
                <a:latin typeface="Times New Roman"/>
                <a:cs typeface="Times New Roman"/>
              </a:rPr>
              <a:t>Diversity metrics: ECC, DG, TARC, CCL, MEG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13432" y="1805940"/>
            <a:ext cx="249936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580632" y="3040379"/>
            <a:ext cx="249936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447032" y="1805940"/>
            <a:ext cx="249936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447032" y="3040379"/>
            <a:ext cx="249936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80632" y="1805940"/>
            <a:ext cx="249936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313432" y="3040379"/>
            <a:ext cx="249936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72400" y="2221991"/>
            <a:ext cx="0" cy="40233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3749039"/>
            <a:ext cx="2621280" cy="25146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 marL="0" indent="0">
              <a:spcAft>
                <a:spcPts val="6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Tools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CST Studio Suite: time-domain solver; Floquet unit-cell solver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Python + scikit-rf: ECC, DG, TARC, CCL, MEG from exported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61360" y="3749039"/>
            <a:ext cx="2621280" cy="25146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 marL="0" indent="0">
              <a:spcAft>
                <a:spcPts val="6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Materials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FR-4, ε</a:t>
            </a:r>
            <a:r>
              <a:rPr sz="15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r</a:t>
            </a: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= 4.3, tan δ = 0.025, 1.6 mm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Copper, 35 µm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Band of interest 2–12 GHz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65520" y="3749039"/>
            <a:ext cx="2621280" cy="25146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73152" rIns="73152" tIns="36576" bIns="36576" wrap="square"/>
          <a:lstStyle/>
          <a:p>
            <a:pPr algn="l" marL="0" indent="0">
              <a:spcAft>
                <a:spcPts val="6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Method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One parameter at a time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Best = widest share of 3.1–10.6 GHz with |S</a:t>
            </a:r>
            <a:r>
              <a:rPr sz="15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11</a:t>
            </a: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 ≤ −10 dB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Final runs: 20–25 cells/λ mesh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24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Work done till now: 2 of 8 project stages complete</a:t>
            </a:r>
          </a:p>
        </p:txBody>
      </p:sp>
      <p:sp>
        <p:nvSpPr>
          <p:cNvPr id="4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WORK DONE TILL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Completed tasks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837943"/>
            <a:ext cx="310896" cy="310896"/>
          </a:xfrm>
          <a:prstGeom prst="ellipse">
            <a:avLst/>
          </a:prstGeom>
          <a:solidFill>
            <a:srgbClr val="37863C"/>
          </a:solidFill>
          <a:ln>
            <a:solidFill>
              <a:srgbClr val="378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0" i="0" lang="en-IN">
                <a:solidFill>
                  <a:srgbClr val="FFFFFF"/>
                </a:solidFill>
                <a:latin typeface="Times New Roman"/>
                <a:cs typeface="Times New Roman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Literature survey and design targets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386584"/>
            <a:ext cx="310896" cy="310896"/>
          </a:xfrm>
          <a:prstGeom prst="ellipse">
            <a:avLst/>
          </a:prstGeom>
          <a:solidFill>
            <a:srgbClr val="37863C"/>
          </a:solidFill>
          <a:ln>
            <a:solidFill>
              <a:srgbClr val="378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0" i="0" lang="en-IN">
                <a:solidFill>
                  <a:srgbClr val="FFFFFF"/>
                </a:solidFill>
                <a:latin typeface="Times New Roman"/>
                <a:cs typeface="Times New Roman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Python post-processing for all MIMO metrics (tested)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935224"/>
            <a:ext cx="310896" cy="310896"/>
          </a:xfrm>
          <a:prstGeom prst="ellipse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 marL="0" indent="0">
              <a:spcAft>
                <a:spcPts val="400"/>
              </a:spcAft>
              <a:buNone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Single element modelled, 50 Ω CPW feed  </a:t>
            </a:r>
            <a:r>
              <a:rPr sz="14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(in progress)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483864"/>
            <a:ext cx="310896" cy="310896"/>
          </a:xfrm>
          <a:prstGeom prst="ellipse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 marL="0" indent="0">
              <a:spcAft>
                <a:spcPts val="400"/>
              </a:spcAft>
              <a:buNone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68680" y="3429000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L</a:t>
            </a:r>
            <a:r>
              <a:rPr sz="14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g</a:t>
            </a:r>
            <a:r>
              <a:rPr sz="14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 and R sweeps → optimised element  </a:t>
            </a:r>
            <a:r>
              <a:rPr sz="14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(in progress)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032503"/>
            <a:ext cx="310896" cy="310896"/>
          </a:xfrm>
          <a:prstGeom prst="ellipse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 marL="0" indent="0">
              <a:spcAft>
                <a:spcPts val="400"/>
              </a:spcAft>
              <a:buNone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68680" y="3977639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AMC unit cell: reflection phase  </a:t>
            </a:r>
            <a:r>
              <a:rPr sz="14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(in progress)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581144"/>
            <a:ext cx="310896" cy="310896"/>
          </a:xfrm>
          <a:prstGeom prst="ellipse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 marL="0" indent="0">
              <a:spcAft>
                <a:spcPts val="400"/>
              </a:spcAft>
              <a:buNone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68680" y="4526280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Reflector study: none vs PEC vs AMC  </a:t>
            </a:r>
            <a:r>
              <a:rPr sz="14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(in progress)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5129783"/>
            <a:ext cx="310896" cy="310896"/>
          </a:xfrm>
          <a:prstGeom prst="ellipse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 marL="0" indent="0">
              <a:spcAft>
                <a:spcPts val="400"/>
              </a:spcAft>
              <a:buNone/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4-port orthogonal MIMO  </a:t>
            </a:r>
            <a:r>
              <a:rPr sz="14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(in progress)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678424"/>
            <a:ext cx="310896" cy="310896"/>
          </a:xfrm>
          <a:prstGeom prst="ellipse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 marL="0" indent="0">
              <a:spcAft>
                <a:spcPts val="400"/>
              </a:spcAft>
              <a:buNone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68680" y="5623560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4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MIMO + AMC, diversity metrics  </a:t>
            </a:r>
            <a:r>
              <a:rPr sz="14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(in progress)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1325880"/>
            <a:ext cx="40233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Challenges → how we handle them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1783080"/>
            <a:ext cx="4023360" cy="10241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Slow PC: one run takes over 10 min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Field monitors off and coarser mesh during sweeps; 4-fold symmetry → excite port 1 only (≈ 4× faster)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2898648"/>
            <a:ext cx="4023360" cy="10241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Sizing the CPW waveguide port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Port spans feed, both slots and part of the ground; check ≈ 50 Ω line impedance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4014215"/>
            <a:ext cx="4023360" cy="10241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Port extension cuts into the AMC below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Limit the downward extension to h − 0.5 mm, then re-check the impedance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129783"/>
            <a:ext cx="4023360" cy="102412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No AMC is in-phase over all of UWB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Dual-resonant cell (ring + patch) widens the band; gap h tunes the rest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28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Next: fabricate the prototype and validate it by measurement</a:t>
            </a:r>
          </a:p>
        </p:txBody>
      </p:sp>
      <p:sp>
        <p:nvSpPr>
          <p:cNvPr id="4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FUTURE WORK</a:t>
            </a:r>
          </a:p>
        </p:txBody>
      </p:sp>
      <p:sp>
        <p:nvSpPr>
          <p:cNvPr id="5" name="Oval 4"/>
          <p:cNvSpPr/>
          <p:nvPr/>
        </p:nvSpPr>
        <p:spPr>
          <a:xfrm>
            <a:off x="896112" y="1371600"/>
            <a:ext cx="548640" cy="54864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18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57400"/>
            <a:ext cx="1426464" cy="160020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Finish pending CST runs</a:t>
            </a:r>
          </a:p>
        </p:txBody>
      </p:sp>
      <p:sp>
        <p:nvSpPr>
          <p:cNvPr id="7" name="Oval 6"/>
          <p:cNvSpPr/>
          <p:nvPr/>
        </p:nvSpPr>
        <p:spPr>
          <a:xfrm>
            <a:off x="2596896" y="1371600"/>
            <a:ext cx="548640" cy="54864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18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57984" y="2057400"/>
            <a:ext cx="1426464" cy="160020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Fabricate FR-4 antenna and AMC; SMA connectors; spacer for gap 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11096" y="1645919"/>
            <a:ext cx="658368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18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2057400"/>
            <a:ext cx="1426464" cy="160020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Measure S-parameters on a VNA (unused ports with 50 Ω loads)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11880" y="1645919"/>
            <a:ext cx="658368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98464" y="1371600"/>
            <a:ext cx="548640" cy="54864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18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057400"/>
            <a:ext cx="1426464" cy="160020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Measure patterns &amp; gain in an anechoic chamber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12664" y="1645919"/>
            <a:ext cx="658368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7699248" y="1371600"/>
            <a:ext cx="548640" cy="54864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18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0336" y="2057400"/>
            <a:ext cx="1426464" cy="160020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Compare measured vs simulated; write the paper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13448" y="1645919"/>
            <a:ext cx="658368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Anticipated challenges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343400"/>
            <a:ext cx="8229600" cy="19202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6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FR-4 permittivity varies between batches (≈ 4.2–4.6), which shifts the resonances. Re-simulate with the measured ε</a:t>
            </a:r>
            <a:r>
              <a:rPr sz="16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r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6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The SMA connector and its solder joint are not in the model, so measured S</a:t>
            </a:r>
            <a:r>
              <a:rPr sz="16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11</a:t>
            </a:r>
            <a:r>
              <a:rPr sz="16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will differ slightly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6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Holding the gap h accurately needs non-metallic spacers (foam or nylon)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6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 2-port VNA measures a 4-port antenna pair by pair, so the other ports must be terminated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22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Expected outcome: diversity on par with the best 4-port designs, plus AMC gain</a:t>
            </a:r>
          </a:p>
        </p:txBody>
      </p:sp>
      <p:sp>
        <p:nvSpPr>
          <p:cNvPr id="4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EXPECTED OUTCOMES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2621280" cy="86868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Optimised CST models: single element, AMC cell, 4-port with and without AMC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1360" y="1325880"/>
            <a:ext cx="2621280" cy="86868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Full metric set: S-parameters, gain, efficiency, patterns, ECC, DG, TARC, CCL, MEG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65520" y="1325880"/>
            <a:ext cx="2621280" cy="86868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Fabricated prototype, measurements and a paper draft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77439"/>
          <a:ext cx="8229600" cy="3319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49808"/>
                <a:gridCol w="502920"/>
                <a:gridCol w="1097280"/>
                <a:gridCol w="960120"/>
                <a:gridCol w="685800"/>
                <a:gridCol w="822960"/>
                <a:gridCol w="1078992"/>
                <a:gridCol w="2331720"/>
              </a:tblGrid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Ref.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Ports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Size (mm)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Band (GHz)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Iso. (dB)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ECC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Gain (dBi)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Reflector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[3]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45×45×1.6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3.1–13.1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0.02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1.6–7.3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None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[4]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65×65×0.1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2.9–10.86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22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0.01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0.95–6.49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None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[5]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38×38×1.6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3–20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0.08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1.3–6.2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None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[6]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60×41×1.6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2.6–10.8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15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0.014 avg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2.3–6.12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None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[7]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≈ 0.46λ₀ sq.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2.08–10.4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20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7–9.57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Metal + via probes, h ≈ 10 mm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[8]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3.1–10.6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4.7 → 7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Circular-ring FSS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[9]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60×60×0.1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2–12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25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9.6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Split-ring AMC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[11]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120×80×1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3.7–14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20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n/r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4.33 → 14.26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AMC, 5 mm foam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[12]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20×28×1.6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3.6–10.6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20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0.005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9.85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FSS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This work</a:t>
                      </a:r>
                    </a:p>
                  </a:txBody>
                  <a:tcPr marL="45720" marR="45720" marT="18288" marB="18288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45720" marR="45720" marT="18288" marB="18288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TBD×TBD×1.6</a:t>
                      </a:r>
                    </a:p>
                  </a:txBody>
                  <a:tcPr marL="45720" marR="45720" marT="18288" marB="18288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TBD</a:t>
                      </a:r>
                    </a:p>
                  </a:txBody>
                  <a:tcPr marL="45720" marR="45720" marT="18288" marB="18288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DCE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Dual-resonant AMC, h = TBD mm</a:t>
                      </a:r>
                    </a:p>
                  </a:txBody>
                  <a:tcPr marL="45720" marR="45720" marT="18288" marB="18288" anchor="ctr">
                    <a:solidFill>
                      <a:srgbClr val="DCE6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769864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— = not in the accessible text (abstract only); n/r = not reported. Gain: without → with reflector. Details and sources in LITERATURE.md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Conclusion: a compact 4-port UWB MIMO whose AMC adds gain without losing diversity</a:t>
            </a:r>
          </a:p>
        </p:txBody>
      </p:sp>
      <p:sp>
        <p:nvSpPr>
          <p:cNvPr id="4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851660" cy="132588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22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TBD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−10 dB band, all ports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83179" y="1371600"/>
            <a:ext cx="1851660" cy="132588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22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&gt; TBD dB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port isolation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59" y="1371600"/>
            <a:ext cx="1851660" cy="132588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22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&lt; TBD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ECC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35140" y="1371600"/>
            <a:ext cx="1851660" cy="132588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400"/>
              </a:spcAft>
              <a:buNone/>
            </a:pPr>
            <a:r>
              <a:rPr sz="22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TBD dB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gain increase from AMC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Summary of progress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39"/>
            <a:ext cx="8229600" cy="1828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 CPW-fed octagonal monopole was optimised (L</a:t>
            </a:r>
            <a:r>
              <a:rPr sz="15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g</a:t>
            </a: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then R) to cover the UWB band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 dual-resonant AMC reflector raises gain and outperforms a PEC plate at the same gap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The 4-port orthogonal MIMO with a common ground meets the isolation and diversity targets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Next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8229600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5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Fabrication → VNA and anechoic-chamber measurement → comparison with simulation → paper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4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Three textbook results set the antenna, the reflector and the metrics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PROPOSED METHODOLOGY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417320" cy="153619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5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Printed UWB monopole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325880"/>
            <a:ext cx="3794760" cy="1536192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L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≈ 7.2 / (L + r + p)  GHz   (lengths in cm)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3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Equivalent cylinder: 2πrL = patch area; p = feed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97880" y="1325880"/>
            <a:ext cx="2788920" cy="15361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 planar monopole behaves like a thick cylinder, so it is wideband [13][14]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Our octagon estimate: L + r ≈ 2.1R, so f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L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= 3.1 GHz needs R ≈ 11 mm before substrate loading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99232"/>
            <a:ext cx="1417320" cy="153619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5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AMC reflector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2999232"/>
            <a:ext cx="3794760" cy="1536192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Z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s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= jωL / (1 − ω</a:t>
            </a:r>
            <a:r>
              <a:rPr sz="14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LC),   f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0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= 1 / (2π√(LC))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3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In-phase band: phase within ±90°; BW ≈ √(L/C)/η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999232"/>
            <a:ext cx="2788920" cy="15361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 PEC reflects at 180° and needs λ/4 spacing (24 mm at 3.1 GHz) [15]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An AMC reflects at 0° near f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0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so it can sit much closer [15][16]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672583"/>
            <a:ext cx="1417320" cy="153619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500" b="1" i="0" lang="en-IN">
                <a:solidFill>
                  <a:srgbClr val="FFFFFF"/>
                </a:solidFill>
                <a:latin typeface="Times New Roman"/>
                <a:cs typeface="Times New Roman"/>
              </a:rPr>
              <a:t>MIMO diversity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4672583"/>
            <a:ext cx="3794760" cy="1536192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ECC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ij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= |Σ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n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S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ni</a:t>
            </a:r>
            <a:r>
              <a:rPr sz="14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∗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S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nj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</a:t>
            </a:r>
            <a:r>
              <a:rPr sz="14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/ [(1 − Σ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n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|S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ni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</a:t>
            </a:r>
            <a:r>
              <a:rPr sz="14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)(1 − Σ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n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|S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nj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</a:t>
            </a:r>
            <a:r>
              <a:rPr sz="14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)]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DG = 10√(1 − ECC</a:t>
            </a:r>
            <a:r>
              <a:rPr sz="13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);  TARC = √(Σ|b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i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</a:t>
            </a:r>
            <a:r>
              <a:rPr sz="13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) / √(Σ|a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i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</a:t>
            </a:r>
            <a:r>
              <a:rPr sz="13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)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CCL = −log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det(ψ</a:t>
            </a:r>
            <a:r>
              <a:rPr sz="13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R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);  MEG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i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= 0.5(1 − Σ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j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|S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ij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</a:t>
            </a:r>
            <a:r>
              <a:rPr sz="1300" b="0" i="0" lang="en-IN" baseline="30000">
                <a:solidFill>
                  <a:srgbClr val="000000"/>
                </a:solidFill>
                <a:latin typeface="Times New Roman"/>
                <a:cs typeface="Times New Roman"/>
              </a:rPr>
              <a:t>2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4672583"/>
            <a:ext cx="2788920" cy="15361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S-parameter ECC assumes a lossless antenna [17][18], so we also compute it from far-field patterns [2]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TARC [19], CCL [20], MEG [21]: lossless port → MEG = −3 dB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4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Single element: a regular octagon fed by a 50 Ω coplanar waveguide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PROPOSED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4023360" cy="4645151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figures/cst_single_geometry.png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71031"/>
            <a:ext cx="402336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CST front view, parameters labelled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09160" y="1325880"/>
          <a:ext cx="3977640" cy="2926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1783080"/>
                <a:gridCol w="1143000"/>
              </a:tblGrid>
              <a:tr h="365760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Parameter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Meaning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Value (mm)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W</a:t>
                      </a:r>
                      <a:r>
                        <a:rPr sz="1300" b="0" i="0" lang="en-IN" baseline="-2500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</a:t>
                      </a: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 × L</a:t>
                      </a:r>
                      <a:r>
                        <a:rPr sz="1300" b="0" i="0" lang="en-IN" baseline="-2500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Substrate size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 × TBD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h</a:t>
                      </a:r>
                      <a:r>
                        <a:rPr sz="1300" b="0" i="0" lang="en-IN" baseline="-2500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FR-4 thickness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1.6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Octagon circumradius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L</a:t>
                      </a:r>
                      <a:r>
                        <a:rPr sz="1300" b="0" i="0" lang="en-IN" baseline="-2500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g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CPW ground length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W</a:t>
                      </a:r>
                      <a:r>
                        <a:rPr sz="1300" b="0" i="0" lang="en-IN" baseline="-2500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Feed width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≈ 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g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CPW slot gap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0.3–0.4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Ground–patch gap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09160" y="4480560"/>
            <a:ext cx="3977639" cy="178307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Feed and ground are on one side [22]: no via, and the ground can be shared later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Octagon = cylinder with 8 segments: one parameter (R) sets its size</a:t>
            </a:r>
          </a:p>
          <a:p>
            <a:pPr marL="228600" indent="-228600">
              <a:spcAft>
                <a:spcPts val="400"/>
              </a:spcAft>
              <a:buFont typeface="Arial"/>
              <a:buChar char="•"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50 Ω checked from the CST port line impedance before any sweep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9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Ground length L</a:t>
            </a:r>
            <a:r>
              <a:rPr sz="2600" b="1" i="0" lang="en-IN" baseline="-25000">
                <a:solidFill>
                  <a:srgbClr val="1F497D"/>
                </a:solidFill>
                <a:latin typeface="Times New Roman"/>
                <a:cs typeface="Times New Roman"/>
              </a:rPr>
              <a:t>g</a:t>
            </a: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 sets the low-band match; radius R sets the bandwidth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WORK DONE TILL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977639" cy="327355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figures/fig_single_Lg_sweep.png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9943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|S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11</a:t>
            </a: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 vs L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g</a:t>
            </a: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 (nominal ± 2 mm, 1 mm steps)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709159" y="1325880"/>
            <a:ext cx="3977639" cy="327355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figures/fig_single_R_sweep.png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59" y="459943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|S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11</a:t>
            </a: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 vs R (L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g</a:t>
            </a: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 fixed at TBD mm)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74920"/>
            <a:ext cx="3977639" cy="1188719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Chosen L</a:t>
            </a:r>
            <a:r>
              <a:rPr sz="1400" b="1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g</a:t>
            </a:r>
            <a:r>
              <a:rPr sz="14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 = TBD mm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L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g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mainly moves the lower band edge and the depth of the first resonance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5074920"/>
            <a:ext cx="3977639" cy="1188719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Chosen R = TBD mm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Optimised element: −10 dB band TBD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AMC unit cell reflects in phase (±90°) over TBD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WORK DONE TILL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017520" cy="235915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figures/cst_unitcell.png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85032"/>
            <a:ext cx="30175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Unit cell: square ring + patch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114800"/>
          <a:ext cx="3017520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645920"/>
                <a:gridCol w="731520"/>
              </a:tblGrid>
              <a:tr h="329184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Param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Meaning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mm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Period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10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b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Ring outer side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9.4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w</a:t>
                      </a:r>
                      <a:r>
                        <a:rPr sz="1300" b="0" i="0" lang="en-IN" baseline="-2500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Ring width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0.6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a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Patch side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3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749039" y="1325880"/>
            <a:ext cx="4937760" cy="354787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figures/fig_unitcell_reflection.png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4873752"/>
            <a:ext cx="493776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Reflection phase and magnitude, normal incidence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5303520"/>
            <a:ext cx="4937760" cy="960119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 marL="228600" indent="-228600">
              <a:spcAft>
                <a:spcPts val="200"/>
              </a:spcAft>
              <a:buFont typeface="Arial"/>
              <a:buChar char="•"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Two resonances (ring and patch) merge into one wider in-phase band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Check: with the top metal removed the phase is ≈ ±180°, like a PEC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1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The AMC adds TBD dB of gain and beats a PEC plate at the same gap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WORK DONE TILL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4343400" cy="31363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figures/fig_reflector_compare_gain_eff.png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62272"/>
            <a:ext cx="434340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Realized gain &amp; efficiency: none / PEC / AMC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3657600" cy="208483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figures/fig_single_gap_sweep.png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3410712"/>
            <a:ext cx="365760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|S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11</a:t>
            </a: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 vs air gap 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3657600" cy="208483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figures/fig_reflector_compare_s11.png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925312"/>
            <a:ext cx="365760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|S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11</a:t>
            </a: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|: none / PEC / AMC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92040"/>
            <a:ext cx="4343400" cy="1371599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 marL="228600" indent="-228600">
              <a:spcAft>
                <a:spcPts val="200"/>
              </a:spcAft>
              <a:buFont typeface="Arial"/>
              <a:buChar char="•"/>
            </a:pPr>
            <a:r>
              <a:rPr sz="1400" b="1" i="0" lang="en-IN">
                <a:solidFill>
                  <a:srgbClr val="000000"/>
                </a:solidFill>
                <a:latin typeface="Times New Roman"/>
                <a:cs typeface="Times New Roman"/>
              </a:rPr>
              <a:t>Gap h = TBD mm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same for PEC and AMC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AMC vs no reflector: TBD dB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AMC vs PEC plate: TBD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2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4-port orthogonal layout: all ports matched, isolation &gt; TBD dB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WORK DONE TILL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566160" cy="3547871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figures/cst_mimo_layout.png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73751"/>
            <a:ext cx="356616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Elements rotated 90°, common ground via central plus strip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30352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 marL="228600" indent="-228600">
              <a:spcAft>
                <a:spcPts val="200"/>
              </a:spcAft>
              <a:buFont typeface="Arial"/>
              <a:buChar char="•"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Board TBD × TBD mm, strip width w</a:t>
            </a:r>
            <a:r>
              <a:rPr sz="13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c</a:t>
            </a: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 = TBD mm</a:t>
            </a:r>
          </a:p>
          <a:p>
            <a:pPr marL="228600" indent="-228600" algn="l">
              <a:spcAft>
                <a:spcPts val="200"/>
              </a:spcAft>
              <a:buFont typeface="Arial"/>
              <a:buChar char="•"/>
            </a:pPr>
            <a:r>
              <a:rPr sz="13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Orthogonal elements → polarization diversity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325880"/>
            <a:ext cx="4434840" cy="213055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figures/fig_mimo_noMS_reflection.png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3456432"/>
            <a:ext cx="4434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S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11</a:t>
            </a: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–S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3794760"/>
            <a:ext cx="4434840" cy="213055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figures/fig_mimo_noMS_coupling.png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5925312"/>
            <a:ext cx="44348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All six couplings S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ij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2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With the AMC, the MIMO keeps its matching and isolation and gains up to TBD dBi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WORK DONE TILL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4206240" cy="213055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figures/fig_mimo_ms_comparison.png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56432"/>
            <a:ext cx="42062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S-parameters: without vs with AMC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94760"/>
            <a:ext cx="4206240" cy="213055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figures/fig_mimo_gain_gain_eff.png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25312"/>
            <a:ext cx="420624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Realized gain &amp; efficiency, port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1325880"/>
            <a:ext cx="3794760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figures/fig_pattern_MS_p1_4GHz.png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633472"/>
            <a:ext cx="379476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1 pattern with AMC, 4 GHz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92040" y="2971800"/>
            <a:ext cx="3794760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figures/fig_pattern_MS_p1_7GHz.png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4279392"/>
            <a:ext cx="379476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1 pattern with AMC, 7 GHz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4617720"/>
            <a:ext cx="3794760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figures/fig_pattern_MS_p1_10GHz.png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5925312"/>
            <a:ext cx="379476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1 pattern with AMC, 10 GHz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5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Diversity metrics: ECC &lt; TBD, DG &gt; TBD dB across the UWB band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WORK DONE TILL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2621280" cy="208483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figures/fig_mimo_ecc.png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10712"/>
            <a:ext cx="262128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ECC (from S-parameters)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61360" y="1325880"/>
            <a:ext cx="2621280" cy="208483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figures/fig_mimo_dg.png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61360" y="3410712"/>
            <a:ext cx="262128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Diversity gain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65520" y="1325880"/>
            <a:ext cx="2621280" cy="208483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figures/fig_mimo_tarc.png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520" y="3410712"/>
            <a:ext cx="262128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TARC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2621280" cy="208483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figures/fig_mimo_ccl.png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25312"/>
            <a:ext cx="262128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Channel capacity loss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1360" y="3840480"/>
            <a:ext cx="2621280" cy="208483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figures/fig_mimo_meg.png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1360" y="5925312"/>
            <a:ext cx="262128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MEG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65520" y="3840480"/>
          <a:ext cx="2621280" cy="22722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868680"/>
                <a:gridCol w="655320"/>
              </a:tblGrid>
              <a:tr h="32461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Metric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Target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i="0" lang="en-IN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Ours</a:t>
                      </a:r>
                    </a:p>
                  </a:txBody>
                  <a:tcPr marL="45720" marR="45720" marT="18288" marB="18288" anchor="ctr">
                    <a:solidFill>
                      <a:srgbClr val="1F497D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ECC (S)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0.01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ECC (far-field)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0.01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DG (dB)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&gt; 9.95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TARC (dB)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−10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CCL (b/s/Hz)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&lt; 0.4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MEG (dB)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≈ −3, Δ &lt; 3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0" i="0" lang="en-IN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TBD</a:t>
                      </a:r>
                    </a:p>
                  </a:txBody>
                  <a:tcPr marL="45720" marR="45720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5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References (1/2)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CONCLUSION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39"/>
            <a:ext cx="8229600" cy="50291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[1]  Federal Communications Commission, “Revision of Part 15 of the Commission’s rules regarding ultra-wideband transmission systems,” First Report and Order, ET Docket 98-153, FCC 02-48, Apr. 2002 (limits codified in 47 CFR §15.517).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[2]  M. S. Sharawi, “Printed multi-band MIMO antenna systems and their performance metrics,”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IEEE Antennas Propag. Mag.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55, no. 5, pp. 218–232, Oct. 2013, doi: 10.1109/MAP.2013.6735522.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[3]  A. Wu, M. Zhao, P. Zhang, and Z. Zhang, “A compact four-port MIMO antenna for UWB applications,”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Sensors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22, no. 15, Art. no. 5788, 2022, doi: 10.3390/s22155788.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[4]  J. Zhang, C. Du, and R. Wang, “Design of a four-port flexible UWB-MIMO antenna with high isolation for wearable and IoT applications,”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Micromachines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13, no. 12, Art. no. 2141, 2022, doi: 10.3390/mi13122141.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[5]  W. Yin, S. Chen, J. Chang, C. Li, and S. K. Khamas, “CPW fed compact UWB 4-element MIMO antenna with high isolation,”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Sensors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21, no. 8, Art. no. 2688, 2021, doi: 10.3390/s21082688.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[6]  K. Ramanathan, S. Gopalakrishnan, and T. Chandrakanthan, “Miniaturized dual and quad port MIMO antenna variants featuring elevated diversity performance for UWB and 5G-midband applications,”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Micromachines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16, no. 6, Art. no. 716, 2025, doi: 10.3390/mi16060716.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[7]  A. Mohanty and S. Sahu, “4-port UWB MIMO antenna with Bluetooth-LTE-WiMax band-rejection and vias-MCP loaded reflector with improved performance,”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AEU – Int. J. Electron. Commun.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144, Art. no. 154065, 2022, doi: 10.1016/j.aeue.2021.154065.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[8]  M. Nirmala and N. Deepika Rani, “A spatially selective and electromagnetically tailored low-profile high-gain notched UWB MIMO antenna for 5G and ultra-wideband wireless systems,”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Franklin Open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16, Art. no. 100687, 2026, doi: 10.1016/j.fraope.2026.100687.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[9]  B. Alekya, N. A. Murugan, and B. T. P. Madhav, “Artificial magnetic conductor-integrated high-gain quad-port hexagonal antenna for conformal ultra-wideband applications,”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ETRI J.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48, no. 4, pp. 604–619, 2026, doi: 10.4218/etrij.2025-0252.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[10]  P. Kumari, R. K. Gangwar, and R. K. Chaudhary, “An aperture-coupled stepped dielectric resonator UWB MIMO antenna with AMC,”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IEEE Antennas Wireless Propag. Lett.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21, no. 10, pp. 2040–2044, 2022, doi: 10.1109/LAWP.2022.3189694.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[11]  S. Douhi, Z. Zahriladha, and A. Eddiai, “A high-gain, low-SAR UWB all-textile two-port MIMO antenna based on an AMC structure for wireless body area networks,”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Sci. Rep.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16, Art. no. 25405, 2026, doi: 10.1038/s41598-026-45917-z.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References (2/2)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CONCLUSION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39"/>
            <a:ext cx="8229600" cy="50291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[12]  M. Azharuddin and K. Mondal, “FSS-based gain and isolation optimization in a two-element MIMO antenna for ultra-wideband operations,”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Sādhanā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51, no. 1, Art. no. 23, 2026, doi: 10.1007/s12046-025-02989-3.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[13]  N. P. Agrawall, G. Kumar, and K. P. Ray, “Wide-band planar monopole antennas,”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IEEE Trans. Antennas Propag.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46, no. 2, pp. 294–295, Feb. 1998, doi: 10.1109/8.660976.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[14]  K. P. Ray, “Design aspects of printed monopole antennas for ultra-wide band applications,”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Int. J. Antennas Propag.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2008, Art. no. 713858, 2008, doi: 10.1155/2008/713858.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[15]  D. Sievenpiper, L. Zhang, R. F. J. Broas, N. G. Alexópoulos, and E. Yablonovitch, “High-impedance electromagnetic surfaces with a forbidden frequency band,”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IEEE Trans. Microw. Theory Techn.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47, no. 11, pp. 2059–2074, Nov. 1999, doi: 10.1109/22.798001.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[16]  F. Yang and Y. Rahmat-Samii, “Reflection phase characterizations of the EBG ground plane for low profile wire antenna applications,”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IEEE Trans. Antennas Propag.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51, no. 10, pp. 2691–2703, Oct. 2003, doi: 10.1109/TAP.2003.817559.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[17]  S. Blanch, J. Romeu, and I. Corbella, “Exact representation of antenna system diversity performance from input parameter description,”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Electron. Lett.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39, no. 9, pp. 705–707, May 2003, doi: 10.1049/el:20030495.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[18]  J. Thaysen and K. B. Jakobsen, “Envelope correlation in (N,N) MIMO antenna array from scattering parameters,”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Microw. Opt. Technol. Lett.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48, no. 5, pp. 832–834, 2006, doi: 10.1002/mop.21490.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[19]  M. Manteghi and Y. Rahmat-Samii, “Multiport characteristics of a wideband cavity backed annular patch antenna for multipolarization operations,”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IEEE Trans. Antennas Propag.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53, no. 1, pp. 466–474, Jan. 2005, doi: 10.1109/TAP.2004.838794.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[20]  S. H. Chae, S.-K. Oh, and S.-O. Park, “Analysis of mutual coupling, correlations, and TARC in WiBro MIMO array antenna,”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IEEE Antennas Wireless Propag. Lett.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6, pp. 122–125, 2007, doi: 10.1109/LAWP.2007.893109.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[21]  T. Taga, “Analysis for mean effective gain of mobile antennas in land mobile radio environments,”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IEEE Trans. Veh. Technol.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, vol. 39, no. 2, pp. 117–131, May 1990, doi: 10.1109/25.54228.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[22]  R. N. Simons, </a:t>
            </a:r>
            <a:r>
              <a:rPr sz="1100" b="0" i="1" lang="en-IN">
                <a:solidFill>
                  <a:srgbClr val="000000"/>
                </a:solidFill>
                <a:latin typeface="Times New Roman"/>
                <a:cs typeface="Times New Roman"/>
              </a:rPr>
              <a:t>Coplanar Waveguide Circuits, Components, and Systems</a:t>
            </a:r>
            <a:r>
              <a:rPr sz="11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. New York, NY, USA: Wiley, 2001, doi: 10.1002/0471224758.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B1 · Optimised single element: −10 dB band TBD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BACKUP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977639" cy="3822191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figures/fig_single_final_s11.png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807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|S</a:t>
            </a:r>
            <a:r>
              <a:rPr sz="1200" b="0" i="0" lang="en-IN" baseline="-25000">
                <a:solidFill>
                  <a:srgbClr val="595959"/>
                </a:solidFill>
                <a:latin typeface="Times New Roman"/>
                <a:cs typeface="Times New Roman"/>
              </a:rPr>
              <a:t>11</a:t>
            </a: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|, optimised element (fine mesh)</a:t>
            </a:r>
          </a:p>
        </p:txBody>
      </p:sp>
      <p:sp>
        <p:nvSpPr>
          <p:cNvPr id="6" name="Rectangle 5"/>
          <p:cNvSpPr/>
          <p:nvPr/>
        </p:nvSpPr>
        <p:spPr>
          <a:xfrm>
            <a:off x="4709159" y="1325880"/>
            <a:ext cx="3977639" cy="3822191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figures/fig_single_final_gain_eff.png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59" y="514807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Realized gain &amp; total efficiency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23560"/>
            <a:ext cx="8229600" cy="64007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Realized gain TBD over 3.1–10.6 GHz. Mesh check: |S</a:t>
            </a:r>
            <a:r>
              <a:rPr sz="1400" b="0" i="0" lang="en-IN" baseline="-25000">
                <a:solidFill>
                  <a:srgbClr val="000000"/>
                </a:solidFill>
                <a:latin typeface="Times New Roman"/>
                <a:cs typeface="Times New Roman"/>
              </a:rPr>
              <a:t>11</a:t>
            </a: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| at 15 vs 25 cells/λ differs by ≤ TBD dB in band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B2 · Port 1 excited: current stays on element 1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BACKUP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2621280" cy="3913631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figures/cst_current_4GHz.png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39512"/>
            <a:ext cx="262128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Surface current, 4 GHz</a:t>
            </a:r>
          </a:p>
        </p:txBody>
      </p:sp>
      <p:sp>
        <p:nvSpPr>
          <p:cNvPr id="6" name="Rectangle 5"/>
          <p:cNvSpPr/>
          <p:nvPr/>
        </p:nvSpPr>
        <p:spPr>
          <a:xfrm>
            <a:off x="3261360" y="1325880"/>
            <a:ext cx="2621280" cy="3913631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figures/cst_current_7GHz.png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61360" y="5239512"/>
            <a:ext cx="262128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Surface current, 7 GHz</a:t>
            </a:r>
          </a:p>
        </p:txBody>
      </p:sp>
      <p:sp>
        <p:nvSpPr>
          <p:cNvPr id="8" name="Rectangle 7"/>
          <p:cNvSpPr/>
          <p:nvPr/>
        </p:nvSpPr>
        <p:spPr>
          <a:xfrm>
            <a:off x="6065520" y="1325880"/>
            <a:ext cx="2621280" cy="3913631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figures/cst_current_10GHz.png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520" y="5239512"/>
            <a:ext cx="262128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2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Surface current, 10 GHz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15000"/>
            <a:ext cx="8229600" cy="5486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400" b="0" i="0" lang="en-IN">
                <a:solidFill>
                  <a:srgbClr val="000000"/>
                </a:solidFill>
                <a:latin typeface="Times New Roman"/>
                <a:cs typeface="Times New Roman"/>
              </a:rPr>
              <a:t>Same fixed colour scale at all three frequencies; ports 2–4 matched (50 Ω)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2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8229600" cy="868680"/>
          </a:xfrm>
        </p:spPr>
        <p:txBody>
          <a:bodyPr wrap="square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sz="2600" b="1" i="0" lang="en-IN">
                <a:solidFill>
                  <a:srgbClr val="1F497D"/>
                </a:solidFill>
                <a:latin typeface="Times New Roman"/>
                <a:cs typeface="Times New Roman"/>
              </a:rPr>
              <a:t>B3 · Ports 1 and 2 radiate orthogonally (with AMC)</a:t>
            </a:r>
          </a:p>
        </p:txBody>
      </p:sp>
      <p:sp>
        <p:nvSpPr>
          <p:cNvPr id="3" name="Section label"/>
          <p:cNvSpPr txBox="1"/>
          <p:nvPr/>
        </p:nvSpPr>
        <p:spPr>
          <a:xfrm>
            <a:off x="457200" y="1097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BACKUP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977639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figures/fig_pattern_MS_p1_4GHz.png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3347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1, 4 GHz</a:t>
            </a:r>
          </a:p>
        </p:txBody>
      </p:sp>
      <p:sp>
        <p:nvSpPr>
          <p:cNvPr id="6" name="Rectangle 5"/>
          <p:cNvSpPr/>
          <p:nvPr/>
        </p:nvSpPr>
        <p:spPr>
          <a:xfrm>
            <a:off x="4709159" y="1325880"/>
            <a:ext cx="3977639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figures/fig_pattern_MS_p2_4GHz.png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59" y="263347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2, 4 GHz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71800"/>
            <a:ext cx="3977639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figures/fig_pattern_MS_p1_7GHz.png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1, 7 GHz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59" y="2971800"/>
            <a:ext cx="3977639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figures/fig_pattern_MS_p2_7GHz.png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427939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2, 7 GHz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617720"/>
            <a:ext cx="3977639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figures/fig_pattern_MS_p1_10GHz.png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2531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1, 10 GHz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59" y="4617720"/>
            <a:ext cx="3977639" cy="1307592"/>
          </a:xfrm>
          <a:prstGeom prst="rect">
            <a:avLst/>
          </a:prstGeom>
          <a:solidFill>
            <a:srgbClr val="F2F2F2"/>
          </a:solidFill>
          <a:ln w="1270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1300" b="1" i="0" lang="en-IN">
                <a:solidFill>
                  <a:srgbClr val="595959"/>
                </a:solidFill>
                <a:latin typeface="Times New Roman"/>
                <a:cs typeface="Times New Roman"/>
              </a:rPr>
              <a:t>Result pending — CST simulation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sz="1000" b="0" i="1" lang="en-IN">
                <a:solidFill>
                  <a:srgbClr val="595959"/>
                </a:solidFill>
                <a:latin typeface="Times New Roman"/>
                <a:cs typeface="Times New Roman"/>
              </a:rPr>
              <a:t>figures/fig_pattern_MS_p2_10GHz.png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5925312"/>
            <a:ext cx="3977639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ctr">
              <a:spcAft>
                <a:spcPts val="400"/>
              </a:spcAft>
              <a:buNone/>
            </a:pPr>
            <a:r>
              <a:rPr sz="11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Port 2, 10 GHz</a:t>
            </a:r>
          </a:p>
        </p:txBody>
      </p:sp>
      <p:sp>
        <p:nvSpPr>
          <p:cNvPr id="16" name="Footer"/>
          <p:cNvSpPr txBox="1"/>
          <p:nvPr/>
        </p:nvSpPr>
        <p:spPr>
          <a:xfrm>
            <a:off x="457200" y="6446520"/>
            <a:ext cx="6858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Wideband MIMO Antenna with Metasurface  |  Dept. of ECE, NIT Silchar</a:t>
            </a:r>
          </a:p>
        </p:txBody>
      </p:sp>
      <p:sp>
        <p:nvSpPr>
          <p:cNvPr id="17" name="Slide number"/>
          <p:cNvSpPr txBox="1"/>
          <p:nvPr/>
        </p:nvSpPr>
        <p:spPr>
          <a:xfrm>
            <a:off x="77724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marL="0" indent="0" algn="r">
              <a:spcAft>
                <a:spcPts val="400"/>
              </a:spcAft>
              <a:buNone/>
            </a:pPr>
            <a:r>
              <a:rPr sz="1000" b="0" i="0" lang="en-IN">
                <a:solidFill>
                  <a:srgbClr val="595959"/>
                </a:solidFill>
                <a:latin typeface="Times New Roman"/>
                <a:cs typeface="Times New Roman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118</Words>
  <Application>Microsoft Office PowerPoint</Application>
  <PresentationFormat>On-screen Show (4:3)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Office Theme</vt:lpstr>
      <vt:lpstr>B. Tech. Project Mid-Semester Evaluation</vt:lpstr>
      <vt:lpstr>Introduction &amp; Problem Statement</vt:lpstr>
      <vt:lpstr>Objectives</vt:lpstr>
      <vt:lpstr>Literature Review</vt:lpstr>
      <vt:lpstr>Proposed Methodology</vt:lpstr>
      <vt:lpstr>Work Done Till Now</vt:lpstr>
      <vt:lpstr>Future Work</vt:lpstr>
      <vt:lpstr>Expected Outcomes</vt:lpstr>
      <vt:lpstr>Conclusion &amp; References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Wideband MIMO Antenna with Metasurface</dc:title>
  <dc:subject/>
  <dc:creator>C. Boro, N. Baishya, A. Dam, Sanjana</dc:creator>
  <cp:keywords/>
  <dc:description>generated using python-pptx</dc:description>
  <cp:lastModifiedBy>Tripti Goel</cp:lastModifiedBy>
  <cp:revision>2</cp:revision>
  <dcterms:created xsi:type="dcterms:W3CDTF">2013-01-27T09:14:16Z</dcterms:created>
  <dcterms:modified xsi:type="dcterms:W3CDTF">2025-09-10T10:24:49Z</dcterms:modified>
  <cp:category/>
</cp:coreProperties>
</file>